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bacd6a9a84509" /><Relationship Type="http://schemas.openxmlformats.org/officeDocument/2006/relationships/extended-properties" Target="/docProps/app.xml" Id="Rfebe53d61de84585" /><Relationship Type="http://schemas.openxmlformats.org/officeDocument/2006/relationships/officeDocument" Target="/ppt/presentation.xml" Id="Rc3f0fbf7f5254b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8a1b6c24464a2e"/>
  </p:sldMasterIdLst>
  <p:notesMasterIdLst>
    <p:notesMasterId xmlns:r="http://schemas.openxmlformats.org/officeDocument/2006/relationships" r:id="R885fbf4cd0f44643"/>
  </p:notesMasterIdLst>
  <p:sldIdLst>
    <p:sldId xmlns:r="http://schemas.openxmlformats.org/officeDocument/2006/relationships" id="256" r:id="R1dea2df463b34f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415cf39ed644ea" /><Relationship Type="http://schemas.openxmlformats.org/officeDocument/2006/relationships/slideMaster" Target="/ppt/slideMasters/slideMaster1.xml" Id="Ra28a1b6c24464a2e" /><Relationship Type="http://schemas.openxmlformats.org/officeDocument/2006/relationships/notesMaster" Target="/ppt/notesMasters/notesMaster1.xml" Id="R885fbf4cd0f44643" /><Relationship Type="http://schemas.openxmlformats.org/officeDocument/2006/relationships/presProps" Target="/ppt/presProps.xml" Id="R5ecdf16a48d44c6c" /><Relationship Type="http://schemas.openxmlformats.org/officeDocument/2006/relationships/tableStyles" Target="/ppt/tableStyles.xml" Id="R34fe6f3082954b48" /><Relationship Type="http://schemas.openxmlformats.org/officeDocument/2006/relationships/slide" Target="/ppt/slides/slide1.xml" Id="R1dea2df463b3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e571abc98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158c8907f741ee" /><Relationship Type="http://schemas.openxmlformats.org/officeDocument/2006/relationships/notesMaster" Target="/ppt/notesMasters/notesMaster1.xml" Id="R755704e3e52e42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HKIA local SQLite: FDE项目/HKIA/07_接入记忆_Integrate_Memory/data/hkia.db; logical table long_term_business, table_type=new_business_by_channel, category=總額.</a:t>
            </a:r>
          </a:p>
          <a:p xmlns:a="http://schemas.openxmlformats.org/drawingml/2006/main">
            <a:r>
              <a:t>- Formulas: NOP=annualized+single; APE=annualized+10%*single.</a:t>
            </a:r>
          </a:p>
          <a:p xmlns:a="http://schemas.openxmlformats.org/drawingml/2006/main">
            <a:r>
              <a:t>- Values independently recomputed for 2019-2025 FY in this task.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3241fc16940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e2e26a6ad646ad" /><Relationship Type="http://schemas.openxmlformats.org/officeDocument/2006/relationships/slideLayout" Target="/ppt/slideLayouts/slideLayout1.xml" Id="R6d6f018d80354c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6f018d80354c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1e2c6e8334cda" /><Relationship Type="http://schemas.openxmlformats.org/officeDocument/2006/relationships/chart" Target="/ppt/slides/charts/chart1.xml" Id="Rcc9a919baca14c18" /><Relationship Type="http://schemas.openxmlformats.org/officeDocument/2006/relationships/notesSlide" Target="/ppt/notesSlides/notesSlide1.xml" Id="Rafb0a49fac18427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NOP份额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2019</c:v>
              </c:pt>
              <c:pt idx="1">
                <c:v>2020</c:v>
              </c:pt>
              <c:pt idx="2">
                <c:v>2021</c:v>
              </c:pt>
              <c:pt idx="3">
                <c:v>2022</c:v>
              </c:pt>
              <c:pt idx="4">
                <c:v>2023</c:v>
              </c:pt>
              <c:pt idx="5">
                <c:v>2024</c:v>
              </c:pt>
              <c:pt idx="6">
                <c:v>2025</c:v>
              </c:pt>
            </c:numLit>
          </c:cat>
          <c:val>
            <c:numLit>
              <c:formatCode>0</c:formatCode>
              <c:ptCount val="7"/>
              <c:pt idx="0">
                <c:v>34</c:v>
              </c:pt>
              <c:pt idx="1">
                <c:v>30.6</c:v>
              </c:pt>
              <c:pt idx="2">
                <c:v>36.6</c:v>
              </c:pt>
              <c:pt idx="3">
                <c:v>27.6</c:v>
              </c:pt>
              <c:pt idx="4">
                <c:v>27.2</c:v>
              </c:pt>
              <c:pt idx="5">
                <c:v>25</c:v>
              </c:pt>
              <c:pt idx="6">
                <c:v>23.5</c:v>
              </c:pt>
            </c:numLit>
          </c:val>
        </c:ser>
        <c:ser>
          <c:idx val="1"/>
          <c:order val="1"/>
          <c:tx>
            <c:v>APE份额</c:v>
          </c:tx>
          <c:spPr>
            <a:ln xmlns:a="http://schemas.openxmlformats.org/drawingml/2006/main" w="38100">
              <a:solidFill>
                <a:srgbClr val="6DCBF4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2019</c:v>
              </c:pt>
              <c:pt idx="1">
                <c:v>2020</c:v>
              </c:pt>
              <c:pt idx="2">
                <c:v>2021</c:v>
              </c:pt>
              <c:pt idx="3">
                <c:v>2022</c:v>
              </c:pt>
              <c:pt idx="4">
                <c:v>2023</c:v>
              </c:pt>
              <c:pt idx="5">
                <c:v>2024</c:v>
              </c:pt>
              <c:pt idx="6">
                <c:v>2025</c:v>
              </c:pt>
            </c:numLit>
          </c:cat>
          <c:val>
            <c:numLit>
              <c:formatCode>0</c:formatCode>
              <c:ptCount val="7"/>
              <c:pt idx="0">
                <c:v>31.5</c:v>
              </c:pt>
              <c:pt idx="1">
                <c:v>27.5</c:v>
              </c:pt>
              <c:pt idx="2">
                <c:v>26.7</c:v>
              </c:pt>
              <c:pt idx="3">
                <c:v>31.1</c:v>
              </c:pt>
              <c:pt idx="4">
                <c:v>32.6</c:v>
              </c:pt>
              <c:pt idx="5">
                <c:v>30</c:v>
              </c:pt>
              <c:pt idx="6">
                <c:v>26.6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00000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87E7C7E4-B6F3-42AD-9F7B-DE81D367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HKIA · 方法论验证页｜2019–2025 FY｜NOP / APE 双口径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0468BF-8D24-4C79-9714-2F4D3304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代理规模增长但未跑赢市场：NOP份额下降10.5个百分点</a:t>
            </a:r>
          </a:p>
        </p:txBody>
      </p:sp>
      <p:sp>
        <p:nvSpPr>
          <p:cNvPr id="3" name="chart-label">
            <a:extLst xmlns:a="http://schemas.openxmlformats.org/drawingml/2006/main">
              <a:ext uri="{FF2B5EF4-FFF2-40B4-BE49-F238E27FC236}">
                <a16:creationId xmlns:a16="http://schemas.microsoft.com/office/drawing/2014/main" id="{EDAFDAB4-72EE-461F-9672-E8F8BCE8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代理渠道市场份额（%）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57150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9a919baca14c18"/>
          </a:graphicData>
        </a:graphic>
      </p:graphicFrame>
      <p:sp>
        <p:nvSpPr>
          <p:cNvPr id="5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38488F8D-60CF-49BA-A963-D59D3CD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191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代理不是没有增长，而是增长速度落后于市场。经纪承接了最多新增量：49.1%的NOP增量、58.4%的APE增量。</a:t>
            </a:r>
          </a:p>
        </p:txBody>
      </p:sp>
      <p:sp>
        <p:nvSpPr>
          <p:cNvPr id="6" name="nop-panel">
            <a:extLst xmlns:a="http://schemas.openxmlformats.org/drawingml/2006/main">
              <a:ext uri="{FF2B5EF4-FFF2-40B4-BE49-F238E27FC236}">
                <a16:creationId xmlns:a16="http://schemas.microsoft.com/office/drawing/2014/main" id="{E502CC74-1DEB-4B97-9284-1CF67AC3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nop-stat">
            <a:extLst xmlns:a="http://schemas.openxmlformats.org/drawingml/2006/main">
              <a:ext uri="{FF2B5EF4-FFF2-40B4-BE49-F238E27FC236}">
                <a16:creationId xmlns:a16="http://schemas.microsoft.com/office/drawing/2014/main" id="{E8523919-EA9F-4610-8577-9B702F7E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+32.7%</a:t>
            </a:r>
          </a:p>
        </p:txBody>
      </p:sp>
      <p:sp>
        <p:nvSpPr>
          <p:cNvPr id="8" name="nop-body">
            <a:extLst xmlns:a="http://schemas.openxmlformats.org/drawingml/2006/main">
              <a:ext uri="{FF2B5EF4-FFF2-40B4-BE49-F238E27FC236}">
                <a16:creationId xmlns:a16="http://schemas.microsoft.com/office/drawing/2014/main" id="{26CD49DC-97FD-4B65-AA55-FFDD2FA4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3380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00000"/>
                </a:solidFill>
                <a:latin typeface="Arial"/>
                <a:ea typeface="Arial"/>
                <a:cs typeface="Arial"/>
              </a:rPr>
              <a:t>代理NOP绝对额</a:t>
            </a:r>
          </a:p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00000"/>
                </a:solidFill>
                <a:latin typeface="Arial"/>
                <a:ea typeface="Arial"/>
                <a:cs typeface="Arial"/>
              </a:rPr>
              <a:t>585.8 → 777.1亿</a:t>
            </a:r>
          </a:p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00000"/>
                </a:solidFill>
                <a:latin typeface="Arial"/>
                <a:ea typeface="Arial"/>
                <a:cs typeface="Arial"/>
              </a:rPr>
              <a:t>份额 34.0% → 23.5%</a:t>
            </a:r>
          </a:p>
        </p:txBody>
      </p:sp>
      <p:sp>
        <p:nvSpPr>
          <p:cNvPr id="9" name="ape-panel">
            <a:extLst xmlns:a="http://schemas.openxmlformats.org/drawingml/2006/main">
              <a:ext uri="{FF2B5EF4-FFF2-40B4-BE49-F238E27FC236}">
                <a16:creationId xmlns:a16="http://schemas.microsoft.com/office/drawing/2014/main" id="{98A512B5-0E6C-464F-A813-EB20BAEF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ape-stat">
            <a:extLst xmlns:a="http://schemas.openxmlformats.org/drawingml/2006/main">
              <a:ext uri="{FF2B5EF4-FFF2-40B4-BE49-F238E27FC236}">
                <a16:creationId xmlns:a16="http://schemas.microsoft.com/office/drawing/2014/main" id="{C40DC834-B5C7-4DA0-9609-441C230F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+23.4%</a:t>
            </a:r>
          </a:p>
        </p:txBody>
      </p:sp>
      <p:sp>
        <p:nvSpPr>
          <p:cNvPr id="11" name="ape-body">
            <a:extLst xmlns:a="http://schemas.openxmlformats.org/drawingml/2006/main">
              <a:ext uri="{FF2B5EF4-FFF2-40B4-BE49-F238E27FC236}">
                <a16:creationId xmlns:a16="http://schemas.microsoft.com/office/drawing/2014/main" id="{6741CC04-4AE9-4E09-A18B-B4035DB3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3380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00000"/>
                </a:solidFill>
                <a:latin typeface="Arial"/>
                <a:ea typeface="Arial"/>
                <a:cs typeface="Arial"/>
              </a:rPr>
              <a:t>代理APE绝对额</a:t>
            </a:r>
          </a:p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00000"/>
                </a:solidFill>
                <a:latin typeface="Arial"/>
                <a:ea typeface="Arial"/>
                <a:cs typeface="Arial"/>
              </a:rPr>
              <a:t>398.3 → 491.3亿</a:t>
            </a:r>
          </a:p>
          <a:p xmlns:a="http://schemas.openxmlformats.org/drawingml/2006/main">
            <a:pPr algn="l"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00000"/>
                </a:solidFill>
                <a:latin typeface="Arial"/>
                <a:ea typeface="Arial"/>
                <a:cs typeface="Arial"/>
              </a:rPr>
              <a:t>份额 31.5% → 26.6%</a:t>
            </a:r>
          </a:p>
        </p:txBody>
      </p:sp>
      <p:sp>
        <p:nvSpPr>
          <p:cNvPr id="12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405CD3E0-7EA1-4F2A-8709-D531F16E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evidence-header">
            <a:extLst xmlns:a="http://schemas.openxmlformats.org/drawingml/2006/main">
              <a:ext uri="{FF2B5EF4-FFF2-40B4-BE49-F238E27FC236}">
                <a16:creationId xmlns:a16="http://schemas.microsoft.com/office/drawing/2014/main" id="{835FF471-4470-4DD1-982F-5E2DE2A1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当前证据上限</a:t>
            </a:r>
          </a:p>
        </p:txBody>
      </p:sp>
      <p:sp>
        <p:nvSpPr>
          <p:cNvPr id="14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83903994-10D4-4614-979D-1ABA5E1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333333"/>
                </a:solidFill>
                <a:latin typeface="Arial"/>
                <a:ea typeface="Arial"/>
                <a:cs typeface="Arial"/>
              </a:rPr>
              <a:t>A级：可确认规模增长与渠道份额迁移。</a:t>
            </a:r>
          </a:p>
          <a:p xmlns:a="http://schemas.openxmlformats.org/drawingml/2006/main">
            <a:pPr algn="l">
              <a:defRPr sz="1125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333333"/>
                </a:solidFill>
                <a:latin typeface="Arial"/>
                <a:ea typeface="Arial"/>
                <a:cs typeface="Arial"/>
              </a:rPr>
              <a:t>B/C级：客户偏好、代理生产率、激励和利润原因仍需外部/内部证据。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152110E3-EF00-4A8E-8797-E1D5F91C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6666"/>
                </a:solidFill>
                <a:latin typeface="Arial"/>
                <a:ea typeface="Arial"/>
                <a:cs typeface="Arial"/>
              </a:rPr>
              <a:t>来源：HKIA长期业务季度临时统计；本地统一长表复算。NOP=年度化+整付；APE=年度化+10%×整付。2024Q3起RBC表式变更，机制解释需谨慎。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74A442B1-3AF0-443A-89F4-A6B57D46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5469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2026-08-04T04:01:56.4630000Z</dcterms:created>
  <dcterms:modified xsi:type="dcterms:W3CDTF">2026-08-04T04:01:56.4630000Z</dcterms:modified>
</coreProperties>
</file>