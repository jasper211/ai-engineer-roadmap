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6" r:id="rId13"/>
    <p:sldId id="277" r:id="rId14"/>
    <p:sldId id="278" r:id="rId15"/>
  </p:sldIdLst>
  <p:sldSz cx="12192000" cy="6858000"/>
  <p:notesSz cx="6858000" cy="12192000"/>
  <p:custDataLst>
    <p:tags r:id="rId1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00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20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1"/>
              <c:layout>
                <c:manualLayout>
                  <c:x val="-0.0076754385964912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315789473684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620.77</c:v>
                </c:pt>
                <c:pt idx="1">
                  <c:v>87.39</c:v>
                </c:pt>
                <c:pt idx="2">
                  <c:v>25.44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2"/>
              <c:layout>
                <c:manualLayout>
                  <c:x val="0.0043859649122807"/>
                  <c:y val="-0.00193798449612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28947368421053"/>
                      <c:h val="0.0697674418604651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78.61</c:v>
                </c:pt>
                <c:pt idx="1">
                  <c:v>6.36</c:v>
                </c:pt>
                <c:pt idx="2">
                  <c:v>6.32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1"/>
              <c:layout>
                <c:manualLayout>
                  <c:x val="0.0164473684210526"/>
                  <c:y val="-0.003875968992248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1432748538012"/>
                  <c:y val="0.001291989664082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08040935672515"/>
                      <c:h val="0.0752583979328165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14.08</c:v>
                </c:pt>
                <c:pt idx="1">
                  <c:v>1.33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Sheet1!$A$2:$A$22</c:f>
              <c:strCache>
                <c:ptCount val="21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  <c:pt idx="19">
                  <c:v>26-Aug</c:v>
                </c:pt>
                <c:pt idx="20">
                  <c:v>26-Sep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22.6</c:v>
                </c:pt>
                <c:pt idx="1">
                  <c:v>38.9</c:v>
                </c:pt>
                <c:pt idx="2">
                  <c:v>34.3</c:v>
                </c:pt>
                <c:pt idx="3">
                  <c:v>29.1</c:v>
                </c:pt>
                <c:pt idx="4">
                  <c:v>45.5</c:v>
                </c:pt>
                <c:pt idx="5">
                  <c:v>178.8</c:v>
                </c:pt>
                <c:pt idx="6">
                  <c:v>41.3</c:v>
                </c:pt>
                <c:pt idx="7">
                  <c:v>62.4</c:v>
                </c:pt>
                <c:pt idx="8">
                  <c:v>155.8</c:v>
                </c:pt>
                <c:pt idx="9">
                  <c:v>87.7</c:v>
                </c:pt>
                <c:pt idx="10">
                  <c:v>199.2</c:v>
                </c:pt>
                <c:pt idx="11">
                  <c:v>145.8</c:v>
                </c:pt>
                <c:pt idx="12">
                  <c:v>53.9</c:v>
                </c:pt>
                <c:pt idx="13">
                  <c:v>56.37</c:v>
                </c:pt>
                <c:pt idx="14">
                  <c:v>81.48</c:v>
                </c:pt>
                <c:pt idx="15">
                  <c:v>67.37</c:v>
                </c:pt>
                <c:pt idx="16">
                  <c:v>80.91</c:v>
                </c:pt>
                <c:pt idx="17">
                  <c:v>84.34</c:v>
                </c:pt>
                <c:pt idx="18">
                  <c:v>107.46</c:v>
                </c:pt>
                <c:pt idx="19">
                  <c:v>64.91</c:v>
                </c:pt>
                <c:pt idx="20">
                  <c:v>26.77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Sheet1!$A$2:$A$22</c:f>
              <c:strCache>
                <c:ptCount val="21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  <c:pt idx="19">
                  <c:v>26-Aug</c:v>
                </c:pt>
                <c:pt idx="20">
                  <c:v>26-Sep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25.1</c:v>
                </c:pt>
                <c:pt idx="1">
                  <c:v>37.8</c:v>
                </c:pt>
                <c:pt idx="2">
                  <c:v>36</c:v>
                </c:pt>
                <c:pt idx="3">
                  <c:v>21.1</c:v>
                </c:pt>
                <c:pt idx="4">
                  <c:v>39.6</c:v>
                </c:pt>
                <c:pt idx="5">
                  <c:v>188.7</c:v>
                </c:pt>
                <c:pt idx="6">
                  <c:v>34.3</c:v>
                </c:pt>
                <c:pt idx="7">
                  <c:v>67.7</c:v>
                </c:pt>
                <c:pt idx="8">
                  <c:v>156.2</c:v>
                </c:pt>
                <c:pt idx="9">
                  <c:v>88</c:v>
                </c:pt>
                <c:pt idx="10">
                  <c:v>188.4</c:v>
                </c:pt>
                <c:pt idx="11">
                  <c:v>153.1</c:v>
                </c:pt>
                <c:pt idx="12">
                  <c:v>47.9</c:v>
                </c:pt>
                <c:pt idx="13">
                  <c:v>61.13</c:v>
                </c:pt>
                <c:pt idx="14">
                  <c:v>82.15</c:v>
                </c:pt>
                <c:pt idx="15">
                  <c:v>62.1</c:v>
                </c:pt>
                <c:pt idx="16">
                  <c:v>85.18</c:v>
                </c:pt>
                <c:pt idx="17">
                  <c:v>85.69</c:v>
                </c:pt>
                <c:pt idx="18">
                  <c:v>101.98</c:v>
                </c:pt>
                <c:pt idx="19">
                  <c:v>71.76</c:v>
                </c:pt>
                <c:pt idx="20">
                  <c:v>15.68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Sheet1!$A$2:$A$22</c:f>
              <c:strCache>
                <c:ptCount val="21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  <c:pt idx="19">
                  <c:v>26-Aug</c:v>
                </c:pt>
                <c:pt idx="20">
                  <c:v>26-Sep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41.4</c:v>
                </c:pt>
                <c:pt idx="1">
                  <c:v>21.7</c:v>
                </c:pt>
                <c:pt idx="2">
                  <c:v>35.5</c:v>
                </c:pt>
                <c:pt idx="3">
                  <c:v>27.5</c:v>
                </c:pt>
                <c:pt idx="4">
                  <c:v>28.6</c:v>
                </c:pt>
                <c:pt idx="5">
                  <c:v>77</c:v>
                </c:pt>
                <c:pt idx="6">
                  <c:v>102.9</c:v>
                </c:pt>
                <c:pt idx="7">
                  <c:v>44.9</c:v>
                </c:pt>
                <c:pt idx="8">
                  <c:v>61.4</c:v>
                </c:pt>
                <c:pt idx="9">
                  <c:v>93.4</c:v>
                </c:pt>
                <c:pt idx="10">
                  <c:v>38.7</c:v>
                </c:pt>
                <c:pt idx="11">
                  <c:v>43.7</c:v>
                </c:pt>
                <c:pt idx="12">
                  <c:v>116.78</c:v>
                </c:pt>
                <c:pt idx="13">
                  <c:v>143.73</c:v>
                </c:pt>
                <c:pt idx="14">
                  <c:v>85.76</c:v>
                </c:pt>
                <c:pt idx="15">
                  <c:v>91.15</c:v>
                </c:pt>
                <c:pt idx="16">
                  <c:v>72.81</c:v>
                </c:pt>
                <c:pt idx="17">
                  <c:v>61.9</c:v>
                </c:pt>
                <c:pt idx="18">
                  <c:v>68.13</c:v>
                </c:pt>
                <c:pt idx="19">
                  <c:v>74.14</c:v>
                </c:pt>
                <c:pt idx="20">
                  <c:v>19.21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61.9</c:v>
                </c:pt>
                <c:pt idx="6">
                  <c:v>68.13</c:v>
                </c:pt>
                <c:pt idx="7">
                  <c:v>74.14</c:v>
                </c:pt>
                <c:pt idx="8">
                  <c:v>19.21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9">
                  <c:v>100</c:v>
                </c:pt>
                <c:pt idx="10">
                  <c:v>100</c:v>
                </c:pt>
                <c:pt idx="11">
                  <c:v>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Sheet1!$B$10</c:f>
              <c:strCache>
                <c:ptCount val="1"/>
                <c:pt idx="0">
                  <c:v>预约 APE(M)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53.9M / 132件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56.4M / 110件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81.5M / 216件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67.4M / 173件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80.9M / 223件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84.3M / 231件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107.5M / 256件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64.9M / 185件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26.8M / 56件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53.9</c:v>
                </c:pt>
                <c:pt idx="1">
                  <c:v>56.37</c:v>
                </c:pt>
                <c:pt idx="2">
                  <c:v>81.48</c:v>
                </c:pt>
                <c:pt idx="3">
                  <c:v>67.37</c:v>
                </c:pt>
                <c:pt idx="4">
                  <c:v>80.91</c:v>
                </c:pt>
                <c:pt idx="5">
                  <c:v>84.34</c:v>
                </c:pt>
                <c:pt idx="6">
                  <c:v>107.46</c:v>
                </c:pt>
                <c:pt idx="7">
                  <c:v>64.91</c:v>
                </c:pt>
                <c:pt idx="8">
                  <c:v>26.77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Sheet1!$B$10</c:f>
              <c:strCache>
                <c:ptCount val="1"/>
                <c:pt idx="0">
                  <c:v>签单 APE(M)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47.9M / 114件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61.1M / 121件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82.2M / 212件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62.1M / 162件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85.2M / 225件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85.7M / 239件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102.0M / 250件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71.8M / 198件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15.7M / 36件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47.9</c:v>
                </c:pt>
                <c:pt idx="1">
                  <c:v>61.13</c:v>
                </c:pt>
                <c:pt idx="2">
                  <c:v>82.15</c:v>
                </c:pt>
                <c:pt idx="3">
                  <c:v>62.1</c:v>
                </c:pt>
                <c:pt idx="4">
                  <c:v>85.18</c:v>
                </c:pt>
                <c:pt idx="5">
                  <c:v>85.69</c:v>
                </c:pt>
                <c:pt idx="6">
                  <c:v>101.98</c:v>
                </c:pt>
                <c:pt idx="7">
                  <c:v>71.76</c:v>
                </c:pt>
                <c:pt idx="8">
                  <c:v>15.68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Sheet1!$B$10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116.8M / 203件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143.7M / 180件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85.8M / 143件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91.2M / 192件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72.8M / 163件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61.9M / 171件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68.1M / 208件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74.1M / 206件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19.2M / 48件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61.9</c:v>
                </c:pt>
                <c:pt idx="6">
                  <c:v>68.13</c:v>
                </c:pt>
                <c:pt idx="7">
                  <c:v>74.14</c:v>
                </c:pt>
                <c:pt idx="8">
                  <c:v>19.21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10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10"/>
                <c:pt idx="0">
                  <c:v>42.32</c:v>
                </c:pt>
                <c:pt idx="1">
                  <c:v>28.16</c:v>
                </c:pt>
                <c:pt idx="2">
                  <c:v>65.38</c:v>
                </c:pt>
                <c:pt idx="3">
                  <c:v>46.12</c:v>
                </c:pt>
                <c:pt idx="4">
                  <c:v>57.71</c:v>
                </c:pt>
                <c:pt idx="5">
                  <c:v>59.28</c:v>
                </c:pt>
                <c:pt idx="6">
                  <c:v>55.49</c:v>
                </c:pt>
                <c:pt idx="7">
                  <c:v>49.12</c:v>
                </c:pt>
                <c:pt idx="8">
                  <c:v>20.02</c:v>
                </c:pt>
                <c:pt idx="9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10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10"/>
                <c:pt idx="0">
                  <c:v>36.68</c:v>
                </c:pt>
                <c:pt idx="1">
                  <c:v>32.71</c:v>
                </c:pt>
                <c:pt idx="2">
                  <c:v>66.13</c:v>
                </c:pt>
                <c:pt idx="3">
                  <c:v>47.01</c:v>
                </c:pt>
                <c:pt idx="4">
                  <c:v>57.93</c:v>
                </c:pt>
                <c:pt idx="5">
                  <c:v>61.31</c:v>
                </c:pt>
                <c:pt idx="6">
                  <c:v>47.61</c:v>
                </c:pt>
                <c:pt idx="7">
                  <c:v>55.63</c:v>
                </c:pt>
                <c:pt idx="8">
                  <c:v>10.05</c:v>
                </c:pt>
                <c:pt idx="9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10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10"/>
                <c:pt idx="0">
                  <c:v>86.18</c:v>
                </c:pt>
                <c:pt idx="1">
                  <c:v>124.06</c:v>
                </c:pt>
                <c:pt idx="2">
                  <c:v>81.03</c:v>
                </c:pt>
                <c:pt idx="3">
                  <c:v>85.9</c:v>
                </c:pt>
                <c:pt idx="4">
                  <c:v>56.85</c:v>
                </c:pt>
                <c:pt idx="5">
                  <c:v>48.34</c:v>
                </c:pt>
                <c:pt idx="6">
                  <c:v>47.77</c:v>
                </c:pt>
                <c:pt idx="7">
                  <c:v>46.62</c:v>
                </c:pt>
                <c:pt idx="8">
                  <c:v>14.17</c:v>
                </c:pt>
                <c:pt idx="9">
                  <c:v>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Sheet1!$B2:$D11</c:f>
              <c:numCache>
                <c:formatCode>0.0</c:formatCode>
                <c:ptCount val="10"/>
                <c:pt idx="0">
                  <c:v>6.674</c:v>
                </c:pt>
                <c:pt idx="1">
                  <c:v>9.7305</c:v>
                </c:pt>
                <c:pt idx="2">
                  <c:v>13.1168</c:v>
                </c:pt>
                <c:pt idx="3">
                  <c:v>8.6571</c:v>
                </c:pt>
                <c:pt idx="4">
                  <c:v>19.7733</c:v>
                </c:pt>
                <c:pt idx="5">
                  <c:v>5.9268</c:v>
                </c:pt>
                <c:pt idx="6">
                  <c:v>9.5574</c:v>
                </c:pt>
                <c:pt idx="7">
                  <c:v>3.5424</c:v>
                </c:pt>
                <c:pt idx="8">
                  <c:v>2.296</c:v>
                </c:pt>
                <c:pt idx="9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Sheet1!$B3:$D11</c:f>
              <c:numCache>
                <c:formatCode>0.0</c:formatCode>
                <c:ptCount val="10"/>
                <c:pt idx="0">
                  <c:v>4.958</c:v>
                </c:pt>
                <c:pt idx="1">
                  <c:v>11.2125</c:v>
                </c:pt>
                <c:pt idx="2">
                  <c:v>12.1301</c:v>
                </c:pt>
                <c:pt idx="3">
                  <c:v>9.6984</c:v>
                </c:pt>
                <c:pt idx="4">
                  <c:v>19.2648</c:v>
                </c:pt>
                <c:pt idx="5">
                  <c:v>5.9907</c:v>
                </c:pt>
                <c:pt idx="6">
                  <c:v>8.9724</c:v>
                </c:pt>
                <c:pt idx="7">
                  <c:v>4.5099</c:v>
                </c:pt>
                <c:pt idx="8">
                  <c:v>1.2115</c:v>
                </c:pt>
                <c:pt idx="9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Sheet1!$B4:$D11</c:f>
              <c:numCache>
                <c:formatCode>0.0</c:formatCode>
                <c:ptCount val="10"/>
                <c:pt idx="0">
                  <c:v>6.7618</c:v>
                </c:pt>
                <c:pt idx="1">
                  <c:v>10.5184</c:v>
                </c:pt>
                <c:pt idx="2">
                  <c:v>6.2942</c:v>
                </c:pt>
                <c:pt idx="3">
                  <c:v>16.602</c:v>
                </c:pt>
                <c:pt idx="4">
                  <c:v>6.0226</c:v>
                </c:pt>
                <c:pt idx="5">
                  <c:v>17.1128</c:v>
                </c:pt>
                <c:pt idx="6">
                  <c:v>6.8519</c:v>
                </c:pt>
                <c:pt idx="7">
                  <c:v>7.9516</c:v>
                </c:pt>
                <c:pt idx="8">
                  <c:v>0.7166</c:v>
                </c:pt>
                <c:pt idx="9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Sheet1!$B2:$D11</c:f>
              <c:numCache>
                <c:formatCode>0.0</c:formatCode>
                <c:ptCount val="10"/>
                <c:pt idx="0">
                  <c:v>1.023</c:v>
                </c:pt>
                <c:pt idx="1">
                  <c:v>0.39</c:v>
                </c:pt>
                <c:pt idx="2">
                  <c:v>0.312</c:v>
                </c:pt>
                <c:pt idx="3">
                  <c:v>2.6315</c:v>
                </c:pt>
                <c:pt idx="4">
                  <c:v>1.533</c:v>
                </c:pt>
                <c:pt idx="5">
                  <c:v>0.819</c:v>
                </c:pt>
                <c:pt idx="6">
                  <c:v>0.2685</c:v>
                </c:pt>
                <c:pt idx="7">
                  <c:v>1.9734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Sheet1!$B3:$D11</c:f>
              <c:numCache>
                <c:formatCode>0.0</c:formatCode>
                <c:ptCount val="10"/>
                <c:pt idx="0">
                  <c:v>1.023</c:v>
                </c:pt>
                <c:pt idx="1">
                  <c:v>0.39</c:v>
                </c:pt>
                <c:pt idx="2">
                  <c:v>0.312</c:v>
                </c:pt>
                <c:pt idx="3">
                  <c:v>1.8935</c:v>
                </c:pt>
                <c:pt idx="4">
                  <c:v>2.271</c:v>
                </c:pt>
                <c:pt idx="5">
                  <c:v>0.819</c:v>
                </c:pt>
                <c:pt idx="6">
                  <c:v>0.2685</c:v>
                </c:pt>
                <c:pt idx="7">
                  <c:v>1.9734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Sheet1!$B4:$D11</c:f>
              <c:numCache>
                <c:formatCode>0.0</c:formatCode>
                <c:ptCount val="10"/>
                <c:pt idx="0">
                  <c:v>1.3447</c:v>
                </c:pt>
                <c:pt idx="1">
                  <c:v>0.39</c:v>
                </c:pt>
                <c:pt idx="2">
                  <c:v>0.468</c:v>
                </c:pt>
                <c:pt idx="3">
                  <c:v>1.6926</c:v>
                </c:pt>
                <c:pt idx="4">
                  <c:v>2.607</c:v>
                </c:pt>
                <c:pt idx="5">
                  <c:v>0.477</c:v>
                </c:pt>
                <c:pt idx="6">
                  <c:v>0.975</c:v>
                </c:pt>
                <c:pt idx="7">
                  <c:v>0.1125</c:v>
                </c:pt>
                <c:pt idx="8">
                  <c:v>0.4914</c:v>
                </c:pt>
                <c:pt idx="9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Sheet1!$B2:$D11</c:f>
              <c:numCache>
                <c:formatCode>0.0</c:formatCode>
                <c:ptCount val="10"/>
                <c:pt idx="0">
                  <c:v>13.8622</c:v>
                </c:pt>
                <c:pt idx="1">
                  <c:v>5.8032</c:v>
                </c:pt>
                <c:pt idx="2">
                  <c:v>14.04</c:v>
                </c:pt>
                <c:pt idx="3">
                  <c:v>7.332</c:v>
                </c:pt>
                <c:pt idx="4">
                  <c:v>6.864</c:v>
                </c:pt>
                <c:pt idx="5">
                  <c:v>8.8842</c:v>
                </c:pt>
                <c:pt idx="6">
                  <c:v>19.89</c:v>
                </c:pt>
                <c:pt idx="7">
                  <c:v>18.5993</c:v>
                </c:pt>
                <c:pt idx="8">
                  <c:v>10.14</c:v>
                </c:pt>
                <c:pt idx="9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Sheet1!$B3:$D11</c:f>
              <c:numCache>
                <c:formatCode>0.0</c:formatCode>
                <c:ptCount val="10"/>
                <c:pt idx="0">
                  <c:v>17.1382</c:v>
                </c:pt>
                <c:pt idx="1">
                  <c:v>6.8172</c:v>
                </c:pt>
                <c:pt idx="2">
                  <c:v>12.48</c:v>
                </c:pt>
                <c:pt idx="3">
                  <c:v>8.502</c:v>
                </c:pt>
                <c:pt idx="4">
                  <c:v>6.864</c:v>
                </c:pt>
                <c:pt idx="5">
                  <c:v>10.0542</c:v>
                </c:pt>
                <c:pt idx="6">
                  <c:v>13.65</c:v>
                </c:pt>
                <c:pt idx="7">
                  <c:v>21.84</c:v>
                </c:pt>
                <c:pt idx="8">
                  <c:v>5.3393</c:v>
                </c:pt>
                <c:pt idx="9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Sheet1!$B4:$D11</c:f>
              <c:numCache>
                <c:formatCode>0.0</c:formatCode>
                <c:ptCount val="10"/>
                <c:pt idx="0">
                  <c:v>18.2598</c:v>
                </c:pt>
                <c:pt idx="1">
                  <c:v>93.9401</c:v>
                </c:pt>
                <c:pt idx="2">
                  <c:v>58.6997</c:v>
                </c:pt>
                <c:pt idx="3">
                  <c:v>27.222</c:v>
                </c:pt>
                <c:pt idx="4">
                  <c:v>21.7036</c:v>
                </c:pt>
                <c:pt idx="5">
                  <c:v>6.24</c:v>
                </c:pt>
                <c:pt idx="6">
                  <c:v>7.2283</c:v>
                </c:pt>
                <c:pt idx="7">
                  <c:v>10.4699</c:v>
                </c:pt>
                <c:pt idx="8">
                  <c:v>4.5593</c:v>
                </c:pt>
                <c:pt idx="9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Sheet1!$B2:$D11</c:f>
              <c:numCache>
                <c:formatCode>0.0</c:formatCode>
                <c:ptCount val="10"/>
                <c:pt idx="0">
                  <c:v>6.1763</c:v>
                </c:pt>
                <c:pt idx="1">
                  <c:v>4.9212</c:v>
                </c:pt>
                <c:pt idx="2">
                  <c:v>15.2385</c:v>
                </c:pt>
                <c:pt idx="3">
                  <c:v>22.4964</c:v>
                </c:pt>
                <c:pt idx="4">
                  <c:v>23.0497</c:v>
                </c:pt>
                <c:pt idx="5">
                  <c:v>32.9252</c:v>
                </c:pt>
                <c:pt idx="6">
                  <c:v>52.9919</c:v>
                </c:pt>
                <c:pt idx="7">
                  <c:v>27.6881</c:v>
                </c:pt>
                <c:pt idx="8">
                  <c:v>8.5345</c:v>
                </c:pt>
                <c:pt idx="9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Sheet1!$B3:$D11</c:f>
              <c:numCache>
                <c:formatCode>0.0</c:formatCode>
                <c:ptCount val="10"/>
                <c:pt idx="0">
                  <c:v>2.5883</c:v>
                </c:pt>
                <c:pt idx="1">
                  <c:v>7.4952</c:v>
                </c:pt>
                <c:pt idx="2">
                  <c:v>15.6285</c:v>
                </c:pt>
                <c:pt idx="3">
                  <c:v>21.7791</c:v>
                </c:pt>
                <c:pt idx="4">
                  <c:v>22.4212</c:v>
                </c:pt>
                <c:pt idx="5">
                  <c:v>32.4923</c:v>
                </c:pt>
                <c:pt idx="6">
                  <c:v>53.3553</c:v>
                </c:pt>
                <c:pt idx="7">
                  <c:v>29.4269</c:v>
                </c:pt>
                <c:pt idx="8">
                  <c:v>4.5056</c:v>
                </c:pt>
                <c:pt idx="9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Sheet1!$B4:$D11</c:f>
              <c:numCache>
                <c:formatCode>0.0</c:formatCode>
                <c:ptCount val="10"/>
                <c:pt idx="0">
                  <c:v>41.7944</c:v>
                </c:pt>
                <c:pt idx="1">
                  <c:v>5.6723</c:v>
                </c:pt>
                <c:pt idx="2">
                  <c:v>5.929</c:v>
                </c:pt>
                <c:pt idx="3">
                  <c:v>15.0442</c:v>
                </c:pt>
                <c:pt idx="4">
                  <c:v>25.229</c:v>
                </c:pt>
                <c:pt idx="5">
                  <c:v>25.5938</c:v>
                </c:pt>
                <c:pt idx="6">
                  <c:v>28.2885</c:v>
                </c:pt>
                <c:pt idx="7">
                  <c:v>40.3944</c:v>
                </c:pt>
                <c:pt idx="8">
                  <c:v>8.1034</c:v>
                </c:pt>
                <c:pt idx="9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Sheet1!$B2:$D11</c:f>
              <c:numCache>
                <c:formatCode>0.0</c:formatCode>
                <c:ptCount val="10"/>
                <c:pt idx="0">
                  <c:v>17.0096</c:v>
                </c:pt>
                <c:pt idx="1">
                  <c:v>16.0597</c:v>
                </c:pt>
                <c:pt idx="2">
                  <c:v>23.8882</c:v>
                </c:pt>
                <c:pt idx="3">
                  <c:v>15.6775</c:v>
                </c:pt>
                <c:pt idx="4">
                  <c:v>18.5139</c:v>
                </c:pt>
                <c:pt idx="5">
                  <c:v>22.6641</c:v>
                </c:pt>
                <c:pt idx="6">
                  <c:v>14.5252</c:v>
                </c:pt>
                <c:pt idx="7">
                  <c:v>12.0339</c:v>
                </c:pt>
                <c:pt idx="8">
                  <c:v>3.8021</c:v>
                </c:pt>
                <c:pt idx="9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Sheet1!$B3:$D11</c:f>
              <c:numCache>
                <c:formatCode>0.0</c:formatCode>
                <c:ptCount val="10"/>
                <c:pt idx="0">
                  <c:v>13.7444</c:v>
                </c:pt>
                <c:pt idx="1">
                  <c:v>15.1831</c:v>
                </c:pt>
                <c:pt idx="2">
                  <c:v>26.7325</c:v>
                </c:pt>
                <c:pt idx="3">
                  <c:v>14.7969</c:v>
                </c:pt>
                <c:pt idx="4">
                  <c:v>19.157</c:v>
                </c:pt>
                <c:pt idx="5">
                  <c:v>23.5866</c:v>
                </c:pt>
                <c:pt idx="6">
                  <c:v>13.7545</c:v>
                </c:pt>
                <c:pt idx="7">
                  <c:v>13.1754</c:v>
                </c:pt>
                <c:pt idx="8">
                  <c:v>2.3945</c:v>
                </c:pt>
                <c:pt idx="9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Sheet1!$B4:$D11</c:f>
              <c:numCache>
                <c:formatCode>0.0</c:formatCode>
                <c:ptCount val="10"/>
                <c:pt idx="0">
                  <c:v>45.9626</c:v>
                </c:pt>
                <c:pt idx="1">
                  <c:v>20.3124</c:v>
                </c:pt>
                <c:pt idx="2">
                  <c:v>13.5305</c:v>
                </c:pt>
                <c:pt idx="3">
                  <c:v>28.8356</c:v>
                </c:pt>
                <c:pt idx="4">
                  <c:v>10.8491</c:v>
                </c:pt>
                <c:pt idx="5">
                  <c:v>12.4729</c:v>
                </c:pt>
                <c:pt idx="6">
                  <c:v>24.3842</c:v>
                </c:pt>
                <c:pt idx="7">
                  <c:v>14.9492</c:v>
                </c:pt>
                <c:pt idx="8">
                  <c:v>5.103</c:v>
                </c:pt>
                <c:pt idx="9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Sheet1!$B2:$D11</c:f>
              <c:numCache>
                <c:formatCode>0.0</c:formatCode>
                <c:ptCount val="10"/>
                <c:pt idx="0">
                  <c:v>0.4368</c:v>
                </c:pt>
                <c:pt idx="1">
                  <c:v>0.0798</c:v>
                </c:pt>
                <c:pt idx="2">
                  <c:v>1.9639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0.2636</c:v>
                </c:pt>
                <c:pt idx="7">
                  <c:v>0.3552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Sheet1!$B3:$D11</c:f>
              <c:numCache>
                <c:formatCode>0.0</c:formatCode>
                <c:ptCount val="10"/>
                <c:pt idx="0">
                  <c:v>0.0898</c:v>
                </c:pt>
                <c:pt idx="1">
                  <c:v>0.4368</c:v>
                </c:pt>
                <c:pt idx="2">
                  <c:v>2.0437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0.2636</c:v>
                </c:pt>
                <c:pt idx="7">
                  <c:v>0.1212</c:v>
                </c:pt>
                <c:pt idx="8">
                  <c:v>0.234</c:v>
                </c:pt>
                <c:pt idx="9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Sheet1!$B4:$D11</c:f>
              <c:numCache>
                <c:formatCode>0.0</c:formatCode>
                <c:ptCount val="10"/>
                <c:pt idx="0">
                  <c:v>0.5802</c:v>
                </c:pt>
                <c:pt idx="1">
                  <c:v>0.897</c:v>
                </c:pt>
                <c:pt idx="2">
                  <c:v>0.3355</c:v>
                </c:pt>
                <c:pt idx="3">
                  <c:v>1.755</c:v>
                </c:pt>
                <c:pt idx="4">
                  <c:v>0.5743</c:v>
                </c:pt>
                <c:pt idx="5">
                  <c:v>0</c:v>
                </c:pt>
                <c:pt idx="6">
                  <c:v>0.3985</c:v>
                </c:pt>
                <c:pt idx="7">
                  <c:v>0.025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Sheet1!$B2:$D11</c:f>
              <c:numCache>
                <c:formatCode>0.0</c:formatCode>
                <c:ptCount val="10"/>
                <c:pt idx="0">
                  <c:v>2.39</c:v>
                </c:pt>
                <c:pt idx="1">
                  <c:v>12.1092</c:v>
                </c:pt>
                <c:pt idx="2">
                  <c:v>1.8188</c:v>
                </c:pt>
                <c:pt idx="3">
                  <c:v>4</c:v>
                </c:pt>
                <c:pt idx="4">
                  <c:v>0.0088</c:v>
                </c:pt>
                <c:pt idx="5">
                  <c:v>0</c:v>
                </c:pt>
                <c:pt idx="6">
                  <c:v>0</c:v>
                </c:pt>
                <c:pt idx="7">
                  <c:v>0.468</c:v>
                </c:pt>
                <c:pt idx="8">
                  <c:v>2</c:v>
                </c:pt>
                <c:pt idx="9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Sheet1!$B3:$D11</c:f>
              <c:numCache>
                <c:formatCode>0.0</c:formatCode>
                <c:ptCount val="10"/>
                <c:pt idx="0">
                  <c:v>2.39</c:v>
                </c:pt>
                <c:pt idx="1">
                  <c:v>12.1092</c:v>
                </c:pt>
                <c:pt idx="2">
                  <c:v>1.8</c:v>
                </c:pt>
                <c:pt idx="3">
                  <c:v>0.0188</c:v>
                </c:pt>
                <c:pt idx="4">
                  <c:v>4.0088</c:v>
                </c:pt>
                <c:pt idx="5">
                  <c:v>0</c:v>
                </c:pt>
                <c:pt idx="6">
                  <c:v>0</c:v>
                </c:pt>
                <c:pt idx="7">
                  <c:v>0.468</c:v>
                </c:pt>
                <c:pt idx="8">
                  <c:v>2</c:v>
                </c:pt>
                <c:pt idx="9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Sheet1!$B4:$D11</c:f>
              <c:numCache>
                <c:formatCode>0.0</c:formatCode>
                <c:ptCount val="10"/>
                <c:pt idx="0">
                  <c:v>2.078</c:v>
                </c:pt>
                <c:pt idx="1">
                  <c:v>12</c:v>
                </c:pt>
                <c:pt idx="2">
                  <c:v>0.4992</c:v>
                </c:pt>
                <c:pt idx="3">
                  <c:v>0</c:v>
                </c:pt>
                <c:pt idx="4">
                  <c:v>5.8276</c:v>
                </c:pt>
                <c:pt idx="5">
                  <c:v>0</c:v>
                </c:pt>
                <c:pt idx="6">
                  <c:v>0</c:v>
                </c:pt>
                <c:pt idx="7">
                  <c:v>0.234</c:v>
                </c:pt>
                <c:pt idx="8">
                  <c:v>0.234</c:v>
                </c:pt>
                <c:pt idx="9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733.6</c:v>
                </c:pt>
                <c:pt idx="1">
                  <c:v>91.29</c:v>
                </c:pt>
                <c:pt idx="2">
                  <c:v>15.41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248.32</c:v>
                </c:pt>
                <c:pt idx="1">
                  <c:v>176.4</c:v>
                </c:pt>
                <c:pt idx="2">
                  <c:v>196.05</c:v>
                </c:pt>
                <c:pt idx="3">
                  <c:v>78.83</c:v>
                </c:pt>
                <c:pt idx="4">
                  <c:v>20.87</c:v>
                </c:pt>
                <c:pt idx="5">
                  <c:v>8.56</c:v>
                </c:pt>
                <c:pt idx="6">
                  <c:v>4.57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30.81</c:v>
                </c:pt>
                <c:pt idx="1">
                  <c:v>12.93</c:v>
                </c:pt>
                <c:pt idx="2">
                  <c:v>34.88</c:v>
                </c:pt>
                <c:pt idx="3">
                  <c:v>4.95</c:v>
                </c:pt>
                <c:pt idx="4">
                  <c:v>2</c:v>
                </c:pt>
                <c:pt idx="5">
                  <c:v>1.4</c:v>
                </c:pt>
                <c:pt idx="6">
                  <c:v>4.32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7.8</c:v>
                </c:pt>
                <c:pt idx="1">
                  <c:v>1.8</c:v>
                </c:pt>
                <c:pt idx="2">
                  <c:v>4.49</c:v>
                </c:pt>
                <c:pt idx="3">
                  <c:v>1.33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148.87</c:v>
                </c:pt>
                <c:pt idx="2">
                  <c:v>0</c:v>
                </c:pt>
                <c:pt idx="3">
                  <c:v>107.89</c:v>
                </c:pt>
                <c:pt idx="4">
                  <c:v>29.13</c:v>
                </c:pt>
                <c:pt idx="5">
                  <c:v>60.04</c:v>
                </c:pt>
                <c:pt idx="6">
                  <c:v>64.11</c:v>
                </c:pt>
                <c:pt idx="7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36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  <c:pt idx="29">
                  <c:v>W30</c:v>
                </c:pt>
                <c:pt idx="30">
                  <c:v>W31</c:v>
                </c:pt>
                <c:pt idx="31">
                  <c:v>W32</c:v>
                </c:pt>
                <c:pt idx="32">
                  <c:v>W33</c:v>
                </c:pt>
                <c:pt idx="33">
                  <c:v>W34</c:v>
                </c:pt>
                <c:pt idx="34">
                  <c:v>W35</c:v>
                </c:pt>
                <c:pt idx="35">
                  <c:v>W36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36"/>
                <c:pt idx="0">
                  <c:v>6.52</c:v>
                </c:pt>
                <c:pt idx="1">
                  <c:v>13.64</c:v>
                </c:pt>
                <c:pt idx="2">
                  <c:v>17.19</c:v>
                </c:pt>
                <c:pt idx="3">
                  <c:v>9.87</c:v>
                </c:pt>
                <c:pt idx="4">
                  <c:v>26.64</c:v>
                </c:pt>
                <c:pt idx="5">
                  <c:v>12.64</c:v>
                </c:pt>
                <c:pt idx="6">
                  <c:v>2.73</c:v>
                </c:pt>
                <c:pt idx="7">
                  <c:v>7.08</c:v>
                </c:pt>
                <c:pt idx="8">
                  <c:v>5.88</c:v>
                </c:pt>
                <c:pt idx="9">
                  <c:v>17.12</c:v>
                </c:pt>
                <c:pt idx="10">
                  <c:v>19.03</c:v>
                </c:pt>
                <c:pt idx="11">
                  <c:v>25</c:v>
                </c:pt>
                <c:pt idx="12">
                  <c:v>4.36</c:v>
                </c:pt>
                <c:pt idx="13">
                  <c:v>12.63</c:v>
                </c:pt>
                <c:pt idx="14">
                  <c:v>12.39</c:v>
                </c:pt>
                <c:pt idx="15">
                  <c:v>26.75</c:v>
                </c:pt>
                <c:pt idx="16">
                  <c:v>9.69</c:v>
                </c:pt>
                <c:pt idx="17">
                  <c:v>11.36</c:v>
                </c:pt>
                <c:pt idx="18">
                  <c:v>19.62</c:v>
                </c:pt>
                <c:pt idx="19">
                  <c:v>20.7</c:v>
                </c:pt>
                <c:pt idx="20">
                  <c:v>16.78</c:v>
                </c:pt>
                <c:pt idx="21">
                  <c:v>9.58</c:v>
                </c:pt>
                <c:pt idx="22">
                  <c:v>18.43</c:v>
                </c:pt>
                <c:pt idx="23">
                  <c:v>16.79</c:v>
                </c:pt>
                <c:pt idx="24">
                  <c:v>25.34</c:v>
                </c:pt>
                <c:pt idx="25">
                  <c:v>11.32</c:v>
                </c:pt>
                <c:pt idx="26">
                  <c:v>22.77</c:v>
                </c:pt>
                <c:pt idx="27">
                  <c:v>16.51</c:v>
                </c:pt>
                <c:pt idx="28">
                  <c:v>29.64</c:v>
                </c:pt>
                <c:pt idx="29">
                  <c:v>22.5</c:v>
                </c:pt>
                <c:pt idx="30">
                  <c:v>9.66</c:v>
                </c:pt>
                <c:pt idx="31">
                  <c:v>16.67</c:v>
                </c:pt>
                <c:pt idx="32">
                  <c:v>17.98</c:v>
                </c:pt>
                <c:pt idx="33">
                  <c:v>16.49</c:v>
                </c:pt>
                <c:pt idx="34">
                  <c:v>11.01</c:v>
                </c:pt>
                <c:pt idx="35">
                  <c:v>19.62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36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  <c:pt idx="29">
                  <c:v>W30</c:v>
                </c:pt>
                <c:pt idx="30">
                  <c:v>W31</c:v>
                </c:pt>
                <c:pt idx="31">
                  <c:v>W32</c:v>
                </c:pt>
                <c:pt idx="32">
                  <c:v>W33</c:v>
                </c:pt>
                <c:pt idx="33">
                  <c:v>W34</c:v>
                </c:pt>
                <c:pt idx="34">
                  <c:v>W35</c:v>
                </c:pt>
                <c:pt idx="35">
                  <c:v>W36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36"/>
                <c:pt idx="0">
                  <c:v>2.63</c:v>
                </c:pt>
                <c:pt idx="1">
                  <c:v>10.23</c:v>
                </c:pt>
                <c:pt idx="2">
                  <c:v>12.7</c:v>
                </c:pt>
                <c:pt idx="3">
                  <c:v>11.54</c:v>
                </c:pt>
                <c:pt idx="4">
                  <c:v>31.28</c:v>
                </c:pt>
                <c:pt idx="5">
                  <c:v>11.21</c:v>
                </c:pt>
                <c:pt idx="6">
                  <c:v>3.77</c:v>
                </c:pt>
                <c:pt idx="7">
                  <c:v>7.38</c:v>
                </c:pt>
                <c:pt idx="8">
                  <c:v>3.84</c:v>
                </c:pt>
                <c:pt idx="9">
                  <c:v>11.38</c:v>
                </c:pt>
                <c:pt idx="10">
                  <c:v>18.48</c:v>
                </c:pt>
                <c:pt idx="11">
                  <c:v>25.27</c:v>
                </c:pt>
                <c:pt idx="12">
                  <c:v>14.82</c:v>
                </c:pt>
                <c:pt idx="13">
                  <c:v>6.52</c:v>
                </c:pt>
                <c:pt idx="14">
                  <c:v>13.36</c:v>
                </c:pt>
                <c:pt idx="15">
                  <c:v>18.13</c:v>
                </c:pt>
                <c:pt idx="16">
                  <c:v>16.86</c:v>
                </c:pt>
                <c:pt idx="17">
                  <c:v>12.64</c:v>
                </c:pt>
                <c:pt idx="18">
                  <c:v>18.66</c:v>
                </c:pt>
                <c:pt idx="19">
                  <c:v>13.62</c:v>
                </c:pt>
                <c:pt idx="20">
                  <c:v>28.7</c:v>
                </c:pt>
                <c:pt idx="21">
                  <c:v>10.76</c:v>
                </c:pt>
                <c:pt idx="22">
                  <c:v>10.6</c:v>
                </c:pt>
                <c:pt idx="23">
                  <c:v>18.96</c:v>
                </c:pt>
                <c:pt idx="24">
                  <c:v>25.55</c:v>
                </c:pt>
                <c:pt idx="25">
                  <c:v>16.37</c:v>
                </c:pt>
                <c:pt idx="26">
                  <c:v>10.88</c:v>
                </c:pt>
                <c:pt idx="27">
                  <c:v>21.61</c:v>
                </c:pt>
                <c:pt idx="28">
                  <c:v>28.28</c:v>
                </c:pt>
                <c:pt idx="29">
                  <c:v>24.89</c:v>
                </c:pt>
                <c:pt idx="30">
                  <c:v>14.9</c:v>
                </c:pt>
                <c:pt idx="31">
                  <c:v>17.78</c:v>
                </c:pt>
                <c:pt idx="32">
                  <c:v>17.82</c:v>
                </c:pt>
                <c:pt idx="33">
                  <c:v>17.39</c:v>
                </c:pt>
                <c:pt idx="34">
                  <c:v>9.01</c:v>
                </c:pt>
                <c:pt idx="35">
                  <c:v>9.67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36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  <c:pt idx="29">
                  <c:v>W30</c:v>
                </c:pt>
                <c:pt idx="30">
                  <c:v>W31</c:v>
                </c:pt>
                <c:pt idx="31">
                  <c:v>W32</c:v>
                </c:pt>
                <c:pt idx="32">
                  <c:v>W33</c:v>
                </c:pt>
                <c:pt idx="33">
                  <c:v>W34</c:v>
                </c:pt>
                <c:pt idx="34">
                  <c:v>W35</c:v>
                </c:pt>
                <c:pt idx="35">
                  <c:v>W36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36"/>
                <c:pt idx="0">
                  <c:v>9.96</c:v>
                </c:pt>
                <c:pt idx="1">
                  <c:v>7.8</c:v>
                </c:pt>
                <c:pt idx="2">
                  <c:v>10.95</c:v>
                </c:pt>
                <c:pt idx="3">
                  <c:v>16.19</c:v>
                </c:pt>
                <c:pt idx="4">
                  <c:v>31.58</c:v>
                </c:pt>
                <c:pt idx="5">
                  <c:v>12.72</c:v>
                </c:pt>
                <c:pt idx="6">
                  <c:v>0</c:v>
                </c:pt>
                <c:pt idx="7">
                  <c:v>4.01</c:v>
                </c:pt>
                <c:pt idx="8">
                  <c:v>10.9</c:v>
                </c:pt>
                <c:pt idx="9">
                  <c:v>9.83</c:v>
                </c:pt>
                <c:pt idx="10">
                  <c:v>11.17</c:v>
                </c:pt>
                <c:pt idx="11">
                  <c:v>13.16</c:v>
                </c:pt>
                <c:pt idx="12">
                  <c:v>34.98</c:v>
                </c:pt>
                <c:pt idx="13">
                  <c:v>4.08</c:v>
                </c:pt>
                <c:pt idx="14">
                  <c:v>11.28</c:v>
                </c:pt>
                <c:pt idx="15">
                  <c:v>15.45</c:v>
                </c:pt>
                <c:pt idx="16">
                  <c:v>22.93</c:v>
                </c:pt>
                <c:pt idx="17">
                  <c:v>6.57</c:v>
                </c:pt>
                <c:pt idx="18">
                  <c:v>5.5</c:v>
                </c:pt>
                <c:pt idx="19">
                  <c:v>16.31</c:v>
                </c:pt>
                <c:pt idx="20">
                  <c:v>24.69</c:v>
                </c:pt>
                <c:pt idx="21">
                  <c:v>30</c:v>
                </c:pt>
                <c:pt idx="22">
                  <c:v>9.74</c:v>
                </c:pt>
                <c:pt idx="23">
                  <c:v>9.87</c:v>
                </c:pt>
                <c:pt idx="24">
                  <c:v>22.35</c:v>
                </c:pt>
                <c:pt idx="25">
                  <c:v>22.6</c:v>
                </c:pt>
                <c:pt idx="26">
                  <c:v>13.64</c:v>
                </c:pt>
                <c:pt idx="27">
                  <c:v>19.29</c:v>
                </c:pt>
                <c:pt idx="28">
                  <c:v>23.14</c:v>
                </c:pt>
                <c:pt idx="29">
                  <c:v>33.25</c:v>
                </c:pt>
                <c:pt idx="30">
                  <c:v>11.22</c:v>
                </c:pt>
                <c:pt idx="31">
                  <c:v>18.38</c:v>
                </c:pt>
                <c:pt idx="32">
                  <c:v>16.43</c:v>
                </c:pt>
                <c:pt idx="33">
                  <c:v>16.85</c:v>
                </c:pt>
                <c:pt idx="34">
                  <c:v>15.23</c:v>
                </c:pt>
                <c:pt idx="35">
                  <c:v>9.13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36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  <c:pt idx="29">
                  <c:v>W30</c:v>
                </c:pt>
                <c:pt idx="30">
                  <c:v>W31</c:v>
                </c:pt>
                <c:pt idx="31">
                  <c:v>W32</c:v>
                </c:pt>
                <c:pt idx="32">
                  <c:v>W33</c:v>
                </c:pt>
                <c:pt idx="33">
                  <c:v>W34</c:v>
                </c:pt>
                <c:pt idx="34">
                  <c:v>W35</c:v>
                </c:pt>
                <c:pt idx="35">
                  <c:v>W36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36"/>
                <c:pt idx="0">
                  <c:v>18.04</c:v>
                </c:pt>
                <c:pt idx="1">
                  <c:v>46.35</c:v>
                </c:pt>
                <c:pt idx="2">
                  <c:v>29.21</c:v>
                </c:pt>
                <c:pt idx="3">
                  <c:v>20.07</c:v>
                </c:pt>
                <c:pt idx="4">
                  <c:v>29.97</c:v>
                </c:pt>
                <c:pt idx="5">
                  <c:v>39.45</c:v>
                </c:pt>
                <c:pt idx="6">
                  <c:v>7.26</c:v>
                </c:pt>
                <c:pt idx="7">
                  <c:v>67.05</c:v>
                </c:pt>
                <c:pt idx="8">
                  <c:v>15.84</c:v>
                </c:pt>
                <c:pt idx="9">
                  <c:v>11.12</c:v>
                </c:pt>
                <c:pt idx="10">
                  <c:v>41.56</c:v>
                </c:pt>
                <c:pt idx="11">
                  <c:v>7.94</c:v>
                </c:pt>
                <c:pt idx="12">
                  <c:v>15.72</c:v>
                </c:pt>
                <c:pt idx="13">
                  <c:v>12.38</c:v>
                </c:pt>
                <c:pt idx="14">
                  <c:v>24.32</c:v>
                </c:pt>
                <c:pt idx="15">
                  <c:v>24.57</c:v>
                </c:pt>
                <c:pt idx="16">
                  <c:v>23.49</c:v>
                </c:pt>
                <c:pt idx="17">
                  <c:v>8.41</c:v>
                </c:pt>
                <c:pt idx="18">
                  <c:v>15.89</c:v>
                </c:pt>
                <c:pt idx="19">
                  <c:v>20.39</c:v>
                </c:pt>
                <c:pt idx="20">
                  <c:v>28.09</c:v>
                </c:pt>
                <c:pt idx="21">
                  <c:v>12.47</c:v>
                </c:pt>
                <c:pt idx="22">
                  <c:v>12</c:v>
                </c:pt>
                <c:pt idx="23">
                  <c:v>15.44</c:v>
                </c:pt>
                <c:pt idx="24">
                  <c:v>19.12</c:v>
                </c:pt>
                <c:pt idx="25">
                  <c:v>11.19</c:v>
                </c:pt>
                <c:pt idx="26">
                  <c:v>18.4</c:v>
                </c:pt>
                <c:pt idx="27">
                  <c:v>7.93</c:v>
                </c:pt>
                <c:pt idx="28">
                  <c:v>13.99</c:v>
                </c:pt>
                <c:pt idx="29">
                  <c:v>19.47</c:v>
                </c:pt>
                <c:pt idx="30">
                  <c:v>22.35</c:v>
                </c:pt>
                <c:pt idx="31">
                  <c:v>16.22</c:v>
                </c:pt>
                <c:pt idx="32">
                  <c:v>16.2</c:v>
                </c:pt>
                <c:pt idx="33">
                  <c:v>12.85</c:v>
                </c:pt>
                <c:pt idx="34">
                  <c:v>13.44</c:v>
                </c:pt>
                <c:pt idx="35">
                  <c:v>12.28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白博文</c:v>
                </c:pt>
                <c:pt idx="4">
                  <c:v>Mark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183.82</c:v>
                </c:pt>
                <c:pt idx="1">
                  <c:v>48.85</c:v>
                </c:pt>
                <c:pt idx="2">
                  <c:v>28.87</c:v>
                </c:pt>
                <c:pt idx="3">
                  <c:v>22.79</c:v>
                </c:pt>
                <c:pt idx="4">
                  <c:v>13.28</c:v>
                </c:pt>
                <c:pt idx="5">
                  <c:v>1.88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白博文</c:v>
                </c:pt>
                <c:pt idx="4">
                  <c:v>Mark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33.41</c:v>
                </c:pt>
                <c:pt idx="1">
                  <c:v>4</c:v>
                </c:pt>
                <c:pt idx="2">
                  <c:v>2.75</c:v>
                </c:pt>
                <c:pt idx="3">
                  <c:v>4.77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白博文</c:v>
                </c:pt>
                <c:pt idx="4">
                  <c:v>Mark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2.18</c:v>
                </c:pt>
                <c:pt idx="1">
                  <c:v>3.08</c:v>
                </c:pt>
                <c:pt idx="2">
                  <c:v>0.47</c:v>
                </c:pt>
                <c:pt idx="3">
                  <c:v>0.43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宏鑫资产</c:v>
                </c:pt>
                <c:pt idx="1">
                  <c:v>中天家办</c:v>
                </c:pt>
                <c:pt idx="2">
                  <c:v>企鹅保险</c:v>
                </c:pt>
                <c:pt idx="3">
                  <c:v>利泰丰</c:v>
                </c:pt>
                <c:pt idx="4">
                  <c:v>万森保险</c:v>
                </c:pt>
                <c:pt idx="5">
                  <c:v>堡盛国际</c:v>
                </c:pt>
                <c:pt idx="6">
                  <c:v>紫荆保险</c:v>
                </c:pt>
                <c:pt idx="7">
                  <c:v>唯思</c:v>
                </c:pt>
                <c:pt idx="8">
                  <c:v>天誉国际</c:v>
                </c:pt>
                <c:pt idx="9">
                  <c:v>天誉国际(MGA)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12.48</c:v>
                </c:pt>
                <c:pt idx="1">
                  <c:v>15.19</c:v>
                </c:pt>
                <c:pt idx="2">
                  <c:v>21.77</c:v>
                </c:pt>
                <c:pt idx="3">
                  <c:v>27.86</c:v>
                </c:pt>
                <c:pt idx="4">
                  <c:v>28.69</c:v>
                </c:pt>
                <c:pt idx="5">
                  <c:v>29.01</c:v>
                </c:pt>
                <c:pt idx="6">
                  <c:v>39.34</c:v>
                </c:pt>
                <c:pt idx="7">
                  <c:v>48.85</c:v>
                </c:pt>
                <c:pt idx="8">
                  <c:v>56.74</c:v>
                </c:pt>
                <c:pt idx="9">
                  <c:v>62.59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宏鑫资产</c:v>
                </c:pt>
                <c:pt idx="1">
                  <c:v>中天家办</c:v>
                </c:pt>
                <c:pt idx="2">
                  <c:v>企鹅保险</c:v>
                </c:pt>
                <c:pt idx="3">
                  <c:v>利泰丰</c:v>
                </c:pt>
                <c:pt idx="4">
                  <c:v>万森保险</c:v>
                </c:pt>
                <c:pt idx="5">
                  <c:v>堡盛国际</c:v>
                </c:pt>
                <c:pt idx="6">
                  <c:v>紫荆保险</c:v>
                </c:pt>
                <c:pt idx="7">
                  <c:v>唯思</c:v>
                </c:pt>
                <c:pt idx="8">
                  <c:v>天誉国际</c:v>
                </c:pt>
                <c:pt idx="9">
                  <c:v>天誉国际(MGA)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1.8</c:v>
                </c:pt>
                <c:pt idx="2">
                  <c:v>0.35</c:v>
                </c:pt>
                <c:pt idx="3">
                  <c:v>0.16</c:v>
                </c:pt>
                <c:pt idx="4">
                  <c:v>2.75</c:v>
                </c:pt>
                <c:pt idx="5">
                  <c:v>0.28</c:v>
                </c:pt>
                <c:pt idx="6">
                  <c:v>2.69</c:v>
                </c:pt>
                <c:pt idx="7">
                  <c:v>4</c:v>
                </c:pt>
                <c:pt idx="8">
                  <c:v>11.16</c:v>
                </c:pt>
                <c:pt idx="9">
                  <c:v>19.56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宏鑫资产</c:v>
                </c:pt>
                <c:pt idx="1">
                  <c:v>中天家办</c:v>
                </c:pt>
                <c:pt idx="2">
                  <c:v>企鹅保险</c:v>
                </c:pt>
                <c:pt idx="3">
                  <c:v>利泰丰</c:v>
                </c:pt>
                <c:pt idx="4">
                  <c:v>万森保险</c:v>
                </c:pt>
                <c:pt idx="5">
                  <c:v>堡盛国际</c:v>
                </c:pt>
                <c:pt idx="6">
                  <c:v>紫荆保险</c:v>
                </c:pt>
                <c:pt idx="7">
                  <c:v>唯思</c:v>
                </c:pt>
                <c:pt idx="8">
                  <c:v>天誉国际</c:v>
                </c:pt>
                <c:pt idx="9">
                  <c:v>天誉国际(MGA)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0.43</c:v>
                </c:pt>
                <c:pt idx="2">
                  <c:v>0</c:v>
                </c:pt>
                <c:pt idx="3">
                  <c:v>0</c:v>
                </c:pt>
                <c:pt idx="4">
                  <c:v>0.47</c:v>
                </c:pt>
                <c:pt idx="5">
                  <c:v>0</c:v>
                </c:pt>
                <c:pt idx="6">
                  <c:v>0</c:v>
                </c:pt>
                <c:pt idx="7">
                  <c:v>3.08</c:v>
                </c:pt>
                <c:pt idx="8">
                  <c:v>0</c:v>
                </c:pt>
                <c:pt idx="9">
                  <c:v>1.4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36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  <c:pt idx="29">
                  <c:v>W30</c:v>
                </c:pt>
                <c:pt idx="30">
                  <c:v>W31</c:v>
                </c:pt>
                <c:pt idx="31">
                  <c:v>W32</c:v>
                </c:pt>
                <c:pt idx="32">
                  <c:v>W33</c:v>
                </c:pt>
                <c:pt idx="33">
                  <c:v>W34</c:v>
                </c:pt>
                <c:pt idx="34">
                  <c:v>W35</c:v>
                </c:pt>
                <c:pt idx="35">
                  <c:v>W36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36"/>
                <c:pt idx="0">
                  <c:v>3.15</c:v>
                </c:pt>
                <c:pt idx="1">
                  <c:v>6.39</c:v>
                </c:pt>
                <c:pt idx="2">
                  <c:v>8.3</c:v>
                </c:pt>
                <c:pt idx="3">
                  <c:v>5.34</c:v>
                </c:pt>
                <c:pt idx="4">
                  <c:v>6.19</c:v>
                </c:pt>
                <c:pt idx="5">
                  <c:v>5.76</c:v>
                </c:pt>
                <c:pt idx="6">
                  <c:v>2.11</c:v>
                </c:pt>
                <c:pt idx="7">
                  <c:v>6.93</c:v>
                </c:pt>
                <c:pt idx="8">
                  <c:v>3.41</c:v>
                </c:pt>
                <c:pt idx="9">
                  <c:v>9.71</c:v>
                </c:pt>
                <c:pt idx="10">
                  <c:v>11.35</c:v>
                </c:pt>
                <c:pt idx="11">
                  <c:v>12.71</c:v>
                </c:pt>
                <c:pt idx="12">
                  <c:v>2.34</c:v>
                </c:pt>
                <c:pt idx="13">
                  <c:v>6.78</c:v>
                </c:pt>
                <c:pt idx="14">
                  <c:v>7.59</c:v>
                </c:pt>
                <c:pt idx="15">
                  <c:v>19.87</c:v>
                </c:pt>
                <c:pt idx="16">
                  <c:v>3.63</c:v>
                </c:pt>
                <c:pt idx="17">
                  <c:v>9.51</c:v>
                </c:pt>
                <c:pt idx="18">
                  <c:v>10.36</c:v>
                </c:pt>
                <c:pt idx="19">
                  <c:v>10.82</c:v>
                </c:pt>
                <c:pt idx="20">
                  <c:v>10.71</c:v>
                </c:pt>
                <c:pt idx="21">
                  <c:v>7.48</c:v>
                </c:pt>
                <c:pt idx="22">
                  <c:v>14.68</c:v>
                </c:pt>
                <c:pt idx="23">
                  <c:v>15.27</c:v>
                </c:pt>
                <c:pt idx="24">
                  <c:v>13.72</c:v>
                </c:pt>
                <c:pt idx="25">
                  <c:v>9.81</c:v>
                </c:pt>
                <c:pt idx="26">
                  <c:v>11.34</c:v>
                </c:pt>
                <c:pt idx="27">
                  <c:v>12.92</c:v>
                </c:pt>
                <c:pt idx="28">
                  <c:v>23.88</c:v>
                </c:pt>
                <c:pt idx="29">
                  <c:v>14.08</c:v>
                </c:pt>
                <c:pt idx="30">
                  <c:v>6.83</c:v>
                </c:pt>
                <c:pt idx="31">
                  <c:v>9.35</c:v>
                </c:pt>
                <c:pt idx="32">
                  <c:v>12.06</c:v>
                </c:pt>
                <c:pt idx="33">
                  <c:v>11.4</c:v>
                </c:pt>
                <c:pt idx="34">
                  <c:v>5.17</c:v>
                </c:pt>
                <c:pt idx="35">
                  <c:v>7.24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36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  <c:pt idx="29">
                  <c:v>W30</c:v>
                </c:pt>
                <c:pt idx="30">
                  <c:v>W31</c:v>
                </c:pt>
                <c:pt idx="31">
                  <c:v>W32</c:v>
                </c:pt>
                <c:pt idx="32">
                  <c:v>W33</c:v>
                </c:pt>
                <c:pt idx="33">
                  <c:v>W34</c:v>
                </c:pt>
                <c:pt idx="34">
                  <c:v>W35</c:v>
                </c:pt>
                <c:pt idx="35">
                  <c:v>W36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36"/>
                <c:pt idx="0">
                  <c:v>1.17</c:v>
                </c:pt>
                <c:pt idx="1">
                  <c:v>3.68</c:v>
                </c:pt>
                <c:pt idx="2">
                  <c:v>5.34</c:v>
                </c:pt>
                <c:pt idx="3">
                  <c:v>5.99</c:v>
                </c:pt>
                <c:pt idx="4">
                  <c:v>11.38</c:v>
                </c:pt>
                <c:pt idx="5">
                  <c:v>4.21</c:v>
                </c:pt>
                <c:pt idx="6">
                  <c:v>2.65</c:v>
                </c:pt>
                <c:pt idx="7">
                  <c:v>4.44</c:v>
                </c:pt>
                <c:pt idx="8">
                  <c:v>2.12</c:v>
                </c:pt>
                <c:pt idx="9">
                  <c:v>8.14</c:v>
                </c:pt>
                <c:pt idx="10">
                  <c:v>8.79</c:v>
                </c:pt>
                <c:pt idx="11">
                  <c:v>18.84</c:v>
                </c:pt>
                <c:pt idx="12">
                  <c:v>5.33</c:v>
                </c:pt>
                <c:pt idx="13">
                  <c:v>4.89</c:v>
                </c:pt>
                <c:pt idx="14">
                  <c:v>6.94</c:v>
                </c:pt>
                <c:pt idx="15">
                  <c:v>9.4</c:v>
                </c:pt>
                <c:pt idx="16">
                  <c:v>14.75</c:v>
                </c:pt>
                <c:pt idx="17">
                  <c:v>5.61</c:v>
                </c:pt>
                <c:pt idx="18">
                  <c:v>10.7</c:v>
                </c:pt>
                <c:pt idx="19">
                  <c:v>9.47</c:v>
                </c:pt>
                <c:pt idx="20">
                  <c:v>15.54</c:v>
                </c:pt>
                <c:pt idx="21">
                  <c:v>8.32</c:v>
                </c:pt>
                <c:pt idx="22">
                  <c:v>7.87</c:v>
                </c:pt>
                <c:pt idx="23">
                  <c:v>15.49</c:v>
                </c:pt>
                <c:pt idx="24">
                  <c:v>19.63</c:v>
                </c:pt>
                <c:pt idx="25">
                  <c:v>7.65</c:v>
                </c:pt>
                <c:pt idx="26">
                  <c:v>7.66</c:v>
                </c:pt>
                <c:pt idx="27">
                  <c:v>11.14</c:v>
                </c:pt>
                <c:pt idx="28">
                  <c:v>22.69</c:v>
                </c:pt>
                <c:pt idx="29">
                  <c:v>23.36</c:v>
                </c:pt>
                <c:pt idx="30">
                  <c:v>6.4</c:v>
                </c:pt>
                <c:pt idx="31">
                  <c:v>10.93</c:v>
                </c:pt>
                <c:pt idx="32">
                  <c:v>10.88</c:v>
                </c:pt>
                <c:pt idx="33">
                  <c:v>13.35</c:v>
                </c:pt>
                <c:pt idx="34">
                  <c:v>3.16</c:v>
                </c:pt>
                <c:pt idx="35">
                  <c:v>4.16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36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  <c:pt idx="29">
                  <c:v>W30</c:v>
                </c:pt>
                <c:pt idx="30">
                  <c:v>W31</c:v>
                </c:pt>
                <c:pt idx="31">
                  <c:v>W32</c:v>
                </c:pt>
                <c:pt idx="32">
                  <c:v>W33</c:v>
                </c:pt>
                <c:pt idx="33">
                  <c:v>W34</c:v>
                </c:pt>
                <c:pt idx="34">
                  <c:v>W35</c:v>
                </c:pt>
                <c:pt idx="35">
                  <c:v>W36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36"/>
                <c:pt idx="0">
                  <c:v>13.66</c:v>
                </c:pt>
                <c:pt idx="1">
                  <c:v>40.4</c:v>
                </c:pt>
                <c:pt idx="2">
                  <c:v>17.31</c:v>
                </c:pt>
                <c:pt idx="3">
                  <c:v>16.39</c:v>
                </c:pt>
                <c:pt idx="4">
                  <c:v>8.47</c:v>
                </c:pt>
                <c:pt idx="5">
                  <c:v>5.19</c:v>
                </c:pt>
                <c:pt idx="6">
                  <c:v>5.3</c:v>
                </c:pt>
                <c:pt idx="7">
                  <c:v>7.02</c:v>
                </c:pt>
                <c:pt idx="8">
                  <c:v>3.17</c:v>
                </c:pt>
                <c:pt idx="9">
                  <c:v>4.41</c:v>
                </c:pt>
                <c:pt idx="10">
                  <c:v>3.4</c:v>
                </c:pt>
                <c:pt idx="11">
                  <c:v>2.09</c:v>
                </c:pt>
                <c:pt idx="12">
                  <c:v>11.68</c:v>
                </c:pt>
                <c:pt idx="13">
                  <c:v>4.79</c:v>
                </c:pt>
                <c:pt idx="14">
                  <c:v>15.54</c:v>
                </c:pt>
                <c:pt idx="15">
                  <c:v>7.99</c:v>
                </c:pt>
                <c:pt idx="16">
                  <c:v>10.27</c:v>
                </c:pt>
                <c:pt idx="17">
                  <c:v>5.12</c:v>
                </c:pt>
                <c:pt idx="18">
                  <c:v>10.89</c:v>
                </c:pt>
                <c:pt idx="19">
                  <c:v>10.48</c:v>
                </c:pt>
                <c:pt idx="20">
                  <c:v>9.6</c:v>
                </c:pt>
                <c:pt idx="21">
                  <c:v>5.68</c:v>
                </c:pt>
                <c:pt idx="22">
                  <c:v>8.62</c:v>
                </c:pt>
                <c:pt idx="23">
                  <c:v>5.98</c:v>
                </c:pt>
                <c:pt idx="24">
                  <c:v>15.57</c:v>
                </c:pt>
                <c:pt idx="25">
                  <c:v>9.92</c:v>
                </c:pt>
                <c:pt idx="26">
                  <c:v>16.01</c:v>
                </c:pt>
                <c:pt idx="27">
                  <c:v>6.63</c:v>
                </c:pt>
                <c:pt idx="28">
                  <c:v>7.62</c:v>
                </c:pt>
                <c:pt idx="29">
                  <c:v>14.7</c:v>
                </c:pt>
                <c:pt idx="30">
                  <c:v>17.79</c:v>
                </c:pt>
                <c:pt idx="31">
                  <c:v>10.53</c:v>
                </c:pt>
                <c:pt idx="32">
                  <c:v>11.08</c:v>
                </c:pt>
                <c:pt idx="33">
                  <c:v>10.61</c:v>
                </c:pt>
                <c:pt idx="34">
                  <c:v>11.28</c:v>
                </c:pt>
                <c:pt idx="35">
                  <c:v>7.25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tags" Target="../tags/tag1.xml"/><Relationship Id="rId4" Type="http://schemas.openxmlformats.org/officeDocument/2006/relationships/chart" Target="../charts/chart6.xml"/><Relationship Id="rId3" Type="http://schemas.openxmlformats.org/officeDocument/2006/relationships/chart" Target="../charts/chart5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12.png"/><Relationship Id="rId24" Type="http://schemas.openxmlformats.org/officeDocument/2006/relationships/tags" Target="../tags/tag9.xml"/><Relationship Id="rId23" Type="http://schemas.openxmlformats.org/officeDocument/2006/relationships/image" Target="../media/image11.png"/><Relationship Id="rId22" Type="http://schemas.openxmlformats.org/officeDocument/2006/relationships/tags" Target="../tags/tag8.xml"/><Relationship Id="rId21" Type="http://schemas.openxmlformats.org/officeDocument/2006/relationships/image" Target="../media/image10.png"/><Relationship Id="rId20" Type="http://schemas.openxmlformats.org/officeDocument/2006/relationships/tags" Target="../tags/tag7.xml"/><Relationship Id="rId2" Type="http://schemas.openxmlformats.org/officeDocument/2006/relationships/chart" Target="../charts/chart4.xml"/><Relationship Id="rId19" Type="http://schemas.openxmlformats.org/officeDocument/2006/relationships/image" Target="../media/image9.svg"/><Relationship Id="rId18" Type="http://schemas.openxmlformats.org/officeDocument/2006/relationships/tags" Target="../tags/tag6.xml"/><Relationship Id="rId17" Type="http://schemas.openxmlformats.org/officeDocument/2006/relationships/image" Target="../media/image8.svg"/><Relationship Id="rId16" Type="http://schemas.openxmlformats.org/officeDocument/2006/relationships/tags" Target="../tags/tag5.xml"/><Relationship Id="rId15" Type="http://schemas.openxmlformats.org/officeDocument/2006/relationships/image" Target="../media/image7.svg"/><Relationship Id="rId14" Type="http://schemas.openxmlformats.org/officeDocument/2006/relationships/image" Target="../media/image6.png"/><Relationship Id="rId13" Type="http://schemas.openxmlformats.org/officeDocument/2006/relationships/tags" Target="../tags/tag4.xml"/><Relationship Id="rId12" Type="http://schemas.openxmlformats.org/officeDocument/2006/relationships/image" Target="../media/image5.svg"/><Relationship Id="rId11" Type="http://schemas.openxmlformats.org/officeDocument/2006/relationships/tags" Target="../tags/tag3.xml"/><Relationship Id="rId10" Type="http://schemas.openxmlformats.org/officeDocument/2006/relationships/image" Target="../media/image4.svg"/><Relationship Id="rId1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chart" Target="../charts/chart14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chart" Target="../charts/chart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16.xml"/><Relationship Id="rId1" Type="http://schemas.openxmlformats.org/officeDocument/2006/relationships/chart" Target="../charts/char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2" Type="http://schemas.openxmlformats.org/officeDocument/2006/relationships/notesSlide" Target="../notesSlides/notesSlide8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37.xml"/><Relationship Id="rId3" Type="http://schemas.openxmlformats.org/officeDocument/2006/relationships/tags" Target="../tags/tag10.xml"/><Relationship Id="rId29" Type="http://schemas.openxmlformats.org/officeDocument/2006/relationships/tags" Target="../tags/tag36.xml"/><Relationship Id="rId28" Type="http://schemas.openxmlformats.org/officeDocument/2006/relationships/tags" Target="../tags/tag35.xml"/><Relationship Id="rId27" Type="http://schemas.openxmlformats.org/officeDocument/2006/relationships/tags" Target="../tags/tag34.xml"/><Relationship Id="rId26" Type="http://schemas.openxmlformats.org/officeDocument/2006/relationships/tags" Target="../tags/tag33.xml"/><Relationship Id="rId25" Type="http://schemas.openxmlformats.org/officeDocument/2006/relationships/tags" Target="../tags/tag32.xml"/><Relationship Id="rId24" Type="http://schemas.openxmlformats.org/officeDocument/2006/relationships/tags" Target="../tags/tag31.xml"/><Relationship Id="rId23" Type="http://schemas.openxmlformats.org/officeDocument/2006/relationships/tags" Target="../tags/tag30.xml"/><Relationship Id="rId22" Type="http://schemas.openxmlformats.org/officeDocument/2006/relationships/tags" Target="../tags/tag29.xml"/><Relationship Id="rId21" Type="http://schemas.openxmlformats.org/officeDocument/2006/relationships/tags" Target="../tags/tag28.xml"/><Relationship Id="rId20" Type="http://schemas.openxmlformats.org/officeDocument/2006/relationships/tags" Target="../tags/tag27.xml"/><Relationship Id="rId2" Type="http://schemas.openxmlformats.org/officeDocument/2006/relationships/chart" Target="../charts/chart19.xml"/><Relationship Id="rId19" Type="http://schemas.openxmlformats.org/officeDocument/2006/relationships/tags" Target="../tags/tag26.xml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chart" Target="../charts/chart1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chart" Target="../charts/chart2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9" Type="http://schemas.openxmlformats.org/officeDocument/2006/relationships/slideLayout" Target="../slideLayouts/slideLayout1.xml"/><Relationship Id="rId48" Type="http://schemas.openxmlformats.org/officeDocument/2006/relationships/image" Target="../media/image14.png"/><Relationship Id="rId47" Type="http://schemas.openxmlformats.org/officeDocument/2006/relationships/image" Target="../media/image13.png"/><Relationship Id="rId46" Type="http://schemas.openxmlformats.org/officeDocument/2006/relationships/tags" Target="../tags/tag99.xml"/><Relationship Id="rId45" Type="http://schemas.openxmlformats.org/officeDocument/2006/relationships/tags" Target="../tags/tag98.xml"/><Relationship Id="rId44" Type="http://schemas.openxmlformats.org/officeDocument/2006/relationships/tags" Target="../tags/tag97.xml"/><Relationship Id="rId43" Type="http://schemas.openxmlformats.org/officeDocument/2006/relationships/tags" Target="../tags/tag96.xml"/><Relationship Id="rId42" Type="http://schemas.openxmlformats.org/officeDocument/2006/relationships/tags" Target="../tags/tag95.xml"/><Relationship Id="rId41" Type="http://schemas.openxmlformats.org/officeDocument/2006/relationships/tags" Target="../tags/tag94.xml"/><Relationship Id="rId40" Type="http://schemas.openxmlformats.org/officeDocument/2006/relationships/tags" Target="../tags/tag93.xml"/><Relationship Id="rId4" Type="http://schemas.openxmlformats.org/officeDocument/2006/relationships/tags" Target="../tags/tag57.xml"/><Relationship Id="rId39" Type="http://schemas.openxmlformats.org/officeDocument/2006/relationships/tags" Target="../tags/tag92.xml"/><Relationship Id="rId38" Type="http://schemas.openxmlformats.org/officeDocument/2006/relationships/tags" Target="../tags/tag91.xml"/><Relationship Id="rId37" Type="http://schemas.openxmlformats.org/officeDocument/2006/relationships/tags" Target="../tags/tag90.xml"/><Relationship Id="rId36" Type="http://schemas.openxmlformats.org/officeDocument/2006/relationships/tags" Target="../tags/tag89.xml"/><Relationship Id="rId35" Type="http://schemas.openxmlformats.org/officeDocument/2006/relationships/tags" Target="../tags/tag88.xml"/><Relationship Id="rId34" Type="http://schemas.openxmlformats.org/officeDocument/2006/relationships/tags" Target="../tags/tag87.xml"/><Relationship Id="rId33" Type="http://schemas.openxmlformats.org/officeDocument/2006/relationships/tags" Target="../tags/tag86.xml"/><Relationship Id="rId32" Type="http://schemas.openxmlformats.org/officeDocument/2006/relationships/tags" Target="../tags/tag85.xml"/><Relationship Id="rId31" Type="http://schemas.openxmlformats.org/officeDocument/2006/relationships/tags" Target="../tags/tag84.xml"/><Relationship Id="rId30" Type="http://schemas.openxmlformats.org/officeDocument/2006/relationships/tags" Target="../tags/tag83.xml"/><Relationship Id="rId3" Type="http://schemas.openxmlformats.org/officeDocument/2006/relationships/tags" Target="../tags/tag56.xml"/><Relationship Id="rId29" Type="http://schemas.openxmlformats.org/officeDocument/2006/relationships/tags" Target="../tags/tag82.xml"/><Relationship Id="rId28" Type="http://schemas.openxmlformats.org/officeDocument/2006/relationships/tags" Target="../tags/tag81.xml"/><Relationship Id="rId27" Type="http://schemas.openxmlformats.org/officeDocument/2006/relationships/tags" Target="../tags/tag80.xml"/><Relationship Id="rId26" Type="http://schemas.openxmlformats.org/officeDocument/2006/relationships/tags" Target="../tags/tag79.xml"/><Relationship Id="rId25" Type="http://schemas.openxmlformats.org/officeDocument/2006/relationships/tags" Target="../tags/tag78.xml"/><Relationship Id="rId24" Type="http://schemas.openxmlformats.org/officeDocument/2006/relationships/tags" Target="../tags/tag77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5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生成日期：2026-09-30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65.9%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734M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1514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-379M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65.9%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734M / 剩余缺口 379M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60.5%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591M / 剩余缺口 385M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APE 达 733.6M，达成率 65.9%，全年目标 1113M 缺口约 379M。3 月预约件数 216 件，环比 +96.4%，前端动能延续，Q2 转化批核可期。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733.6M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1514 件  |  占比 81.4%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91.3M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191 件  |  占比 10.1%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15.4M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件  |  占比 1.7%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61.2M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 件  |  占比 6.8%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未批核（91.3M，191 件）与待签（15.4M，30 件）合计 106.7M 在管道中，占批核 APE 的 15%。若能快速推进至生效，可直接拉升达成率逾 10 个百分点。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经代业务批核 620.8M 占全渠道 84.6%，是唯一业绩主力；未批核 78.6M 是最大转化机会。其余渠道：代理人业务（批核 87.4M）、KA业务（批核 25.4M），体量较小，需明确各渠道扩量优先级。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4751350" y="3977640"/>
            <a:ext cx="3110788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8" name="Text 84"/>
          <p:cNvSpPr/>
          <p:nvPr/>
        </p:nvSpPr>
        <p:spPr>
          <a:xfrm>
            <a:off x="4751350" y="3995928"/>
            <a:ext cx="31107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 Q1 呈现存量驱动特征，2月批核峰值 143.7M 为全年迄今最高。3 月预约/签单同步走强，前端动能复苏。9月初已批核 19.2M，节后启动正常，后续 9 个月需月均 83.8M 以达成年度目标。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8" name="Text 90"/>
          <p:cNvSpPr/>
          <p:nvPr/>
        </p:nvSpPr>
        <p:spPr>
          <a:xfrm>
            <a:off x="853465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26-Apr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853465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67.4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853465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853465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853465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162件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853465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91.2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853465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192件</a:t>
            </a:r>
            <a:endParaRPr lang="en-US" sz="900" dirty="0"/>
          </a:p>
        </p:txBody>
      </p:sp>
      <p:sp>
        <p:nvSpPr>
          <p:cNvPr id="145" name="Text 90"/>
          <p:cNvSpPr/>
          <p:nvPr/>
        </p:nvSpPr>
        <p:spPr>
          <a:xfrm>
            <a:off x="910165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26-May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6" name="Text 96"/>
          <p:cNvSpPr/>
          <p:nvPr/>
        </p:nvSpPr>
        <p:spPr>
          <a:xfrm>
            <a:off x="910165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80.9</a:t>
            </a:r>
            <a:endParaRPr lang="en-US" sz="900" dirty="0"/>
          </a:p>
        </p:txBody>
      </p:sp>
      <p:sp>
        <p:nvSpPr>
          <p:cNvPr id="147" name="Text 102"/>
          <p:cNvSpPr/>
          <p:nvPr/>
        </p:nvSpPr>
        <p:spPr>
          <a:xfrm>
            <a:off x="910165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223件</a:t>
            </a:r>
            <a:endParaRPr lang="en-US" sz="900" dirty="0"/>
          </a:p>
        </p:txBody>
      </p:sp>
      <p:sp>
        <p:nvSpPr>
          <p:cNvPr id="148" name="Text 109"/>
          <p:cNvSpPr/>
          <p:nvPr/>
        </p:nvSpPr>
        <p:spPr>
          <a:xfrm>
            <a:off x="910165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85.2</a:t>
            </a:r>
            <a:endParaRPr lang="en-US" sz="900" dirty="0"/>
          </a:p>
        </p:txBody>
      </p:sp>
      <p:sp>
        <p:nvSpPr>
          <p:cNvPr id="149" name="Text 115"/>
          <p:cNvSpPr/>
          <p:nvPr/>
        </p:nvSpPr>
        <p:spPr>
          <a:xfrm>
            <a:off x="910165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225件</a:t>
            </a:r>
            <a:endParaRPr lang="en-US" sz="900" dirty="0"/>
          </a:p>
        </p:txBody>
      </p:sp>
      <p:sp>
        <p:nvSpPr>
          <p:cNvPr id="150" name="Text 122"/>
          <p:cNvSpPr/>
          <p:nvPr/>
        </p:nvSpPr>
        <p:spPr>
          <a:xfrm>
            <a:off x="910165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</a:t>
            </a:r>
            <a:endParaRPr lang="en-US" sz="900" dirty="0"/>
          </a:p>
        </p:txBody>
      </p:sp>
      <p:sp>
        <p:nvSpPr>
          <p:cNvPr id="151" name="Text 128"/>
          <p:cNvSpPr/>
          <p:nvPr/>
        </p:nvSpPr>
        <p:spPr>
          <a:xfrm>
            <a:off x="910165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900" dirty="0"/>
          </a:p>
        </p:txBody>
      </p:sp>
      <p:sp>
        <p:nvSpPr>
          <p:cNvPr id="152" name="Text 90"/>
          <p:cNvSpPr/>
          <p:nvPr/>
        </p:nvSpPr>
        <p:spPr>
          <a:xfrm>
            <a:off x="966865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26-Jun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53" name="Text 96"/>
          <p:cNvSpPr/>
          <p:nvPr/>
        </p:nvSpPr>
        <p:spPr>
          <a:xfrm>
            <a:off x="966865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84.3</a:t>
            </a:r>
            <a:endParaRPr lang="en-US" sz="900" dirty="0"/>
          </a:p>
        </p:txBody>
      </p:sp>
      <p:sp>
        <p:nvSpPr>
          <p:cNvPr id="154" name="Text 102"/>
          <p:cNvSpPr/>
          <p:nvPr/>
        </p:nvSpPr>
        <p:spPr>
          <a:xfrm>
            <a:off x="966865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231件</a:t>
            </a:r>
            <a:endParaRPr lang="en-US" sz="900" dirty="0"/>
          </a:p>
        </p:txBody>
      </p:sp>
      <p:sp>
        <p:nvSpPr>
          <p:cNvPr id="155" name="Text 109"/>
          <p:cNvSpPr/>
          <p:nvPr/>
        </p:nvSpPr>
        <p:spPr>
          <a:xfrm>
            <a:off x="966865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85.7</a:t>
            </a:r>
            <a:endParaRPr lang="en-US" sz="900" dirty="0"/>
          </a:p>
        </p:txBody>
      </p:sp>
      <p:sp>
        <p:nvSpPr>
          <p:cNvPr id="156" name="Text 115"/>
          <p:cNvSpPr/>
          <p:nvPr/>
        </p:nvSpPr>
        <p:spPr>
          <a:xfrm>
            <a:off x="966865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</a:t>
            </a:r>
            <a:endParaRPr lang="en-US" sz="900" dirty="0"/>
          </a:p>
        </p:txBody>
      </p:sp>
      <p:sp>
        <p:nvSpPr>
          <p:cNvPr id="157" name="Text 122"/>
          <p:cNvSpPr/>
          <p:nvPr/>
        </p:nvSpPr>
        <p:spPr>
          <a:xfrm>
            <a:off x="966865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61.9</a:t>
            </a:r>
            <a:endParaRPr lang="en-US" sz="900" dirty="0"/>
          </a:p>
        </p:txBody>
      </p:sp>
      <p:sp>
        <p:nvSpPr>
          <p:cNvPr id="158" name="Text 128"/>
          <p:cNvSpPr/>
          <p:nvPr/>
        </p:nvSpPr>
        <p:spPr>
          <a:xfrm>
            <a:off x="966865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171件</a:t>
            </a:r>
            <a:endParaRPr lang="en-US" sz="900" dirty="0"/>
          </a:p>
        </p:txBody>
      </p:sp>
      <p:sp>
        <p:nvSpPr>
          <p:cNvPr id="159" name="Text 90"/>
          <p:cNvSpPr/>
          <p:nvPr/>
        </p:nvSpPr>
        <p:spPr>
          <a:xfrm>
            <a:off x="1023565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26-Jul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0" name="Text 96"/>
          <p:cNvSpPr/>
          <p:nvPr/>
        </p:nvSpPr>
        <p:spPr>
          <a:xfrm>
            <a:off x="1023565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107.5</a:t>
            </a:r>
            <a:endParaRPr lang="en-US" sz="900" dirty="0"/>
          </a:p>
        </p:txBody>
      </p:sp>
      <p:sp>
        <p:nvSpPr>
          <p:cNvPr id="161" name="Text 102"/>
          <p:cNvSpPr/>
          <p:nvPr/>
        </p:nvSpPr>
        <p:spPr>
          <a:xfrm>
            <a:off x="1023565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256件</a:t>
            </a:r>
            <a:endParaRPr lang="en-US" sz="900" dirty="0"/>
          </a:p>
        </p:txBody>
      </p:sp>
      <p:sp>
        <p:nvSpPr>
          <p:cNvPr id="162" name="Text 109"/>
          <p:cNvSpPr/>
          <p:nvPr/>
        </p:nvSpPr>
        <p:spPr>
          <a:xfrm>
            <a:off x="1023565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102.0</a:t>
            </a:r>
            <a:endParaRPr lang="en-US" sz="900" dirty="0"/>
          </a:p>
        </p:txBody>
      </p:sp>
      <p:sp>
        <p:nvSpPr>
          <p:cNvPr id="163" name="Text 115"/>
          <p:cNvSpPr/>
          <p:nvPr/>
        </p:nvSpPr>
        <p:spPr>
          <a:xfrm>
            <a:off x="1023565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250件</a:t>
            </a:r>
            <a:endParaRPr lang="en-US" sz="900" dirty="0"/>
          </a:p>
        </p:txBody>
      </p:sp>
      <p:sp>
        <p:nvSpPr>
          <p:cNvPr id="164" name="Text 122"/>
          <p:cNvSpPr/>
          <p:nvPr/>
        </p:nvSpPr>
        <p:spPr>
          <a:xfrm>
            <a:off x="1023565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68.1</a:t>
            </a:r>
            <a:endParaRPr lang="en-US" sz="900" dirty="0"/>
          </a:p>
        </p:txBody>
      </p:sp>
      <p:sp>
        <p:nvSpPr>
          <p:cNvPr id="165" name="Text 128"/>
          <p:cNvSpPr/>
          <p:nvPr/>
        </p:nvSpPr>
        <p:spPr>
          <a:xfrm>
            <a:off x="1023565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208件</a:t>
            </a:r>
            <a:endParaRPr lang="en-US" sz="900" dirty="0"/>
          </a:p>
        </p:txBody>
      </p:sp>
      <p:sp>
        <p:nvSpPr>
          <p:cNvPr id="166" name="Text 90"/>
          <p:cNvSpPr/>
          <p:nvPr/>
        </p:nvSpPr>
        <p:spPr>
          <a:xfrm>
            <a:off x="1080265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26-Aug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7" name="Text 96"/>
          <p:cNvSpPr/>
          <p:nvPr/>
        </p:nvSpPr>
        <p:spPr>
          <a:xfrm>
            <a:off x="1080265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64.9</a:t>
            </a:r>
            <a:endParaRPr lang="en-US" sz="900" dirty="0"/>
          </a:p>
        </p:txBody>
      </p:sp>
      <p:sp>
        <p:nvSpPr>
          <p:cNvPr id="168" name="Text 102"/>
          <p:cNvSpPr/>
          <p:nvPr/>
        </p:nvSpPr>
        <p:spPr>
          <a:xfrm>
            <a:off x="1080265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185件</a:t>
            </a:r>
            <a:endParaRPr lang="en-US" sz="900" dirty="0"/>
          </a:p>
        </p:txBody>
      </p:sp>
      <p:sp>
        <p:nvSpPr>
          <p:cNvPr id="169" name="Text 109"/>
          <p:cNvSpPr/>
          <p:nvPr/>
        </p:nvSpPr>
        <p:spPr>
          <a:xfrm>
            <a:off x="1080265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71.8</a:t>
            </a:r>
            <a:endParaRPr lang="en-US" sz="900" dirty="0"/>
          </a:p>
        </p:txBody>
      </p:sp>
      <p:sp>
        <p:nvSpPr>
          <p:cNvPr id="170" name="Text 115"/>
          <p:cNvSpPr/>
          <p:nvPr/>
        </p:nvSpPr>
        <p:spPr>
          <a:xfrm>
            <a:off x="1080265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198件</a:t>
            </a:r>
            <a:endParaRPr lang="en-US" sz="900" dirty="0"/>
          </a:p>
        </p:txBody>
      </p:sp>
      <p:sp>
        <p:nvSpPr>
          <p:cNvPr id="171" name="Text 122"/>
          <p:cNvSpPr/>
          <p:nvPr/>
        </p:nvSpPr>
        <p:spPr>
          <a:xfrm>
            <a:off x="1080265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74.1</a:t>
            </a:r>
            <a:endParaRPr lang="en-US" sz="900" dirty="0"/>
          </a:p>
        </p:txBody>
      </p:sp>
      <p:sp>
        <p:nvSpPr>
          <p:cNvPr id="172" name="Text 128"/>
          <p:cNvSpPr/>
          <p:nvPr/>
        </p:nvSpPr>
        <p:spPr>
          <a:xfrm>
            <a:off x="1080265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206件</a:t>
            </a:r>
            <a:endParaRPr lang="en-US" sz="900" dirty="0"/>
          </a:p>
        </p:txBody>
      </p:sp>
      <p:sp>
        <p:nvSpPr>
          <p:cNvPr id="173" name="Text 90"/>
          <p:cNvSpPr/>
          <p:nvPr/>
        </p:nvSpPr>
        <p:spPr>
          <a:xfrm>
            <a:off x="1136965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26-Sep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4" name="Text 96"/>
          <p:cNvSpPr/>
          <p:nvPr/>
        </p:nvSpPr>
        <p:spPr>
          <a:xfrm>
            <a:off x="1136965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26.8</a:t>
            </a:r>
            <a:endParaRPr lang="en-US" sz="900" dirty="0"/>
          </a:p>
        </p:txBody>
      </p:sp>
      <p:sp>
        <p:nvSpPr>
          <p:cNvPr id="175" name="Text 102"/>
          <p:cNvSpPr/>
          <p:nvPr/>
        </p:nvSpPr>
        <p:spPr>
          <a:xfrm>
            <a:off x="1136965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56件</a:t>
            </a:r>
            <a:endParaRPr lang="en-US" sz="900" dirty="0"/>
          </a:p>
        </p:txBody>
      </p:sp>
      <p:sp>
        <p:nvSpPr>
          <p:cNvPr id="176" name="Text 109"/>
          <p:cNvSpPr/>
          <p:nvPr/>
        </p:nvSpPr>
        <p:spPr>
          <a:xfrm>
            <a:off x="1136965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15.7</a:t>
            </a:r>
            <a:endParaRPr lang="en-US" sz="900" dirty="0"/>
          </a:p>
        </p:txBody>
      </p:sp>
      <p:sp>
        <p:nvSpPr>
          <p:cNvPr id="177" name="Text 115"/>
          <p:cNvSpPr/>
          <p:nvPr/>
        </p:nvSpPr>
        <p:spPr>
          <a:xfrm>
            <a:off x="1136965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36件</a:t>
            </a:r>
            <a:endParaRPr lang="en-US" sz="900" dirty="0"/>
          </a:p>
        </p:txBody>
      </p:sp>
      <p:sp>
        <p:nvSpPr>
          <p:cNvPr id="178" name="Text 122"/>
          <p:cNvSpPr/>
          <p:nvPr/>
        </p:nvSpPr>
        <p:spPr>
          <a:xfrm>
            <a:off x="1136965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19.2</a:t>
            </a:r>
            <a:endParaRPr lang="en-US" sz="900" dirty="0"/>
          </a:p>
        </p:txBody>
      </p:sp>
      <p:sp>
        <p:nvSpPr>
          <p:cNvPr id="179" name="Text 128"/>
          <p:cNvSpPr/>
          <p:nvPr/>
        </p:nvSpPr>
        <p:spPr>
          <a:xfrm>
            <a:off x="1136965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2026 年 3 月预约件数从 2 月 110 件增至 216 件（环比 +96.4%），前端明显回暖。但 3 月件均 APE 3.8 万低于 2 月 5.1 万，显示新增单偏中小额，需关注单均下滑趋势。</a:t>
            </a: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10466214" y="1137285"/>
            <a:ext cx="1600056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10466214" y="1197610"/>
            <a:ext cx="1310676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预测区间（10–12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  <p:txBody>
          <a:bodyPr/>
          <a:p/>
        </p:txBody>
      </p:sp>
      <p:sp>
        <p:nvSpPr>
          <p:cNvPr id="70" name="Text 66"/>
          <p:cNvSpPr/>
          <p:nvPr/>
        </p:nvSpPr>
        <p:spPr>
          <a:xfrm>
            <a:off x="8313420" y="728117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94.9M/月（剩余 379M ÷ 4mo）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  <p:txBody>
          <a:bodyPr/>
          <a:p/>
        </p:txBody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733.6M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1–9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65.9% 达成率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379M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34.1% 目标剩余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94.9M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p/>
        </p:txBody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截至 W36，已批核 733.6M（达成率 65.9%），完成全年目标 1113M 还需约 379M，剩余 9 个月月均需 42.2M。若 4–12 月维持 80–100M 节奏，全年可达标。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4354931" y="988085"/>
            <a:ext cx="1334033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-58.8%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39160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4354931" y="1853547"/>
            <a:ext cx="1334033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+4.6%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04" name="Label_QD"/>
          <p:cNvSpPr/>
          <p:nvPr/>
        </p:nvSpPr>
        <p:spPr>
          <a:xfrm>
            <a:off x="190500" y="2213763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4334789" y="2841030"/>
            <a:ext cx="1329410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-78.1%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08" name="Ann_QD"/>
          <p:cNvSpPr/>
          <p:nvPr/>
        </p:nvSpPr>
        <p:spPr>
          <a:xfrm>
            <a:off x="4334789" y="2962318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-29.6%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8205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9880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913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499281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4308373" y="4661865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-74.1%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17" name="Ann_PH"/>
          <p:cNvSpPr/>
          <p:nvPr/>
        </p:nvSpPr>
        <p:spPr>
          <a:xfrm>
            <a:off x="4308373" y="5585679"/>
            <a:ext cx="1266291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+23.1%</a:t>
            </a:r>
            <a:endParaRPr lang="zh-CN" sz="1000" dirty="0">
              <a:solidFill>
                <a:srgbClr val="1A7A3F"/>
              </a:solidFill>
            </a:endParaRP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31745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4655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8790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4354931" y="1107374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-39.6%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520440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21405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4334789" y="3096306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+19.0%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1" name="Ann_PH"/>
          <p:cNvSpPr/>
          <p:nvPr/>
        </p:nvSpPr>
        <p:spPr>
          <a:xfrm>
            <a:off x="4308373" y="4780424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+8.8%</a:t>
            </a:r>
            <a:endParaRPr lang="zh-CN" sz="1000" dirty="0">
              <a:solidFill>
                <a:srgbClr val="1A7A3F"/>
              </a:solidFill>
            </a:endParaRP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086100" y="4935855"/>
            <a:ext cx="229235" cy="265430"/>
          </a:xfrm>
          <a:prstGeom prst="rect">
            <a:avLst/>
          </a:prstGeom>
        </p:spPr>
      </p:pic>
      <p:sp>
        <p:nvSpPr>
          <p:cNvPr id="122" name="Ann_YY"/>
          <p:cNvSpPr/>
          <p:nvPr/>
        </p:nvSpPr>
        <p:spPr>
          <a:xfrm>
            <a:off x="4354931" y="1229884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+27.4%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3" name="Ann_YY"/>
          <p:cNvSpPr/>
          <p:nvPr/>
        </p:nvSpPr>
        <p:spPr>
          <a:xfrm>
            <a:off x="4354931" y="1352394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+4.2%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4" name="Ann_YY"/>
          <p:cNvSpPr/>
          <p:nvPr/>
        </p:nvSpPr>
        <p:spPr>
          <a:xfrm>
            <a:off x="4354931" y="1474904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+20.1%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5" name="Ann_YY"/>
          <p:cNvSpPr/>
          <p:nvPr/>
        </p:nvSpPr>
        <p:spPr>
          <a:xfrm>
            <a:off x="4354931" y="1597414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-17.3%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26" name="Ann_YY"/>
          <p:cNvSpPr/>
          <p:nvPr/>
        </p:nvSpPr>
        <p:spPr>
          <a:xfrm>
            <a:off x="4354931" y="1719924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+44.5%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7" name="Ann_QD"/>
          <p:cNvSpPr/>
          <p:nvPr/>
        </p:nvSpPr>
        <p:spPr>
          <a:xfrm>
            <a:off x="4334789" y="3230294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+0.6%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8" name="Ann_QD"/>
          <p:cNvSpPr/>
          <p:nvPr/>
        </p:nvSpPr>
        <p:spPr>
          <a:xfrm>
            <a:off x="4334789" y="3364282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+37.2%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9" name="Ann_QD"/>
          <p:cNvSpPr/>
          <p:nvPr/>
        </p:nvSpPr>
        <p:spPr>
          <a:xfrm>
            <a:off x="4334789" y="3498270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-24.4%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30" name="Ann_QD"/>
          <p:cNvSpPr/>
          <p:nvPr/>
        </p:nvSpPr>
        <p:spPr>
          <a:xfrm>
            <a:off x="4334789" y="3632258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+34.4%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31" name="Ann_QD"/>
          <p:cNvSpPr/>
          <p:nvPr/>
        </p:nvSpPr>
        <p:spPr>
          <a:xfrm>
            <a:off x="4334789" y="3753866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+27.6%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32" name="Ann_PH"/>
          <p:cNvSpPr/>
          <p:nvPr/>
        </p:nvSpPr>
        <p:spPr>
          <a:xfrm>
            <a:off x="4308373" y="4904632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+10.1%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33" name="Ann_PH"/>
          <p:cNvSpPr/>
          <p:nvPr/>
        </p:nvSpPr>
        <p:spPr>
          <a:xfrm>
            <a:off x="4308373" y="5028840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-15.0%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34" name="Ann_PH"/>
          <p:cNvSpPr/>
          <p:nvPr/>
        </p:nvSpPr>
        <p:spPr>
          <a:xfrm>
            <a:off x="4308373" y="5153048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-20.1%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35" name="Ann_PH"/>
          <p:cNvSpPr/>
          <p:nvPr/>
        </p:nvSpPr>
        <p:spPr>
          <a:xfrm>
            <a:off x="4308373" y="5277256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+6.3%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36" name="Ann_PH"/>
          <p:cNvSpPr/>
          <p:nvPr/>
        </p:nvSpPr>
        <p:spPr>
          <a:xfrm>
            <a:off x="4308373" y="5401464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-40.3%</a:t>
            </a:r>
            <a:endParaRPr lang="zh-CN" sz="1000" dirty="0">
              <a:solidFill>
                <a:srgbClr val="C0392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590.9M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1243件  |  达成率60.5%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60.5%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976M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缺口679M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68.7M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未批核128件|  件均53.6万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待签23件  |  件均60.9万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 TOP10 产品累计签单 171.9M（208 件），集中度高。头部产品「万年青·卓金保险计划II」贡献 46.7M/72 件，件均 64.8 万。中小额产品虽件数占比大，但单均偏低，需关注大单产品的持续性供给。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46.68M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64.8万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35.49M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136.5万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16.63M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103.9万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15.05M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47.0万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14.80M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123.3万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11.70M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146.2万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9.75M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7.82M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7.80M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43.3万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万年青·星河传承保险计划II（2年）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6.24M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312.0万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208件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171.9M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2%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4%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万年青·星河传承保险计划II（5年）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41.2万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325.0万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Jun-26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Jul-26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Aug-26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27.30M</a:t>
            </a:r>
            <a:endParaRPr lang="en-US" sz="850" dirty="0"/>
          </a:p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27.30M</a:t>
            </a:r>
            <a:endParaRPr lang="en-US" sz="850" dirty="0"/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20.30M</a:t>
            </a:r>
            <a:endParaRPr lang="en-US" sz="850" dirty="0"/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13.63M</a:t>
            </a:r>
            <a:endParaRPr lang="en-US" sz="850" dirty="0"/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17.48M</a:t>
            </a:r>
            <a:endParaRPr lang="en-US" sz="850" dirty="0"/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2.16M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14.80M</a:t>
            </a:r>
            <a:endParaRPr lang="en-US" sz="850" dirty="0"/>
          </a:p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14.80M</a:t>
            </a:r>
            <a:endParaRPr lang="en-US" sz="850" dirty="0"/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20.38M</a:t>
            </a:r>
            <a:endParaRPr lang="en-US" sz="850" dirty="0"/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22.78M</a:t>
            </a:r>
            <a:endParaRPr lang="en-US" sz="850" dirty="0"/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21.01M</a:t>
            </a:r>
            <a:endParaRPr lang="en-US" sz="850" dirty="0"/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2.54M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0.08M</a:t>
            </a:r>
            <a:endParaRPr lang="en-US" sz="850" dirty="0"/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0.16M</a:t>
            </a:r>
            <a:endParaRPr lang="en-US" sz="850" dirty="0"/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r>
              <a:rPr lang="en-US" sz="850" dirty="0"/>
              <a:t>42.10M</a:t>
            </a:r>
            <a:endParaRPr lang="en-US" sz="850" dirty="0"/>
          </a:p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42.10M</a:t>
            </a:r>
            <a:endParaRPr lang="en-US" sz="850" dirty="0"/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40.75M</a:t>
            </a:r>
            <a:endParaRPr lang="en-US" sz="850" dirty="0"/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36.41M</a:t>
            </a:r>
            <a:endParaRPr lang="en-US" sz="850" dirty="0"/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38.64M</a:t>
            </a:r>
            <a:endParaRPr lang="en-US" sz="850" dirty="0"/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4.70M</a:t>
            </a:r>
            <a:endParaRPr lang="en-US" sz="850" dirty="0"/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>
            <a:r>
              <a:rPr lang="en-US" sz="850" dirty="0"/>
              <a:t>6.24M</a:t>
            </a:r>
            <a:endParaRPr lang="en-US" sz="850" dirty="0"/>
          </a:p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6.24M</a:t>
            </a:r>
            <a:endParaRPr lang="en-US" sz="850" dirty="0"/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7.02M</a:t>
            </a:r>
            <a:endParaRPr lang="en-US" sz="850" dirty="0"/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10.22M</a:t>
            </a:r>
            <a:endParaRPr lang="en-US" sz="850" dirty="0"/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30.03M</a:t>
            </a:r>
            <a:endParaRPr lang="en-US" sz="850" dirty="0"/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7.29M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10.22M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Sep-26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2.83M</a:t>
            </a:r>
            <a:endParaRPr lang="en-US" sz="850" dirty="0"/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6.73M</a:t>
            </a:r>
            <a:endParaRPr lang="en-US" sz="850" dirty="0"/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0.05M</a:t>
            </a:r>
            <a:endParaRPr lang="en-US" sz="850" dirty="0"/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9.61M</a:t>
            </a:r>
            <a:endParaRPr lang="en-US" sz="850" dirty="0"/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4.56M</a:t>
            </a:r>
            <a:endParaRPr lang="en-US" sz="850" dirty="0"/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85"/>
          <p:cNvSpPr/>
          <p:nvPr/>
        </p:nvSpPr>
        <p:spPr>
          <a:xfrm>
            <a:off x="7700645" y="1009015"/>
            <a:ext cx="432371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65.9%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734M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379M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1514件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1992215" y="1295574"/>
            <a:ext cx="467428" cy="467428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1883029" y="1778002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/>
          </a:p>
        </p:txBody>
      </p:sp>
      <p:sp>
        <p:nvSpPr>
          <p:cNvPr id="70" name="Shape 67"/>
          <p:cNvSpPr/>
          <p:nvPr/>
        </p:nvSpPr>
        <p:spPr>
          <a:xfrm>
            <a:off x="3127774" y="3406986"/>
            <a:ext cx="628612" cy="628612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3099180" y="405059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2" name="Shape 69"/>
          <p:cNvSpPr/>
          <p:nvPr/>
        </p:nvSpPr>
        <p:spPr>
          <a:xfrm>
            <a:off x="1565976" y="1295574"/>
            <a:ext cx="624963" cy="624963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1535557" y="1935536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4" name="Shape 71"/>
          <p:cNvSpPr/>
          <p:nvPr/>
        </p:nvSpPr>
        <p:spPr>
          <a:xfrm>
            <a:off x="1929514" y="4035472"/>
            <a:ext cx="471215" cy="471215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1822221" y="452168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en-US" sz="650" dirty="0"/>
          </a:p>
        </p:txBody>
      </p:sp>
      <p:sp>
        <p:nvSpPr>
          <p:cNvPr id="76" name="Shape 73"/>
          <p:cNvSpPr/>
          <p:nvPr/>
        </p:nvSpPr>
        <p:spPr>
          <a:xfrm>
            <a:off x="838066" y="4203534"/>
            <a:ext cx="204433" cy="20443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597382" y="442296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650" dirty="0"/>
          </a:p>
        </p:txBody>
      </p:sp>
      <p:sp>
        <p:nvSpPr>
          <p:cNvPr id="78" name="Shape 75"/>
          <p:cNvSpPr/>
          <p:nvPr/>
        </p:nvSpPr>
        <p:spPr>
          <a:xfrm>
            <a:off x="963232" y="5554236"/>
            <a:ext cx="266826" cy="266826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753745" y="5836062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650" dirty="0"/>
          </a:p>
        </p:txBody>
      </p:sp>
      <p:sp>
        <p:nvSpPr>
          <p:cNvPr id="80" name="Shape 77"/>
          <p:cNvSpPr/>
          <p:nvPr/>
        </p:nvSpPr>
        <p:spPr>
          <a:xfrm>
            <a:off x="995947" y="5853120"/>
            <a:ext cx="253517" cy="253517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779805" y="567352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644891" y="6010198"/>
            <a:ext cx="121697" cy="121697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362839" y="583060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109855" y="6300470"/>
            <a:ext cx="3776345" cy="39624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BK业务达成率 124.2% 领跑全渠道，是唯一接近达标的渠道。ICLUB业务规模较大（批核 20.9M）但达成率仅 40.1%，是最大战略风险点。IFA业务达成率仅 0.0%，需重点关注。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65.9%  |  剩余缺口 379M  |  需 4 个月完成 34.1%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BK业务贡献最大批核（248.3M）。已批核 + 在途合计 840.3M，距目标 1113M 仍差 273M。若未批核 91.3M 与待签 15.4M 快速推进，可直接拉升年度达成。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  <p:txBody>
          <a:bodyPr/>
          <a:p/>
        </p:txBody>
      </p:sp>
      <p:sp>
        <p:nvSpPr>
          <p:cNvPr id="146" name="Shape 102"/>
          <p:cNvSpPr/>
          <p:nvPr/>
        </p:nvSpPr>
        <p:spPr>
          <a:xfrm>
            <a:off x="4563110" y="1554480"/>
            <a:ext cx="241200" cy="90818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47" name="Text 103"/>
          <p:cNvSpPr/>
          <p:nvPr/>
        </p:nvSpPr>
        <p:spPr>
          <a:xfrm>
            <a:off x="4480433" y="13316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−248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2462667"/>
            <a:ext cx="241200" cy="64515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1" name="Text 107"/>
          <p:cNvSpPr/>
          <p:nvPr/>
        </p:nvSpPr>
        <p:spPr>
          <a:xfrm>
            <a:off x="4785106" y="2239787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−176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3107819"/>
            <a:ext cx="241200" cy="717018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  <p:txBody>
          <a:bodyPr/>
          <a:p/>
        </p:txBody>
      </p:sp>
      <p:sp>
        <p:nvSpPr>
          <p:cNvPr id="155" name="Shape 114"/>
          <p:cNvSpPr/>
          <p:nvPr/>
        </p:nvSpPr>
        <p:spPr>
          <a:xfrm>
            <a:off x="6605905" y="4237494"/>
            <a:ext cx="244475" cy="333877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6" name="Text 115"/>
          <p:cNvSpPr/>
          <p:nvPr/>
        </p:nvSpPr>
        <p:spPr>
          <a:xfrm>
            <a:off x="6517767" y="4014614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−91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4571371"/>
            <a:ext cx="241300" cy="56359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4348491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−15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4627731"/>
            <a:ext cx="238760" cy="997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63" name="Text 122"/>
          <p:cNvSpPr/>
          <p:nvPr/>
        </p:nvSpPr>
        <p:spPr>
          <a:xfrm>
            <a:off x="7118223" y="4404851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273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2884939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−196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3824838"/>
            <a:ext cx="241200" cy="288307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  <p:txBody>
          <a:bodyPr/>
          <a:p/>
        </p:txBody>
      </p:sp>
      <p:sp>
        <p:nvSpPr>
          <p:cNvPr id="171" name="Text_314"/>
          <p:cNvSpPr/>
          <p:nvPr/>
        </p:nvSpPr>
        <p:spPr>
          <a:xfrm>
            <a:off x="5525135" y="3601958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−79</a:t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4113145"/>
            <a:ext cx="241300" cy="76328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  <p:txBody>
          <a:bodyPr/>
          <a:p/>
        </p:txBody>
      </p:sp>
      <p:sp>
        <p:nvSpPr>
          <p:cNvPr id="173" name="Text_314"/>
          <p:cNvSpPr/>
          <p:nvPr/>
        </p:nvSpPr>
        <p:spPr>
          <a:xfrm>
            <a:off x="5805805" y="3890265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−21</a:t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4220780"/>
            <a:ext cx="241300" cy="167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356985" y="3997900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−5</a:t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4189473"/>
            <a:ext cx="241300" cy="31306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  <p:txBody>
          <a:bodyPr/>
          <a:p/>
        </p:txBody>
      </p:sp>
      <p:sp>
        <p:nvSpPr>
          <p:cNvPr id="183" name="Text_314"/>
          <p:cNvSpPr/>
          <p:nvPr/>
        </p:nvSpPr>
        <p:spPr>
          <a:xfrm>
            <a:off x="6128385" y="3966593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−9</a:t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p/>
        </p:txBody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  业务线月度三线趋势 — 预约 / 签单 / 批核（APE in M，Jan–Sep 2026）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/>
          <a:p/>
        </p:txBody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  <p:txBody>
          <a:bodyPr/>
          <a:p/>
        </p:txBody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永明经代：3 月签单 26.7M 居首，前端动能最强。BK业务：2 月批核峰 93.9M 为存量集中放款。各业务线节奏分化明显，需按渠道特征差异化管理。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375660"/>
            <a:ext cx="746125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4436618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9720" y="443661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461949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286.9M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445490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579880" y="4454906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16456" y="4509770"/>
            <a:ext cx="9825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4454906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3916" y="4509770"/>
            <a:ext cx="448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4454906"/>
            <a:ext cx="31789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198368" y="450062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248.3▌30.8▌7.8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662422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99720" y="56624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8453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191.1M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6807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579880" y="5680710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16456" y="5735574"/>
            <a:ext cx="9213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92%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680710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92692" y="5735574"/>
            <a:ext cx="439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680710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98368" y="57264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176.4▌12.9▌1.8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581021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9720" y="2581021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763901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235.4M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599309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579880" y="2599309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616456" y="2654173"/>
            <a:ext cx="10170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599309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688406" y="2654173"/>
            <a:ext cx="349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599309"/>
            <a:ext cx="95963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98368" y="2645029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196.1▌34.9▌4.5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5058410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9720" y="505841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524129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85.1M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5076698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579880" y="5076698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616456" y="5131562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5076698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595912" y="5131562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5076698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198368" y="512241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78.8▌5.0▌1.3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982724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99720" y="1982724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2165604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22.9M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200101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579880" y="2001012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616456" y="2055876"/>
            <a:ext cx="147583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2001012"/>
            <a:ext cx="4207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98368" y="204673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20.9▌2.0▌0.0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3164078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99720" y="316407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334695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10.0M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318236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579880" y="3182366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616456" y="3237230"/>
            <a:ext cx="99683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3182366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668155" y="3237230"/>
            <a:ext cx="3562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3182366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198368" y="322808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8.6▌1.4▌0.0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合伙转介业务未批核占比最高（49%），金额达 4.3M，催核优先级最高。其余业务线管道分布相对均衡，需按未批核规模排序推进。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733.6M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1514件  87.3%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9"/>
          <p:cNvSpPr/>
          <p:nvPr/>
        </p:nvSpPr>
        <p:spPr>
          <a:xfrm>
            <a:off x="7333488" y="1821942"/>
            <a:ext cx="839785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87.3%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1514件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840.3M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87.3%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91.3M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191件  10.9%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8906256" y="1821942"/>
            <a:ext cx="382768" cy="14630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10.9%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191件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840.3M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10.9%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15.4M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30件   1.8%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4" name="Shape 121"/>
          <p:cNvSpPr/>
          <p:nvPr/>
        </p:nvSpPr>
        <p:spPr>
          <a:xfrm>
            <a:off x="10479024" y="1821942"/>
            <a:ext cx="57607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840.3M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管道总值 840.3M 中，批核占 87.3%（733.6M）。剩余 106.7M（未批 91.3M + 待签 15.4M）若转化可直接推高达成率 10+。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BK业务批核 248.3M 已达目标 200M 的 124.2%，是唯一接近达标的业务线。永明经代目标最大（340M）但实际仅 176.4M，缺口 164M 为最大绝对值，是最大战略风险点。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808222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4" name="Text 71"/>
          <p:cNvSpPr/>
          <p:nvPr/>
        </p:nvSpPr>
        <p:spPr>
          <a:xfrm>
            <a:off x="299720" y="38082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9911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8.9M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8265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7" name="Shape 74"/>
          <p:cNvSpPr/>
          <p:nvPr/>
        </p:nvSpPr>
        <p:spPr>
          <a:xfrm>
            <a:off x="1579880" y="3826510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48" name="Text 75"/>
          <p:cNvSpPr/>
          <p:nvPr/>
        </p:nvSpPr>
        <p:spPr>
          <a:xfrm>
            <a:off x="1616456" y="3881374"/>
            <a:ext cx="40433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826510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0" name="Text 77"/>
          <p:cNvSpPr/>
          <p:nvPr/>
        </p:nvSpPr>
        <p:spPr>
          <a:xfrm>
            <a:off x="2075658" y="3881374"/>
            <a:ext cx="10386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826510"/>
            <a:ext cx="2009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52" name="Text 79"/>
          <p:cNvSpPr/>
          <p:nvPr/>
        </p:nvSpPr>
        <p:spPr>
          <a:xfrm>
            <a:off x="3198368" y="38722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4.6▌4.3▌0.0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447546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155" name="Text 81"/>
          <p:cNvSpPr/>
          <p:nvPr/>
        </p:nvSpPr>
        <p:spPr>
          <a:xfrm>
            <a:off x="299720" y="1447546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630426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46583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8" name="Text 84"/>
          <p:cNvSpPr/>
          <p:nvPr/>
        </p:nvSpPr>
        <p:spPr>
          <a:xfrm>
            <a:off x="3198368" y="151155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561.9M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1429件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547.5M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1404件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551.2M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1407件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730.5M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1513件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 累计 730.5M 显著高于预约 561.9M，反映跨周积压存量消化效应。签单累计 547.5M，递交→批核转化效率较高。W07 预约低点 2.7M 需关注执行节奏。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 签单峰 31.3M 为阶段高点；W08 批核峰 67.0M 为存量集中消化；W29 预约峰 29.6M 显示前端动能。周度节奏呈脉冲式特征，需关注执行连续性。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W36（2026）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19.6M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环比+78.1%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9.7M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环比+7.3%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12.3M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环比-8.6%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91.3M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191件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15.4M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W36 预约 19.6M/31件；签单 9.7M/18件；批核 12.3M/29件。未批核 91.3M（191件）是 Q2 批核的核心转化储量。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民生银行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200.2M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195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204.4M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天誉国际(MGA)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62.6M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19.6M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1.4M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83.6M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258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p/>
        </p:txBody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56.7M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11.2M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67.9M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159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唯思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48.9M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55.9M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164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平安银行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48.2M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25.7M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7.8M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81.7M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紫荆保险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39.3M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114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42.0M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118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天领重庆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34.5M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128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35.9M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135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堡盛国际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29.0M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29.3M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万森保险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28.7M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88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2.8M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31.9M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98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利泰丰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27.9M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575.9M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1116件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71.9M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148件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12.8M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660.6M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1283件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 累计批核 1248.8M（占全业务 170.2%），高度集中。 以 700.7M 独占 95.5%，是最核心的单一客户，亦是最大集中风险点。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91440" y="3657600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6163056" y="365760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54750" y="3959225"/>
            <a:ext cx="5659755" cy="254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195" name="Text 193"/>
          <p:cNvSpPr/>
          <p:nvPr/>
        </p:nvSpPr>
        <p:spPr>
          <a:xfrm>
            <a:off x="6351270" y="3996055"/>
            <a:ext cx="46990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业务线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7059360" y="3996055"/>
            <a:ext cx="6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7687770" y="3996055"/>
            <a:ext cx="95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件均APE(万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857093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平均时效(天)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946952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P90时效(天)</a:t>
            </a:r>
            <a:endParaRPr lang="en-US" sz="800" dirty="0"/>
          </a:p>
        </p:txBody>
      </p:sp>
      <p:sp>
        <p:nvSpPr>
          <p:cNvPr id="700" name="Text 698"/>
          <p:cNvSpPr/>
          <p:nvPr/>
        </p:nvSpPr>
        <p:spPr>
          <a:xfrm>
            <a:off x="10303340" y="3996055"/>
            <a:ext cx="66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中位时效(天)</a:t>
            </a:r>
            <a:endParaRPr lang="en-US" sz="800" dirty="0"/>
          </a:p>
        </p:txBody>
      </p:sp>
      <p:sp>
        <p:nvSpPr>
          <p:cNvPr id="701" name="Text 699"/>
          <p:cNvSpPr/>
          <p:nvPr/>
        </p:nvSpPr>
        <p:spPr>
          <a:xfrm>
            <a:off x="11234420" y="3987800"/>
            <a:ext cx="631825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最大时效(天)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6254750" y="4178935"/>
            <a:ext cx="5659755" cy="299720"/>
          </a:xfrm>
          <a:prstGeom prst="rect">
            <a:avLst/>
          </a:prstGeom>
          <a:solidFill>
            <a:srgbClr val="FEF2F2"/>
          </a:solidFill>
          <a:ln w="762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01" name="Shape 199"/>
          <p:cNvSpPr/>
          <p:nvPr/>
        </p:nvSpPr>
        <p:spPr>
          <a:xfrm>
            <a:off x="6254750" y="4178935"/>
            <a:ext cx="76200" cy="299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02" name="Text 200"/>
          <p:cNvSpPr/>
          <p:nvPr/>
        </p:nvSpPr>
        <p:spPr>
          <a:xfrm>
            <a:off x="6327775" y="422465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7110160" y="422465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232</a:t>
            </a:r>
            <a:endParaRPr lang="en-US" sz="850" dirty="0"/>
          </a:p>
        </p:txBody>
      </p:sp>
      <p:sp>
        <p:nvSpPr>
          <p:cNvPr id="204" name="Text 202"/>
          <p:cNvSpPr/>
          <p:nvPr/>
        </p:nvSpPr>
        <p:spPr>
          <a:xfrm>
            <a:off x="7821120" y="422465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876778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960160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02" name="Text 700"/>
          <p:cNvSpPr/>
          <p:nvPr/>
        </p:nvSpPr>
        <p:spPr>
          <a:xfrm>
            <a:off x="10516700" y="422465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03" name="Text 701"/>
          <p:cNvSpPr/>
          <p:nvPr/>
        </p:nvSpPr>
        <p:spPr>
          <a:xfrm>
            <a:off x="1143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850" dirty="0"/>
          </a:p>
        </p:txBody>
      </p:sp>
      <p:sp>
        <p:nvSpPr>
          <p:cNvPr id="209" name="Text 207"/>
          <p:cNvSpPr/>
          <p:nvPr/>
        </p:nvSpPr>
        <p:spPr>
          <a:xfrm>
            <a:off x="6327775" y="44805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7110160" y="44805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7821120" y="44805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876778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960160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</a:t>
            </a:r>
            <a:endParaRPr lang="en-US" sz="850" dirty="0"/>
          </a:p>
        </p:txBody>
      </p:sp>
      <p:sp>
        <p:nvSpPr>
          <p:cNvPr id="704" name="Text 702"/>
          <p:cNvSpPr/>
          <p:nvPr/>
        </p:nvSpPr>
        <p:spPr>
          <a:xfrm>
            <a:off x="10516700" y="44805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43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50" dirty="0"/>
          </a:p>
        </p:txBody>
      </p:sp>
      <p:sp>
        <p:nvSpPr>
          <p:cNvPr id="216" name="Text 214"/>
          <p:cNvSpPr/>
          <p:nvPr/>
        </p:nvSpPr>
        <p:spPr>
          <a:xfrm>
            <a:off x="6327775" y="473646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110160" y="473646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7821120" y="473646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109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876778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960160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142</a:t>
            </a:r>
            <a:endParaRPr lang="en-US" sz="850" dirty="0"/>
          </a:p>
        </p:txBody>
      </p:sp>
      <p:sp>
        <p:nvSpPr>
          <p:cNvPr id="706" name="Text 704"/>
          <p:cNvSpPr/>
          <p:nvPr/>
        </p:nvSpPr>
        <p:spPr>
          <a:xfrm>
            <a:off x="10516700" y="473646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43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220</a:t>
            </a:r>
            <a:endParaRPr lang="en-US" sz="850" dirty="0"/>
          </a:p>
        </p:txBody>
      </p:sp>
      <p:sp>
        <p:nvSpPr>
          <p:cNvPr id="223" name="Text 221"/>
          <p:cNvSpPr/>
          <p:nvPr/>
        </p:nvSpPr>
        <p:spPr>
          <a:xfrm>
            <a:off x="6327775" y="499237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7110160" y="499237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481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7821120" y="499237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876778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960160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850" dirty="0"/>
          </a:p>
        </p:txBody>
      </p:sp>
      <p:sp>
        <p:nvSpPr>
          <p:cNvPr id="708" name="Text 706"/>
          <p:cNvSpPr/>
          <p:nvPr/>
        </p:nvSpPr>
        <p:spPr>
          <a:xfrm>
            <a:off x="10516700" y="499237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43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113</a:t>
            </a:r>
            <a:endParaRPr lang="en-US" sz="850" dirty="0"/>
          </a:p>
        </p:txBody>
      </p:sp>
      <p:sp>
        <p:nvSpPr>
          <p:cNvPr id="230" name="Text 228"/>
          <p:cNvSpPr/>
          <p:nvPr/>
        </p:nvSpPr>
        <p:spPr>
          <a:xfrm>
            <a:off x="6327775" y="524891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7110160" y="524891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488</a:t>
            </a:r>
            <a:endParaRPr lang="en-US" sz="850" dirty="0"/>
          </a:p>
        </p:txBody>
      </p:sp>
      <p:sp>
        <p:nvSpPr>
          <p:cNvPr id="232" name="Text 230"/>
          <p:cNvSpPr/>
          <p:nvPr/>
        </p:nvSpPr>
        <p:spPr>
          <a:xfrm>
            <a:off x="7821120" y="524891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850" dirty="0"/>
          </a:p>
        </p:txBody>
      </p:sp>
      <p:sp>
        <p:nvSpPr>
          <p:cNvPr id="233" name="Text 231"/>
          <p:cNvSpPr/>
          <p:nvPr/>
        </p:nvSpPr>
        <p:spPr>
          <a:xfrm>
            <a:off x="876778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960160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850" dirty="0"/>
          </a:p>
        </p:txBody>
      </p:sp>
      <p:sp>
        <p:nvSpPr>
          <p:cNvPr id="710" name="Text 708"/>
          <p:cNvSpPr/>
          <p:nvPr/>
        </p:nvSpPr>
        <p:spPr>
          <a:xfrm>
            <a:off x="10516700" y="524891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43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127</a:t>
            </a:r>
            <a:endParaRPr lang="en-US" sz="850" dirty="0"/>
          </a:p>
        </p:txBody>
      </p:sp>
      <p:sp>
        <p:nvSpPr>
          <p:cNvPr id="237" name="Text 235"/>
          <p:cNvSpPr/>
          <p:nvPr/>
        </p:nvSpPr>
        <p:spPr>
          <a:xfrm>
            <a:off x="6327775" y="550481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7110160" y="550481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850" dirty="0"/>
          </a:p>
        </p:txBody>
      </p:sp>
      <p:sp>
        <p:nvSpPr>
          <p:cNvPr id="239" name="Text 237"/>
          <p:cNvSpPr/>
          <p:nvPr/>
        </p:nvSpPr>
        <p:spPr>
          <a:xfrm>
            <a:off x="7821120" y="550481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876778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960160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850" dirty="0"/>
          </a:p>
        </p:txBody>
      </p:sp>
      <p:sp>
        <p:nvSpPr>
          <p:cNvPr id="712" name="Text 710"/>
          <p:cNvSpPr/>
          <p:nvPr/>
        </p:nvSpPr>
        <p:spPr>
          <a:xfrm>
            <a:off x="10516700" y="550481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43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44" name="Text 242"/>
          <p:cNvSpPr/>
          <p:nvPr/>
        </p:nvSpPr>
        <p:spPr>
          <a:xfrm>
            <a:off x="6327775" y="576072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245" name="Text 243"/>
          <p:cNvSpPr/>
          <p:nvPr/>
        </p:nvSpPr>
        <p:spPr>
          <a:xfrm>
            <a:off x="7110160" y="576072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7821120" y="576072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161</a:t>
            </a:r>
            <a:endParaRPr lang="en-US" sz="850" dirty="0"/>
          </a:p>
        </p:txBody>
      </p:sp>
      <p:sp>
        <p:nvSpPr>
          <p:cNvPr id="247" name="Text 245"/>
          <p:cNvSpPr/>
          <p:nvPr/>
        </p:nvSpPr>
        <p:spPr>
          <a:xfrm>
            <a:off x="876778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48" name="Text 246"/>
          <p:cNvSpPr/>
          <p:nvPr/>
        </p:nvSpPr>
        <p:spPr>
          <a:xfrm>
            <a:off x="960160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</a:t>
            </a:r>
            <a:endParaRPr lang="en-US" sz="850" dirty="0"/>
          </a:p>
        </p:txBody>
      </p:sp>
      <p:sp>
        <p:nvSpPr>
          <p:cNvPr id="714" name="Text 712"/>
          <p:cNvSpPr/>
          <p:nvPr/>
        </p:nvSpPr>
        <p:spPr>
          <a:xfrm>
            <a:off x="10516700" y="576072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43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50" dirty="0"/>
          </a:p>
        </p:txBody>
      </p:sp>
      <p:sp>
        <p:nvSpPr>
          <p:cNvPr id="718" name="Text 716"/>
          <p:cNvSpPr/>
          <p:nvPr/>
        </p:nvSpPr>
        <p:spPr>
          <a:xfrm>
            <a:off x="6327775" y="606044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00" dirty="0"/>
          </a:p>
        </p:txBody>
      </p:sp>
      <p:sp>
        <p:nvSpPr>
          <p:cNvPr id="719" name="Text 717"/>
          <p:cNvSpPr/>
          <p:nvPr/>
        </p:nvSpPr>
        <p:spPr>
          <a:xfrm>
            <a:off x="7130480" y="606044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0" name="Text 718"/>
          <p:cNvSpPr/>
          <p:nvPr/>
        </p:nvSpPr>
        <p:spPr>
          <a:xfrm>
            <a:off x="7841440" y="606044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1" name="Text 719"/>
          <p:cNvSpPr/>
          <p:nvPr/>
        </p:nvSpPr>
        <p:spPr>
          <a:xfrm>
            <a:off x="878810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2" name="Text 720"/>
          <p:cNvSpPr/>
          <p:nvPr/>
        </p:nvSpPr>
        <p:spPr>
          <a:xfrm>
            <a:off x="962192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3" name="Text 721"/>
          <p:cNvSpPr/>
          <p:nvPr/>
        </p:nvSpPr>
        <p:spPr>
          <a:xfrm>
            <a:off x="10537020" y="606044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4" name="Text 722"/>
          <p:cNvSpPr/>
          <p:nvPr/>
        </p:nvSpPr>
        <p:spPr>
          <a:xfrm>
            <a:off x="11487050" y="606044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7" name="Text 725"/>
          <p:cNvSpPr/>
          <p:nvPr/>
        </p:nvSpPr>
        <p:spPr>
          <a:xfrm>
            <a:off x="6327775" y="63601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en-US" sz="800" dirty="0"/>
          </a:p>
        </p:txBody>
      </p:sp>
      <p:sp>
        <p:nvSpPr>
          <p:cNvPr id="728" name="Text 726"/>
          <p:cNvSpPr/>
          <p:nvPr/>
        </p:nvSpPr>
        <p:spPr>
          <a:xfrm>
            <a:off x="7110160" y="63601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1514</a:t>
            </a:r>
            <a:endParaRPr lang="en-US" sz="850" dirty="0"/>
          </a:p>
        </p:txBody>
      </p:sp>
      <p:sp>
        <p:nvSpPr>
          <p:cNvPr id="729" name="Text 727"/>
          <p:cNvSpPr/>
          <p:nvPr/>
        </p:nvSpPr>
        <p:spPr>
          <a:xfrm>
            <a:off x="7821120" y="63601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</a:t>
            </a:r>
            <a:endParaRPr lang="en-US" sz="850" dirty="0"/>
          </a:p>
        </p:txBody>
      </p:sp>
      <p:sp>
        <p:nvSpPr>
          <p:cNvPr id="730" name="Text 728"/>
          <p:cNvSpPr/>
          <p:nvPr/>
        </p:nvSpPr>
        <p:spPr>
          <a:xfrm>
            <a:off x="876778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850" dirty="0"/>
          </a:p>
        </p:txBody>
      </p:sp>
      <p:sp>
        <p:nvSpPr>
          <p:cNvPr id="731" name="Text 729"/>
          <p:cNvSpPr/>
          <p:nvPr/>
        </p:nvSpPr>
        <p:spPr>
          <a:xfrm>
            <a:off x="960160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</a:t>
            </a:r>
            <a:endParaRPr lang="en-US" sz="850" dirty="0"/>
          </a:p>
        </p:txBody>
      </p:sp>
      <p:sp>
        <p:nvSpPr>
          <p:cNvPr id="732" name="Text 730"/>
          <p:cNvSpPr/>
          <p:nvPr/>
        </p:nvSpPr>
        <p:spPr>
          <a:xfrm>
            <a:off x="10516700" y="63601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43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50" name="Shape 247"/>
          <p:cNvSpPr/>
          <p:nvPr/>
        </p:nvSpPr>
        <p:spPr>
          <a:xfrm>
            <a:off x="6163056" y="625449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1" name="Shape 248"/>
          <p:cNvSpPr/>
          <p:nvPr/>
        </p:nvSpPr>
        <p:spPr>
          <a:xfrm>
            <a:off x="6163056" y="6254496"/>
            <a:ext cx="588873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52" name="Text 249"/>
          <p:cNvSpPr/>
          <p:nvPr/>
        </p:nvSpPr>
        <p:spPr>
          <a:xfrm>
            <a:off x="6254496" y="6291072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53" name="Text 250"/>
          <p:cNvSpPr/>
          <p:nvPr/>
        </p:nvSpPr>
        <p:spPr>
          <a:xfrm>
            <a:off x="6254496" y="6409944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BK业务件均 APE 最高（109万）且平均时效 65.9 天（P90=142 天），是唯一超 SLA=60 天渠道，大额件审核慢是主要风险。天领业务均值 19.8 天效率最优。整体均值 28 天，P90=59 天。BK业务 平均时效超 60 天 SLA。</a:t>
            </a:r>
            <a:endParaRPr lang="en-US" sz="5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预约总量 561.9M/1429件。同行经代领跑，累计 194.0M/558件，占比 35%。W29 单周峰值 29.6M/76件，是本季度最高单周贡献。</a:t>
            </a:r>
            <a:endParaRPr lang="en-US" sz="550" dirty="0"/>
          </a:p>
        </p:txBody>
      </p:sp>
      <p:sp>
        <p:nvSpPr>
          <p:cNvPr id="470" name="Shape 448"/>
          <p:cNvSpPr/>
          <p:nvPr/>
        </p:nvSpPr>
        <p:spPr>
          <a:xfrm>
            <a:off x="6144006" y="318871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72" name="Text 450"/>
          <p:cNvSpPr/>
          <p:nvPr/>
        </p:nvSpPr>
        <p:spPr>
          <a:xfrm>
            <a:off x="6236716" y="3197987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" name="Text 451"/>
          <p:cNvSpPr/>
          <p:nvPr/>
        </p:nvSpPr>
        <p:spPr>
          <a:xfrm>
            <a:off x="6236716" y="3316859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签单总量 547.5M/1404件。同行经代领跑，累计 189.7M/548件，占比 35%。W05 单周峰值 31.3M/36件，是本季度最高单周贡献。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批核总量 730.5M/1513件。BK业务领跑，累计 245.2M/226件，占比 34%。W08 单周峰值 67.0M/61件，是本季度最高单周贡献。</a:t>
            </a:r>
            <a:endParaRPr lang="en-US" sz="550" dirty="0"/>
          </a:p>
        </p:txBody>
      </p:sp>
      <p:sp>
        <p:nvSpPr>
          <p:cNvPr id="905" name="T6262"/>
          <p:cNvSpPr/>
          <p:nvPr/>
        </p:nvSpPr>
        <p:spPr>
          <a:xfrm>
            <a:off x="572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906" name="Rectangle 905"/>
          <p:cNvSpPr/>
          <p:nvPr/>
        </p:nvSpPr>
        <p:spPr>
          <a:xfrm>
            <a:off x="182880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262880" y="5600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Q  周度预约业绩热力矩阵（APE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08" name="TextBox 907"/>
          <p:cNvSpPr txBox="1"/>
          <p:nvPr/>
        </p:nvSpPr>
        <p:spPr>
          <a:xfrm>
            <a:off x="86288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09" name="TextBox 908"/>
          <p:cNvSpPr txBox="1"/>
          <p:nvPr/>
        </p:nvSpPr>
        <p:spPr>
          <a:xfrm>
            <a:off x="121012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0" name="TextBox 909"/>
          <p:cNvSpPr txBox="1"/>
          <p:nvPr/>
        </p:nvSpPr>
        <p:spPr>
          <a:xfrm>
            <a:off x="155737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1" name="TextBox 910"/>
          <p:cNvSpPr txBox="1"/>
          <p:nvPr/>
        </p:nvSpPr>
        <p:spPr>
          <a:xfrm>
            <a:off x="190462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2" name="TextBox 911"/>
          <p:cNvSpPr txBox="1"/>
          <p:nvPr/>
        </p:nvSpPr>
        <p:spPr>
          <a:xfrm>
            <a:off x="225187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3" name="TextBox 912"/>
          <p:cNvSpPr txBox="1"/>
          <p:nvPr/>
        </p:nvSpPr>
        <p:spPr>
          <a:xfrm>
            <a:off x="259912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4" name="TextBox 913"/>
          <p:cNvSpPr txBox="1"/>
          <p:nvPr/>
        </p:nvSpPr>
        <p:spPr>
          <a:xfrm>
            <a:off x="294637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5" name="TextBox 914"/>
          <p:cNvSpPr txBox="1"/>
          <p:nvPr/>
        </p:nvSpPr>
        <p:spPr>
          <a:xfrm>
            <a:off x="329362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6" name="TextBox 915"/>
          <p:cNvSpPr txBox="1"/>
          <p:nvPr/>
        </p:nvSpPr>
        <p:spPr>
          <a:xfrm>
            <a:off x="364087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3988121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8" name="TextBox 917"/>
          <p:cNvSpPr txBox="1"/>
          <p:nvPr/>
        </p:nvSpPr>
        <p:spPr>
          <a:xfrm>
            <a:off x="433537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468261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0" name="TextBox 919"/>
          <p:cNvSpPr txBox="1"/>
          <p:nvPr/>
        </p:nvSpPr>
        <p:spPr>
          <a:xfrm>
            <a:off x="502986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537711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W35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2" name="TextBox 921"/>
          <p:cNvSpPr txBox="1"/>
          <p:nvPr/>
        </p:nvSpPr>
        <p:spPr>
          <a:xfrm>
            <a:off x="572436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W36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3" name="TextBox 922"/>
          <p:cNvSpPr txBox="1"/>
          <p:nvPr/>
        </p:nvSpPr>
        <p:spPr>
          <a:xfrm>
            <a:off x="202880" y="101603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24" name="Rectangle 923"/>
          <p:cNvSpPr/>
          <p:nvPr/>
        </p:nvSpPr>
        <p:spPr>
          <a:xfrm>
            <a:off x="868880" y="1022032"/>
            <a:ext cx="335249" cy="250996"/>
          </a:xfrm>
          <a:prstGeom prst="rect">
            <a:avLst/>
          </a:prstGeom>
          <a:solidFill>
            <a:srgbClr val="2980B9">
              <a:alpha val="3180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TextBox 924"/>
          <p:cNvSpPr txBox="1"/>
          <p:nvPr/>
        </p:nvSpPr>
        <p:spPr>
          <a:xfrm>
            <a:off x="86288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26" name="TextBox 925"/>
          <p:cNvSpPr txBox="1"/>
          <p:nvPr/>
        </p:nvSpPr>
        <p:spPr>
          <a:xfrm>
            <a:off x="86288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27" name="Rectangle 926"/>
          <p:cNvSpPr/>
          <p:nvPr/>
        </p:nvSpPr>
        <p:spPr>
          <a:xfrm>
            <a:off x="1216129" y="1022032"/>
            <a:ext cx="335249" cy="250996"/>
          </a:xfrm>
          <a:prstGeom prst="rect">
            <a:avLst/>
          </a:prstGeom>
          <a:solidFill>
            <a:srgbClr val="2980B9">
              <a:alpha val="346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121012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29" name="TextBox 928"/>
          <p:cNvSpPr txBox="1"/>
          <p:nvPr/>
        </p:nvSpPr>
        <p:spPr>
          <a:xfrm>
            <a:off x="121012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0" name="Rectangle 929"/>
          <p:cNvSpPr/>
          <p:nvPr/>
        </p:nvSpPr>
        <p:spPr>
          <a:xfrm>
            <a:off x="1563378" y="1022032"/>
            <a:ext cx="335249" cy="250996"/>
          </a:xfrm>
          <a:prstGeom prst="rect">
            <a:avLst/>
          </a:prstGeom>
          <a:solidFill>
            <a:srgbClr val="2980B9">
              <a:alpha val="3513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TextBox 930"/>
          <p:cNvSpPr txBox="1"/>
          <p:nvPr/>
        </p:nvSpPr>
        <p:spPr>
          <a:xfrm>
            <a:off x="155737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2" name="TextBox 931"/>
          <p:cNvSpPr txBox="1"/>
          <p:nvPr/>
        </p:nvSpPr>
        <p:spPr>
          <a:xfrm>
            <a:off x="155737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3" name="Rectangle 932"/>
          <p:cNvSpPr/>
          <p:nvPr/>
        </p:nvSpPr>
        <p:spPr>
          <a:xfrm>
            <a:off x="1910627" y="1022032"/>
            <a:ext cx="335249" cy="250996"/>
          </a:xfrm>
          <a:prstGeom prst="rect">
            <a:avLst/>
          </a:prstGeom>
          <a:solidFill>
            <a:srgbClr val="2980B9">
              <a:alpha val="695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190462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5" name="TextBox 934"/>
          <p:cNvSpPr txBox="1"/>
          <p:nvPr/>
        </p:nvSpPr>
        <p:spPr>
          <a:xfrm>
            <a:off x="190462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6" name="Rectangle 935"/>
          <p:cNvSpPr/>
          <p:nvPr/>
        </p:nvSpPr>
        <p:spPr>
          <a:xfrm>
            <a:off x="2257876" y="1022032"/>
            <a:ext cx="335249" cy="250996"/>
          </a:xfrm>
          <a:prstGeom prst="rect">
            <a:avLst/>
          </a:prstGeom>
          <a:solidFill>
            <a:srgbClr val="2980B9">
              <a:alpha val="349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TextBox 936"/>
          <p:cNvSpPr txBox="1"/>
          <p:nvPr/>
        </p:nvSpPr>
        <p:spPr>
          <a:xfrm>
            <a:off x="225187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8" name="TextBox 937"/>
          <p:cNvSpPr txBox="1"/>
          <p:nvPr/>
        </p:nvSpPr>
        <p:spPr>
          <a:xfrm>
            <a:off x="225187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9" name="Rectangle 938"/>
          <p:cNvSpPr/>
          <p:nvPr/>
        </p:nvSpPr>
        <p:spPr>
          <a:xfrm>
            <a:off x="2605125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TextBox 939"/>
          <p:cNvSpPr txBox="1"/>
          <p:nvPr/>
        </p:nvSpPr>
        <p:spPr>
          <a:xfrm>
            <a:off x="259912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1" name="TextBox 940"/>
          <p:cNvSpPr txBox="1"/>
          <p:nvPr/>
        </p:nvSpPr>
        <p:spPr>
          <a:xfrm>
            <a:off x="259912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2" name="Rectangle 941"/>
          <p:cNvSpPr/>
          <p:nvPr/>
        </p:nvSpPr>
        <p:spPr>
          <a:xfrm>
            <a:off x="2952374" y="1022032"/>
            <a:ext cx="335249" cy="250996"/>
          </a:xfrm>
          <a:prstGeom prst="rect">
            <a:avLst/>
          </a:prstGeom>
          <a:solidFill>
            <a:srgbClr val="2980B9">
              <a:alpha val="367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294637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294637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5" name="Rectangle 944"/>
          <p:cNvSpPr/>
          <p:nvPr/>
        </p:nvSpPr>
        <p:spPr>
          <a:xfrm>
            <a:off x="3299623" y="1022032"/>
            <a:ext cx="335249" cy="250996"/>
          </a:xfrm>
          <a:prstGeom prst="rect">
            <a:avLst/>
          </a:prstGeom>
          <a:solidFill>
            <a:srgbClr val="2980B9">
              <a:alpha val="393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29362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7" name="TextBox 946"/>
          <p:cNvSpPr txBox="1"/>
          <p:nvPr/>
        </p:nvSpPr>
        <p:spPr>
          <a:xfrm>
            <a:off x="329362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8" name="Rectangle 947"/>
          <p:cNvSpPr/>
          <p:nvPr/>
        </p:nvSpPr>
        <p:spPr>
          <a:xfrm>
            <a:off x="3646872" y="1022032"/>
            <a:ext cx="335249" cy="250996"/>
          </a:xfrm>
          <a:prstGeom prst="rect">
            <a:avLst/>
          </a:prstGeom>
          <a:solidFill>
            <a:srgbClr val="2980B9">
              <a:alpha val="546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TextBox 948"/>
          <p:cNvSpPr txBox="1"/>
          <p:nvPr/>
        </p:nvSpPr>
        <p:spPr>
          <a:xfrm>
            <a:off x="364087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0" name="TextBox 949"/>
          <p:cNvSpPr txBox="1"/>
          <p:nvPr/>
        </p:nvSpPr>
        <p:spPr>
          <a:xfrm>
            <a:off x="364087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1" name="Rectangle 950"/>
          <p:cNvSpPr/>
          <p:nvPr/>
        </p:nvSpPr>
        <p:spPr>
          <a:xfrm>
            <a:off x="3994121" y="1022032"/>
            <a:ext cx="335249" cy="250996"/>
          </a:xfrm>
          <a:prstGeom prst="rect">
            <a:avLst/>
          </a:prstGeom>
          <a:solidFill>
            <a:srgbClr val="2980B9">
              <a:alpha val="381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3988121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3" name="TextBox 952"/>
          <p:cNvSpPr txBox="1"/>
          <p:nvPr/>
        </p:nvSpPr>
        <p:spPr>
          <a:xfrm>
            <a:off x="3988121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4" name="Rectangle 953"/>
          <p:cNvSpPr/>
          <p:nvPr/>
        </p:nvSpPr>
        <p:spPr>
          <a:xfrm>
            <a:off x="4341370" y="1022032"/>
            <a:ext cx="335249" cy="250996"/>
          </a:xfrm>
          <a:prstGeom prst="rect">
            <a:avLst/>
          </a:prstGeom>
          <a:solidFill>
            <a:srgbClr val="2980B9">
              <a:alpha val="279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433537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6" name="TextBox 955"/>
          <p:cNvSpPr txBox="1"/>
          <p:nvPr/>
        </p:nvSpPr>
        <p:spPr>
          <a:xfrm>
            <a:off x="433537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7" name="Rectangle 956"/>
          <p:cNvSpPr/>
          <p:nvPr/>
        </p:nvSpPr>
        <p:spPr>
          <a:xfrm>
            <a:off x="4688619" y="1022032"/>
            <a:ext cx="335249" cy="250996"/>
          </a:xfrm>
          <a:prstGeom prst="rect">
            <a:avLst/>
          </a:prstGeom>
          <a:solidFill>
            <a:srgbClr val="2980B9">
              <a:alpha val="551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TextBox 957"/>
          <p:cNvSpPr txBox="1"/>
          <p:nvPr/>
        </p:nvSpPr>
        <p:spPr>
          <a:xfrm>
            <a:off x="468261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59" name="TextBox 958"/>
          <p:cNvSpPr txBox="1"/>
          <p:nvPr/>
        </p:nvSpPr>
        <p:spPr>
          <a:xfrm>
            <a:off x="468261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0" name="Rectangle 959"/>
          <p:cNvSpPr/>
          <p:nvPr/>
        </p:nvSpPr>
        <p:spPr>
          <a:xfrm>
            <a:off x="5035868" y="1022032"/>
            <a:ext cx="335249" cy="250996"/>
          </a:xfrm>
          <a:prstGeom prst="rect">
            <a:avLst/>
          </a:prstGeom>
          <a:solidFill>
            <a:srgbClr val="2980B9">
              <a:alpha val="271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502986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2" name="TextBox 961"/>
          <p:cNvSpPr txBox="1"/>
          <p:nvPr/>
        </p:nvSpPr>
        <p:spPr>
          <a:xfrm>
            <a:off x="502986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3" name="Rectangle 962"/>
          <p:cNvSpPr/>
          <p:nvPr/>
        </p:nvSpPr>
        <p:spPr>
          <a:xfrm>
            <a:off x="5383117" y="1022032"/>
            <a:ext cx="335249" cy="250996"/>
          </a:xfrm>
          <a:prstGeom prst="rect">
            <a:avLst/>
          </a:prstGeom>
          <a:solidFill>
            <a:srgbClr val="2980B9">
              <a:alpha val="3186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TextBox 963"/>
          <p:cNvSpPr txBox="1"/>
          <p:nvPr/>
        </p:nvSpPr>
        <p:spPr>
          <a:xfrm>
            <a:off x="537711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5" name="TextBox 964"/>
          <p:cNvSpPr txBox="1"/>
          <p:nvPr/>
        </p:nvSpPr>
        <p:spPr>
          <a:xfrm>
            <a:off x="537711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6" name="Rectangle 965"/>
          <p:cNvSpPr/>
          <p:nvPr/>
        </p:nvSpPr>
        <p:spPr>
          <a:xfrm>
            <a:off x="5730366" y="1022032"/>
            <a:ext cx="335249" cy="250996"/>
          </a:xfrm>
          <a:prstGeom prst="rect">
            <a:avLst/>
          </a:prstGeom>
          <a:solidFill>
            <a:srgbClr val="2980B9">
              <a:alpha val="495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TextBox 966"/>
          <p:cNvSpPr txBox="1"/>
          <p:nvPr/>
        </p:nvSpPr>
        <p:spPr>
          <a:xfrm>
            <a:off x="572436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8" name="TextBox 967"/>
          <p:cNvSpPr txBox="1"/>
          <p:nvPr/>
        </p:nvSpPr>
        <p:spPr>
          <a:xfrm>
            <a:off x="572436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9" name="TextBox 968"/>
          <p:cNvSpPr txBox="1"/>
          <p:nvPr/>
        </p:nvSpPr>
        <p:spPr>
          <a:xfrm>
            <a:off x="202880" y="127902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70" name="Rectangle 969"/>
          <p:cNvSpPr/>
          <p:nvPr/>
        </p:nvSpPr>
        <p:spPr>
          <a:xfrm>
            <a:off x="868880" y="1285028"/>
            <a:ext cx="335249" cy="250996"/>
          </a:xfrm>
          <a:prstGeom prst="rect">
            <a:avLst/>
          </a:prstGeom>
          <a:solidFill>
            <a:srgbClr val="374151">
              <a:alpha val="567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862880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2" name="TextBox 971"/>
          <p:cNvSpPr txBox="1"/>
          <p:nvPr/>
        </p:nvSpPr>
        <p:spPr>
          <a:xfrm>
            <a:off x="862880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3" name="Rectangle 972"/>
          <p:cNvSpPr/>
          <p:nvPr/>
        </p:nvSpPr>
        <p:spPr>
          <a:xfrm>
            <a:off x="1910627" y="1285028"/>
            <a:ext cx="335249" cy="250996"/>
          </a:xfrm>
          <a:prstGeom prst="rect">
            <a:avLst/>
          </a:prstGeom>
          <a:solidFill>
            <a:srgbClr val="374151">
              <a:alpha val="538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1904627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5" name="TextBox 974"/>
          <p:cNvSpPr txBox="1"/>
          <p:nvPr/>
        </p:nvSpPr>
        <p:spPr>
          <a:xfrm>
            <a:off x="1904627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6" name="Rectangle 975"/>
          <p:cNvSpPr/>
          <p:nvPr/>
        </p:nvSpPr>
        <p:spPr>
          <a:xfrm>
            <a:off x="2605125" y="1285028"/>
            <a:ext cx="335249" cy="250996"/>
          </a:xfrm>
          <a:prstGeom prst="rect">
            <a:avLst/>
          </a:prstGeom>
          <a:solidFill>
            <a:srgbClr val="374151">
              <a:alpha val="423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TextBox 976"/>
          <p:cNvSpPr txBox="1"/>
          <p:nvPr/>
        </p:nvSpPr>
        <p:spPr>
          <a:xfrm>
            <a:off x="259912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8" name="TextBox 977"/>
          <p:cNvSpPr txBox="1"/>
          <p:nvPr/>
        </p:nvSpPr>
        <p:spPr>
          <a:xfrm>
            <a:off x="259912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9" name="Rectangle 978"/>
          <p:cNvSpPr/>
          <p:nvPr/>
        </p:nvSpPr>
        <p:spPr>
          <a:xfrm>
            <a:off x="3299623" y="1285028"/>
            <a:ext cx="335249" cy="250996"/>
          </a:xfrm>
          <a:prstGeom prst="rect">
            <a:avLst/>
          </a:prstGeom>
          <a:solidFill>
            <a:srgbClr val="374151">
              <a:alpha val="2754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TextBox 979"/>
          <p:cNvSpPr txBox="1"/>
          <p:nvPr/>
        </p:nvSpPr>
        <p:spPr>
          <a:xfrm>
            <a:off x="3293623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1" name="TextBox 980"/>
          <p:cNvSpPr txBox="1"/>
          <p:nvPr/>
        </p:nvSpPr>
        <p:spPr>
          <a:xfrm>
            <a:off x="3293623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2" name="Rectangle 981"/>
          <p:cNvSpPr/>
          <p:nvPr/>
        </p:nvSpPr>
        <p:spPr>
          <a:xfrm>
            <a:off x="3994121" y="1285028"/>
            <a:ext cx="335249" cy="250996"/>
          </a:xfrm>
          <a:prstGeom prst="rect">
            <a:avLst/>
          </a:prstGeom>
          <a:solidFill>
            <a:srgbClr val="374151">
              <a:alpha val="7692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3988121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84" name="TextBox 983"/>
          <p:cNvSpPr txBox="1"/>
          <p:nvPr/>
        </p:nvSpPr>
        <p:spPr>
          <a:xfrm>
            <a:off x="3988121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85" name="Rectangle 984"/>
          <p:cNvSpPr/>
          <p:nvPr/>
        </p:nvSpPr>
        <p:spPr>
          <a:xfrm>
            <a:off x="4688619" y="1285028"/>
            <a:ext cx="335249" cy="250996"/>
          </a:xfrm>
          <a:prstGeom prst="rect">
            <a:avLst/>
          </a:prstGeom>
          <a:solidFill>
            <a:srgbClr val="374151">
              <a:alpha val="440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TextBox 985"/>
          <p:cNvSpPr txBox="1"/>
          <p:nvPr/>
        </p:nvSpPr>
        <p:spPr>
          <a:xfrm>
            <a:off x="468261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7" name="TextBox 986"/>
          <p:cNvSpPr txBox="1"/>
          <p:nvPr/>
        </p:nvSpPr>
        <p:spPr>
          <a:xfrm>
            <a:off x="468261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8" name="Rectangle 987"/>
          <p:cNvSpPr/>
          <p:nvPr/>
        </p:nvSpPr>
        <p:spPr>
          <a:xfrm>
            <a:off x="5035868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TextBox 988"/>
          <p:cNvSpPr txBox="1"/>
          <p:nvPr/>
        </p:nvSpPr>
        <p:spPr>
          <a:xfrm>
            <a:off x="5029868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90" name="TextBox 989"/>
          <p:cNvSpPr txBox="1"/>
          <p:nvPr/>
        </p:nvSpPr>
        <p:spPr>
          <a:xfrm>
            <a:off x="5029868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91" name="TextBox 990"/>
          <p:cNvSpPr txBox="1"/>
          <p:nvPr/>
        </p:nvSpPr>
        <p:spPr>
          <a:xfrm>
            <a:off x="202880" y="154202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92" name="Rectangle 991"/>
          <p:cNvSpPr/>
          <p:nvPr/>
        </p:nvSpPr>
        <p:spPr>
          <a:xfrm>
            <a:off x="868880" y="1548024"/>
            <a:ext cx="335249" cy="250996"/>
          </a:xfrm>
          <a:prstGeom prst="rect">
            <a:avLst/>
          </a:prstGeom>
          <a:solidFill>
            <a:srgbClr val="1F3864">
              <a:alpha val="352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TextBox 992"/>
          <p:cNvSpPr txBox="1"/>
          <p:nvPr/>
        </p:nvSpPr>
        <p:spPr>
          <a:xfrm>
            <a:off x="86288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4" name="TextBox 993"/>
          <p:cNvSpPr txBox="1"/>
          <p:nvPr/>
        </p:nvSpPr>
        <p:spPr>
          <a:xfrm>
            <a:off x="86288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5" name="Rectangle 994"/>
          <p:cNvSpPr/>
          <p:nvPr/>
        </p:nvSpPr>
        <p:spPr>
          <a:xfrm>
            <a:off x="1216129" y="1548024"/>
            <a:ext cx="335249" cy="250996"/>
          </a:xfrm>
          <a:prstGeom prst="rect">
            <a:avLst/>
          </a:prstGeom>
          <a:solidFill>
            <a:srgbClr val="1F3864">
              <a:alpha val="50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TextBox 995"/>
          <p:cNvSpPr txBox="1"/>
          <p:nvPr/>
        </p:nvSpPr>
        <p:spPr>
          <a:xfrm>
            <a:off x="121012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7" name="TextBox 996"/>
          <p:cNvSpPr txBox="1"/>
          <p:nvPr/>
        </p:nvSpPr>
        <p:spPr>
          <a:xfrm>
            <a:off x="121012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8" name="Rectangle 997"/>
          <p:cNvSpPr/>
          <p:nvPr/>
        </p:nvSpPr>
        <p:spPr>
          <a:xfrm>
            <a:off x="1563378" y="1548024"/>
            <a:ext cx="335249" cy="250996"/>
          </a:xfrm>
          <a:prstGeom prst="rect">
            <a:avLst/>
          </a:prstGeom>
          <a:solidFill>
            <a:srgbClr val="1F3864">
              <a:alpha val="31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55737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0" name="TextBox 999"/>
          <p:cNvSpPr txBox="1"/>
          <p:nvPr/>
        </p:nvSpPr>
        <p:spPr>
          <a:xfrm>
            <a:off x="155737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1" name="Rectangle 1000"/>
          <p:cNvSpPr/>
          <p:nvPr/>
        </p:nvSpPr>
        <p:spPr>
          <a:xfrm>
            <a:off x="1910627" y="1548024"/>
            <a:ext cx="335249" cy="250996"/>
          </a:xfrm>
          <a:prstGeom prst="rect">
            <a:avLst/>
          </a:prstGeom>
          <a:solidFill>
            <a:srgbClr val="1F3864">
              <a:alpha val="597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190462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190462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04" name="Rectangle 1003"/>
          <p:cNvSpPr/>
          <p:nvPr/>
        </p:nvSpPr>
        <p:spPr>
          <a:xfrm>
            <a:off x="2257876" y="1548024"/>
            <a:ext cx="335249" cy="250996"/>
          </a:xfrm>
          <a:prstGeom prst="rect">
            <a:avLst/>
          </a:prstGeom>
          <a:solidFill>
            <a:srgbClr val="1F3864">
              <a:alpha val="31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TextBox 1004"/>
          <p:cNvSpPr txBox="1"/>
          <p:nvPr/>
        </p:nvSpPr>
        <p:spPr>
          <a:xfrm>
            <a:off x="225187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6" name="TextBox 1005"/>
          <p:cNvSpPr txBox="1"/>
          <p:nvPr/>
        </p:nvSpPr>
        <p:spPr>
          <a:xfrm>
            <a:off x="225187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7" name="Rectangle 1006"/>
          <p:cNvSpPr/>
          <p:nvPr/>
        </p:nvSpPr>
        <p:spPr>
          <a:xfrm>
            <a:off x="2605125" y="1548024"/>
            <a:ext cx="335249" cy="250996"/>
          </a:xfrm>
          <a:prstGeom prst="rect">
            <a:avLst/>
          </a:prstGeom>
          <a:solidFill>
            <a:srgbClr val="1F3864">
              <a:alpha val="72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TextBox 1007"/>
          <p:cNvSpPr txBox="1"/>
          <p:nvPr/>
        </p:nvSpPr>
        <p:spPr>
          <a:xfrm>
            <a:off x="259912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09" name="TextBox 1008"/>
          <p:cNvSpPr txBox="1"/>
          <p:nvPr/>
        </p:nvSpPr>
        <p:spPr>
          <a:xfrm>
            <a:off x="259912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0" name="Rectangle 1009"/>
          <p:cNvSpPr/>
          <p:nvPr/>
        </p:nvSpPr>
        <p:spPr>
          <a:xfrm>
            <a:off x="2952374" y="1548024"/>
            <a:ext cx="335249" cy="250996"/>
          </a:xfrm>
          <a:prstGeom prst="rect">
            <a:avLst/>
          </a:prstGeom>
          <a:solidFill>
            <a:srgbClr val="1F3864">
              <a:alpha val="488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TextBox 1010"/>
          <p:cNvSpPr txBox="1"/>
          <p:nvPr/>
        </p:nvSpPr>
        <p:spPr>
          <a:xfrm>
            <a:off x="294637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2" name="TextBox 1011"/>
          <p:cNvSpPr txBox="1"/>
          <p:nvPr/>
        </p:nvSpPr>
        <p:spPr>
          <a:xfrm>
            <a:off x="294637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3" name="Rectangle 1012"/>
          <p:cNvSpPr/>
          <p:nvPr/>
        </p:nvSpPr>
        <p:spPr>
          <a:xfrm>
            <a:off x="3299623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TextBox 1013"/>
          <p:cNvSpPr txBox="1"/>
          <p:nvPr/>
        </p:nvSpPr>
        <p:spPr>
          <a:xfrm>
            <a:off x="329362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5" name="TextBox 1014"/>
          <p:cNvSpPr txBox="1"/>
          <p:nvPr/>
        </p:nvSpPr>
        <p:spPr>
          <a:xfrm>
            <a:off x="329362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6" name="Rectangle 1015"/>
          <p:cNvSpPr/>
          <p:nvPr/>
        </p:nvSpPr>
        <p:spPr>
          <a:xfrm>
            <a:off x="3646872" y="1548024"/>
            <a:ext cx="335249" cy="250996"/>
          </a:xfrm>
          <a:prstGeom prst="rect">
            <a:avLst/>
          </a:prstGeom>
          <a:solidFill>
            <a:srgbClr val="1F3864">
              <a:alpha val="7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TextBox 1016"/>
          <p:cNvSpPr txBox="1"/>
          <p:nvPr/>
        </p:nvSpPr>
        <p:spPr>
          <a:xfrm>
            <a:off x="364087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8" name="TextBox 1017"/>
          <p:cNvSpPr txBox="1"/>
          <p:nvPr/>
        </p:nvSpPr>
        <p:spPr>
          <a:xfrm>
            <a:off x="364087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9" name="Rectangle 1018"/>
          <p:cNvSpPr/>
          <p:nvPr/>
        </p:nvSpPr>
        <p:spPr>
          <a:xfrm>
            <a:off x="3994121" y="1548024"/>
            <a:ext cx="335249" cy="250996"/>
          </a:xfrm>
          <a:prstGeom prst="rect">
            <a:avLst/>
          </a:prstGeom>
          <a:solidFill>
            <a:srgbClr val="1F3864">
              <a:alpha val="352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3988121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1" name="TextBox 1020"/>
          <p:cNvSpPr txBox="1"/>
          <p:nvPr/>
        </p:nvSpPr>
        <p:spPr>
          <a:xfrm>
            <a:off x="3988121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2" name="Rectangle 1021"/>
          <p:cNvSpPr/>
          <p:nvPr/>
        </p:nvSpPr>
        <p:spPr>
          <a:xfrm>
            <a:off x="4341370" y="1548024"/>
            <a:ext cx="335249" cy="250996"/>
          </a:xfrm>
          <a:prstGeom prst="rect">
            <a:avLst/>
          </a:prstGeom>
          <a:solidFill>
            <a:srgbClr val="1F3864">
              <a:alpha val="829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TextBox 1022"/>
          <p:cNvSpPr txBox="1"/>
          <p:nvPr/>
        </p:nvSpPr>
        <p:spPr>
          <a:xfrm>
            <a:off x="433537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4" name="TextBox 1023"/>
          <p:cNvSpPr txBox="1"/>
          <p:nvPr/>
        </p:nvSpPr>
        <p:spPr>
          <a:xfrm>
            <a:off x="433537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5" name="Rectangle 1024"/>
          <p:cNvSpPr/>
          <p:nvPr/>
        </p:nvSpPr>
        <p:spPr>
          <a:xfrm>
            <a:off x="4688619" y="1548024"/>
            <a:ext cx="335249" cy="250996"/>
          </a:xfrm>
          <a:prstGeom prst="rect">
            <a:avLst/>
          </a:prstGeom>
          <a:solidFill>
            <a:srgbClr val="1F3864">
              <a:alpha val="522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468261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7" name="TextBox 1026"/>
          <p:cNvSpPr txBox="1"/>
          <p:nvPr/>
        </p:nvSpPr>
        <p:spPr>
          <a:xfrm>
            <a:off x="468261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8" name="Rectangle 1027"/>
          <p:cNvSpPr/>
          <p:nvPr/>
        </p:nvSpPr>
        <p:spPr>
          <a:xfrm>
            <a:off x="5035868" y="1548024"/>
            <a:ext cx="335249" cy="250996"/>
          </a:xfrm>
          <a:prstGeom prst="rect">
            <a:avLst/>
          </a:prstGeom>
          <a:solidFill>
            <a:srgbClr val="1F3864">
              <a:alpha val="590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TextBox 1028"/>
          <p:cNvSpPr txBox="1"/>
          <p:nvPr/>
        </p:nvSpPr>
        <p:spPr>
          <a:xfrm>
            <a:off x="502986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0" name="TextBox 1029"/>
          <p:cNvSpPr txBox="1"/>
          <p:nvPr/>
        </p:nvSpPr>
        <p:spPr>
          <a:xfrm>
            <a:off x="502986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1" name="Rectangle 1030"/>
          <p:cNvSpPr/>
          <p:nvPr/>
        </p:nvSpPr>
        <p:spPr>
          <a:xfrm>
            <a:off x="5383117" y="1548024"/>
            <a:ext cx="335249" cy="250996"/>
          </a:xfrm>
          <a:prstGeom prst="rect">
            <a:avLst/>
          </a:prstGeom>
          <a:solidFill>
            <a:srgbClr val="1F3864">
              <a:alpha val="716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TextBox 1031"/>
          <p:cNvSpPr txBox="1"/>
          <p:nvPr/>
        </p:nvSpPr>
        <p:spPr>
          <a:xfrm>
            <a:off x="537711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3" name="TextBox 1032"/>
          <p:cNvSpPr txBox="1"/>
          <p:nvPr/>
        </p:nvSpPr>
        <p:spPr>
          <a:xfrm>
            <a:off x="537711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4" name="Rectangle 1033"/>
          <p:cNvSpPr/>
          <p:nvPr/>
        </p:nvSpPr>
        <p:spPr>
          <a:xfrm>
            <a:off x="5730366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572436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6" name="TextBox 1035"/>
          <p:cNvSpPr txBox="1"/>
          <p:nvPr/>
        </p:nvSpPr>
        <p:spPr>
          <a:xfrm>
            <a:off x="572436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7" name="TextBox 1036"/>
          <p:cNvSpPr txBox="1"/>
          <p:nvPr/>
        </p:nvSpPr>
        <p:spPr>
          <a:xfrm>
            <a:off x="202880" y="1805020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038" name="Rectangle 1037"/>
          <p:cNvSpPr/>
          <p:nvPr/>
        </p:nvSpPr>
        <p:spPr>
          <a:xfrm>
            <a:off x="868880" y="1811020"/>
            <a:ext cx="335249" cy="250996"/>
          </a:xfrm>
          <a:prstGeom prst="rect">
            <a:avLst/>
          </a:prstGeom>
          <a:solidFill>
            <a:srgbClr val="E67E22">
              <a:alpha val="427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86288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0" name="TextBox 1039"/>
          <p:cNvSpPr txBox="1"/>
          <p:nvPr/>
        </p:nvSpPr>
        <p:spPr>
          <a:xfrm>
            <a:off x="86288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1" name="Rectangle 1040"/>
          <p:cNvSpPr/>
          <p:nvPr/>
        </p:nvSpPr>
        <p:spPr>
          <a:xfrm>
            <a:off x="1216129" y="1811020"/>
            <a:ext cx="335249" cy="250996"/>
          </a:xfrm>
          <a:prstGeom prst="rect">
            <a:avLst/>
          </a:prstGeom>
          <a:solidFill>
            <a:srgbClr val="E67E22">
              <a:alpha val="644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121012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3" name="TextBox 1042"/>
          <p:cNvSpPr txBox="1"/>
          <p:nvPr/>
        </p:nvSpPr>
        <p:spPr>
          <a:xfrm>
            <a:off x="121012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4" name="Rectangle 1043"/>
          <p:cNvSpPr/>
          <p:nvPr/>
        </p:nvSpPr>
        <p:spPr>
          <a:xfrm>
            <a:off x="1563378" y="1811020"/>
            <a:ext cx="335249" cy="250996"/>
          </a:xfrm>
          <a:prstGeom prst="rect">
            <a:avLst/>
          </a:prstGeom>
          <a:solidFill>
            <a:srgbClr val="E67E22">
              <a:alpha val="624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TextBox 1044"/>
          <p:cNvSpPr txBox="1"/>
          <p:nvPr/>
        </p:nvSpPr>
        <p:spPr>
          <a:xfrm>
            <a:off x="155737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6" name="TextBox 1045"/>
          <p:cNvSpPr txBox="1"/>
          <p:nvPr/>
        </p:nvSpPr>
        <p:spPr>
          <a:xfrm>
            <a:off x="155737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7" name="Rectangle 1046"/>
          <p:cNvSpPr/>
          <p:nvPr/>
        </p:nvSpPr>
        <p:spPr>
          <a:xfrm>
            <a:off x="1910627" y="1811020"/>
            <a:ext cx="335249" cy="250996"/>
          </a:xfrm>
          <a:prstGeom prst="rect">
            <a:avLst/>
          </a:prstGeom>
          <a:solidFill>
            <a:srgbClr val="E67E22">
              <a:alpha val="496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TextBox 1047"/>
          <p:cNvSpPr txBox="1"/>
          <p:nvPr/>
        </p:nvSpPr>
        <p:spPr>
          <a:xfrm>
            <a:off x="190462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6.2M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9" name="TextBox 1048"/>
          <p:cNvSpPr txBox="1"/>
          <p:nvPr/>
        </p:nvSpPr>
        <p:spPr>
          <a:xfrm>
            <a:off x="190462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0" name="Rectangle 1049"/>
          <p:cNvSpPr/>
          <p:nvPr/>
        </p:nvSpPr>
        <p:spPr>
          <a:xfrm>
            <a:off x="2257876" y="1811020"/>
            <a:ext cx="335249" cy="250996"/>
          </a:xfrm>
          <a:prstGeom prst="rect">
            <a:avLst/>
          </a:prstGeom>
          <a:solidFill>
            <a:srgbClr val="E67E22">
              <a:alpha val="537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TextBox 1050"/>
          <p:cNvSpPr txBox="1"/>
          <p:nvPr/>
        </p:nvSpPr>
        <p:spPr>
          <a:xfrm>
            <a:off x="225187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7.2M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2" name="TextBox 1051"/>
          <p:cNvSpPr txBox="1"/>
          <p:nvPr/>
        </p:nvSpPr>
        <p:spPr>
          <a:xfrm>
            <a:off x="225187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3" name="Rectangle 1052"/>
          <p:cNvSpPr/>
          <p:nvPr/>
        </p:nvSpPr>
        <p:spPr>
          <a:xfrm>
            <a:off x="2605125" y="1811020"/>
            <a:ext cx="335249" cy="250996"/>
          </a:xfrm>
          <a:prstGeom prst="rect">
            <a:avLst/>
          </a:prstGeom>
          <a:solidFill>
            <a:srgbClr val="E67E22">
              <a:alpha val="584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TextBox 1053"/>
          <p:cNvSpPr txBox="1"/>
          <p:nvPr/>
        </p:nvSpPr>
        <p:spPr>
          <a:xfrm>
            <a:off x="259912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5" name="TextBox 1054"/>
          <p:cNvSpPr txBox="1"/>
          <p:nvPr/>
        </p:nvSpPr>
        <p:spPr>
          <a:xfrm>
            <a:off x="259912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6" name="Rectangle 1055"/>
          <p:cNvSpPr/>
          <p:nvPr/>
        </p:nvSpPr>
        <p:spPr>
          <a:xfrm>
            <a:off x="2952374" y="1811020"/>
            <a:ext cx="335249" cy="250996"/>
          </a:xfrm>
          <a:prstGeom prst="rect">
            <a:avLst/>
          </a:prstGeom>
          <a:solidFill>
            <a:srgbClr val="E67E22">
              <a:alpha val="630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TextBox 1056"/>
          <p:cNvSpPr txBox="1"/>
          <p:nvPr/>
        </p:nvSpPr>
        <p:spPr>
          <a:xfrm>
            <a:off x="294637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8" name="TextBox 1057"/>
          <p:cNvSpPr txBox="1"/>
          <p:nvPr/>
        </p:nvSpPr>
        <p:spPr>
          <a:xfrm>
            <a:off x="294637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9" name="Rectangle 1058"/>
          <p:cNvSpPr/>
          <p:nvPr/>
        </p:nvSpPr>
        <p:spPr>
          <a:xfrm>
            <a:off x="3299623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TextBox 1059"/>
          <p:cNvSpPr txBox="1"/>
          <p:nvPr/>
        </p:nvSpPr>
        <p:spPr>
          <a:xfrm>
            <a:off x="329362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18.7M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1" name="TextBox 1060"/>
          <p:cNvSpPr txBox="1"/>
          <p:nvPr/>
        </p:nvSpPr>
        <p:spPr>
          <a:xfrm>
            <a:off x="329362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2" name="Rectangle 1061"/>
          <p:cNvSpPr/>
          <p:nvPr/>
        </p:nvSpPr>
        <p:spPr>
          <a:xfrm>
            <a:off x="3646872" y="1811020"/>
            <a:ext cx="335249" cy="250996"/>
          </a:xfrm>
          <a:prstGeom prst="rect">
            <a:avLst/>
          </a:prstGeom>
          <a:solidFill>
            <a:srgbClr val="E67E22">
              <a:alpha val="745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TextBox 1062"/>
          <p:cNvSpPr txBox="1"/>
          <p:nvPr/>
        </p:nvSpPr>
        <p:spPr>
          <a:xfrm>
            <a:off x="364087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4" name="TextBox 1063"/>
          <p:cNvSpPr txBox="1"/>
          <p:nvPr/>
        </p:nvSpPr>
        <p:spPr>
          <a:xfrm>
            <a:off x="364087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5" name="Rectangle 1064"/>
          <p:cNvSpPr/>
          <p:nvPr/>
        </p:nvSpPr>
        <p:spPr>
          <a:xfrm>
            <a:off x="3994121" y="1811020"/>
            <a:ext cx="335249" cy="250996"/>
          </a:xfrm>
          <a:prstGeom prst="rect">
            <a:avLst/>
          </a:prstGeom>
          <a:solidFill>
            <a:srgbClr val="E67E22">
              <a:alpha val="456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TextBox 1065"/>
          <p:cNvSpPr txBox="1"/>
          <p:nvPr/>
        </p:nvSpPr>
        <p:spPr>
          <a:xfrm>
            <a:off x="3988121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67" name="TextBox 1066"/>
          <p:cNvSpPr txBox="1"/>
          <p:nvPr/>
        </p:nvSpPr>
        <p:spPr>
          <a:xfrm>
            <a:off x="3988121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68" name="Rectangle 1067"/>
          <p:cNvSpPr/>
          <p:nvPr/>
        </p:nvSpPr>
        <p:spPr>
          <a:xfrm>
            <a:off x="4341370" y="1811020"/>
            <a:ext cx="335249" cy="250996"/>
          </a:xfrm>
          <a:prstGeom prst="rect">
            <a:avLst/>
          </a:prstGeom>
          <a:solidFill>
            <a:srgbClr val="E67E22">
              <a:alpha val="4979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433537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6.2M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70" name="TextBox 1069"/>
          <p:cNvSpPr txBox="1"/>
          <p:nvPr/>
        </p:nvSpPr>
        <p:spPr>
          <a:xfrm>
            <a:off x="433537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71" name="Rectangle 1070"/>
          <p:cNvSpPr/>
          <p:nvPr/>
        </p:nvSpPr>
        <p:spPr>
          <a:xfrm>
            <a:off x="4688619" y="1811020"/>
            <a:ext cx="335249" cy="250996"/>
          </a:xfrm>
          <a:prstGeom prst="rect">
            <a:avLst/>
          </a:prstGeom>
          <a:solidFill>
            <a:srgbClr val="E67E22">
              <a:alpha val="5866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TextBox 1071"/>
          <p:cNvSpPr txBox="1"/>
          <p:nvPr/>
        </p:nvSpPr>
        <p:spPr>
          <a:xfrm>
            <a:off x="468261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3" name="TextBox 1072"/>
          <p:cNvSpPr txBox="1"/>
          <p:nvPr/>
        </p:nvSpPr>
        <p:spPr>
          <a:xfrm>
            <a:off x="468261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4" name="Rectangle 1073"/>
          <p:cNvSpPr/>
          <p:nvPr/>
        </p:nvSpPr>
        <p:spPr>
          <a:xfrm>
            <a:off x="5035868" y="1811020"/>
            <a:ext cx="335249" cy="250996"/>
          </a:xfrm>
          <a:prstGeom prst="rect">
            <a:avLst/>
          </a:prstGeom>
          <a:solidFill>
            <a:srgbClr val="E67E22">
              <a:alpha val="5635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502986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6" name="TextBox 1075"/>
          <p:cNvSpPr txBox="1"/>
          <p:nvPr/>
        </p:nvSpPr>
        <p:spPr>
          <a:xfrm>
            <a:off x="502986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7" name="Rectangle 1076"/>
          <p:cNvSpPr/>
          <p:nvPr/>
        </p:nvSpPr>
        <p:spPr>
          <a:xfrm>
            <a:off x="5383117" y="1811020"/>
            <a:ext cx="335249" cy="250996"/>
          </a:xfrm>
          <a:prstGeom prst="rect">
            <a:avLst/>
          </a:prstGeom>
          <a:solidFill>
            <a:srgbClr val="E67E22">
              <a:alpha val="395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537711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79" name="TextBox 1078"/>
          <p:cNvSpPr txBox="1"/>
          <p:nvPr/>
        </p:nvSpPr>
        <p:spPr>
          <a:xfrm>
            <a:off x="537711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80" name="Rectangle 1079"/>
          <p:cNvSpPr/>
          <p:nvPr/>
        </p:nvSpPr>
        <p:spPr>
          <a:xfrm>
            <a:off x="5730366" y="1811020"/>
            <a:ext cx="335249" cy="250996"/>
          </a:xfrm>
          <a:prstGeom prst="rect">
            <a:avLst/>
          </a:prstGeom>
          <a:solidFill>
            <a:srgbClr val="E67E22">
              <a:alpha val="4495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TextBox 1080"/>
          <p:cNvSpPr txBox="1"/>
          <p:nvPr/>
        </p:nvSpPr>
        <p:spPr>
          <a:xfrm>
            <a:off x="572436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82" name="TextBox 1081"/>
          <p:cNvSpPr txBox="1"/>
          <p:nvPr/>
        </p:nvSpPr>
        <p:spPr>
          <a:xfrm>
            <a:off x="572436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83" name="TextBox 1082"/>
          <p:cNvSpPr txBox="1"/>
          <p:nvPr/>
        </p:nvSpPr>
        <p:spPr>
          <a:xfrm>
            <a:off x="202880" y="2068016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084" name="Rectangle 1083"/>
          <p:cNvSpPr/>
          <p:nvPr/>
        </p:nvSpPr>
        <p:spPr>
          <a:xfrm>
            <a:off x="868880" y="2074016"/>
            <a:ext cx="335249" cy="250996"/>
          </a:xfrm>
          <a:prstGeom prst="rect">
            <a:avLst/>
          </a:prstGeom>
          <a:solidFill>
            <a:srgbClr val="1A7A3F">
              <a:alpha val="551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TextBox 1084"/>
          <p:cNvSpPr txBox="1"/>
          <p:nvPr/>
        </p:nvSpPr>
        <p:spPr>
          <a:xfrm>
            <a:off x="86288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6" name="TextBox 1085"/>
          <p:cNvSpPr txBox="1"/>
          <p:nvPr/>
        </p:nvSpPr>
        <p:spPr>
          <a:xfrm>
            <a:off x="86288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7" name="Rectangle 1086"/>
          <p:cNvSpPr/>
          <p:nvPr/>
        </p:nvSpPr>
        <p:spPr>
          <a:xfrm>
            <a:off x="1216129" y="2074016"/>
            <a:ext cx="335249" cy="250996"/>
          </a:xfrm>
          <a:prstGeom prst="rect">
            <a:avLst/>
          </a:prstGeom>
          <a:solidFill>
            <a:srgbClr val="1A7A3F">
              <a:alpha val="7272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TextBox 1087"/>
          <p:cNvSpPr txBox="1"/>
          <p:nvPr/>
        </p:nvSpPr>
        <p:spPr>
          <a:xfrm>
            <a:off x="121012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9" name="TextBox 1088"/>
          <p:cNvSpPr txBox="1"/>
          <p:nvPr/>
        </p:nvSpPr>
        <p:spPr>
          <a:xfrm>
            <a:off x="121012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0" name="Rectangle 1089"/>
          <p:cNvSpPr/>
          <p:nvPr/>
        </p:nvSpPr>
        <p:spPr>
          <a:xfrm>
            <a:off x="1563378" y="2074016"/>
            <a:ext cx="335249" cy="250996"/>
          </a:xfrm>
          <a:prstGeom prst="rect">
            <a:avLst/>
          </a:prstGeom>
          <a:solidFill>
            <a:srgbClr val="1A7A3F">
              <a:alpha val="836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TextBox 1090"/>
          <p:cNvSpPr txBox="1"/>
          <p:nvPr/>
        </p:nvSpPr>
        <p:spPr>
          <a:xfrm>
            <a:off x="155737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2" name="TextBox 1091"/>
          <p:cNvSpPr txBox="1"/>
          <p:nvPr/>
        </p:nvSpPr>
        <p:spPr>
          <a:xfrm>
            <a:off x="155737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3" name="Rectangle 1092"/>
          <p:cNvSpPr/>
          <p:nvPr/>
        </p:nvSpPr>
        <p:spPr>
          <a:xfrm>
            <a:off x="1910627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TextBox 1093"/>
          <p:cNvSpPr txBox="1"/>
          <p:nvPr/>
        </p:nvSpPr>
        <p:spPr>
          <a:xfrm>
            <a:off x="190462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5" name="TextBox 1094"/>
          <p:cNvSpPr txBox="1"/>
          <p:nvPr/>
        </p:nvSpPr>
        <p:spPr>
          <a:xfrm>
            <a:off x="190462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6" name="Rectangle 1095"/>
          <p:cNvSpPr/>
          <p:nvPr/>
        </p:nvSpPr>
        <p:spPr>
          <a:xfrm>
            <a:off x="2257876" y="2074016"/>
            <a:ext cx="335249" cy="250996"/>
          </a:xfrm>
          <a:prstGeom prst="rect">
            <a:avLst/>
          </a:prstGeom>
          <a:solidFill>
            <a:srgbClr val="1A7A3F">
              <a:alpha val="510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TextBox 1096"/>
          <p:cNvSpPr txBox="1"/>
          <p:nvPr/>
        </p:nvSpPr>
        <p:spPr>
          <a:xfrm>
            <a:off x="225187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098" name="TextBox 1097"/>
          <p:cNvSpPr txBox="1"/>
          <p:nvPr/>
        </p:nvSpPr>
        <p:spPr>
          <a:xfrm>
            <a:off x="225187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099" name="Rectangle 1098"/>
          <p:cNvSpPr/>
          <p:nvPr/>
        </p:nvSpPr>
        <p:spPr>
          <a:xfrm>
            <a:off x="2605125" y="2074016"/>
            <a:ext cx="335249" cy="250996"/>
          </a:xfrm>
          <a:prstGeom prst="rect">
            <a:avLst/>
          </a:prstGeom>
          <a:solidFill>
            <a:srgbClr val="1A7A3F">
              <a:alpha val="54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TextBox 1099"/>
          <p:cNvSpPr txBox="1"/>
          <p:nvPr/>
        </p:nvSpPr>
        <p:spPr>
          <a:xfrm>
            <a:off x="259912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01" name="TextBox 1100"/>
          <p:cNvSpPr txBox="1"/>
          <p:nvPr/>
        </p:nvSpPr>
        <p:spPr>
          <a:xfrm>
            <a:off x="259912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02" name="Rectangle 1101"/>
          <p:cNvSpPr/>
          <p:nvPr/>
        </p:nvSpPr>
        <p:spPr>
          <a:xfrm>
            <a:off x="2952374" y="2074016"/>
            <a:ext cx="335249" cy="250996"/>
          </a:xfrm>
          <a:prstGeom prst="rect">
            <a:avLst/>
          </a:prstGeom>
          <a:solidFill>
            <a:srgbClr val="1A7A3F">
              <a:alpha val="587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294637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4" name="TextBox 1103"/>
          <p:cNvSpPr txBox="1"/>
          <p:nvPr/>
        </p:nvSpPr>
        <p:spPr>
          <a:xfrm>
            <a:off x="294637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5" name="Rectangle 1104"/>
          <p:cNvSpPr/>
          <p:nvPr/>
        </p:nvSpPr>
        <p:spPr>
          <a:xfrm>
            <a:off x="3299623" y="2074016"/>
            <a:ext cx="335249" cy="250996"/>
          </a:xfrm>
          <a:prstGeom prst="rect">
            <a:avLst/>
          </a:prstGeom>
          <a:solidFill>
            <a:srgbClr val="1A7A3F">
              <a:alpha val="7594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TextBox 1105"/>
          <p:cNvSpPr txBox="1"/>
          <p:nvPr/>
        </p:nvSpPr>
        <p:spPr>
          <a:xfrm>
            <a:off x="329362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7" name="TextBox 1106"/>
          <p:cNvSpPr txBox="1"/>
          <p:nvPr/>
        </p:nvSpPr>
        <p:spPr>
          <a:xfrm>
            <a:off x="329362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8" name="Rectangle 1107"/>
          <p:cNvSpPr/>
          <p:nvPr/>
        </p:nvSpPr>
        <p:spPr>
          <a:xfrm>
            <a:off x="3646872" y="2074016"/>
            <a:ext cx="335249" cy="250996"/>
          </a:xfrm>
          <a:prstGeom prst="rect">
            <a:avLst/>
          </a:prstGeom>
          <a:solidFill>
            <a:srgbClr val="1A7A3F">
              <a:alpha val="419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TextBox 1108"/>
          <p:cNvSpPr txBox="1"/>
          <p:nvPr/>
        </p:nvSpPr>
        <p:spPr>
          <a:xfrm>
            <a:off x="364087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1.7M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10" name="TextBox 1109"/>
          <p:cNvSpPr txBox="1"/>
          <p:nvPr/>
        </p:nvSpPr>
        <p:spPr>
          <a:xfrm>
            <a:off x="364087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11" name="Rectangle 1110"/>
          <p:cNvSpPr/>
          <p:nvPr/>
        </p:nvSpPr>
        <p:spPr>
          <a:xfrm>
            <a:off x="3994121" y="2074016"/>
            <a:ext cx="335249" cy="250996"/>
          </a:xfrm>
          <a:prstGeom prst="rect">
            <a:avLst/>
          </a:prstGeom>
          <a:solidFill>
            <a:srgbClr val="1A7A3F">
              <a:alpha val="4143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3988121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1.7M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13" name="TextBox 1112"/>
          <p:cNvSpPr txBox="1"/>
          <p:nvPr/>
        </p:nvSpPr>
        <p:spPr>
          <a:xfrm>
            <a:off x="3988121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14" name="Rectangle 1113"/>
          <p:cNvSpPr/>
          <p:nvPr/>
        </p:nvSpPr>
        <p:spPr>
          <a:xfrm>
            <a:off x="4341370" y="2074016"/>
            <a:ext cx="335249" cy="250996"/>
          </a:xfrm>
          <a:prstGeom prst="rect">
            <a:avLst/>
          </a:prstGeom>
          <a:solidFill>
            <a:srgbClr val="1A7A3F">
              <a:alpha val="562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TextBox 1114"/>
          <p:cNvSpPr txBox="1"/>
          <p:nvPr/>
        </p:nvSpPr>
        <p:spPr>
          <a:xfrm>
            <a:off x="433537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6" name="TextBox 1115"/>
          <p:cNvSpPr txBox="1"/>
          <p:nvPr/>
        </p:nvSpPr>
        <p:spPr>
          <a:xfrm>
            <a:off x="433537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7" name="Rectangle 1116"/>
          <p:cNvSpPr/>
          <p:nvPr/>
        </p:nvSpPr>
        <p:spPr>
          <a:xfrm>
            <a:off x="4688619" y="2074016"/>
            <a:ext cx="335249" cy="250996"/>
          </a:xfrm>
          <a:prstGeom prst="rect">
            <a:avLst/>
          </a:prstGeom>
          <a:solidFill>
            <a:srgbClr val="1A7A3F">
              <a:alpha val="611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TextBox 1117"/>
          <p:cNvSpPr txBox="1"/>
          <p:nvPr/>
        </p:nvSpPr>
        <p:spPr>
          <a:xfrm>
            <a:off x="468261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9" name="TextBox 1118"/>
          <p:cNvSpPr txBox="1"/>
          <p:nvPr/>
        </p:nvSpPr>
        <p:spPr>
          <a:xfrm>
            <a:off x="468261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0" name="Rectangle 1119"/>
          <p:cNvSpPr/>
          <p:nvPr/>
        </p:nvSpPr>
        <p:spPr>
          <a:xfrm>
            <a:off x="5035868" y="2074016"/>
            <a:ext cx="335249" cy="250996"/>
          </a:xfrm>
          <a:prstGeom prst="rect">
            <a:avLst/>
          </a:prstGeom>
          <a:solidFill>
            <a:srgbClr val="1A7A3F">
              <a:alpha val="603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TextBox 1120"/>
          <p:cNvSpPr txBox="1"/>
          <p:nvPr/>
        </p:nvSpPr>
        <p:spPr>
          <a:xfrm>
            <a:off x="502986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2" name="TextBox 1121"/>
          <p:cNvSpPr txBox="1"/>
          <p:nvPr/>
        </p:nvSpPr>
        <p:spPr>
          <a:xfrm>
            <a:off x="502986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3" name="Rectangle 1122"/>
          <p:cNvSpPr/>
          <p:nvPr/>
        </p:nvSpPr>
        <p:spPr>
          <a:xfrm>
            <a:off x="5383117" y="2074016"/>
            <a:ext cx="335249" cy="250996"/>
          </a:xfrm>
          <a:prstGeom prst="rect">
            <a:avLst/>
          </a:prstGeom>
          <a:solidFill>
            <a:srgbClr val="1A7A3F">
              <a:alpha val="403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TextBox 1123"/>
          <p:cNvSpPr txBox="1"/>
          <p:nvPr/>
        </p:nvSpPr>
        <p:spPr>
          <a:xfrm>
            <a:off x="537711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1.5M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25" name="TextBox 1124"/>
          <p:cNvSpPr txBox="1"/>
          <p:nvPr/>
        </p:nvSpPr>
        <p:spPr>
          <a:xfrm>
            <a:off x="537711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26" name="Rectangle 1125"/>
          <p:cNvSpPr/>
          <p:nvPr/>
        </p:nvSpPr>
        <p:spPr>
          <a:xfrm>
            <a:off x="5730366" y="2074016"/>
            <a:ext cx="335249" cy="250996"/>
          </a:xfrm>
          <a:prstGeom prst="rect">
            <a:avLst/>
          </a:prstGeom>
          <a:solidFill>
            <a:srgbClr val="1A7A3F">
              <a:alpha val="473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TextBox 1126"/>
          <p:cNvSpPr txBox="1"/>
          <p:nvPr/>
        </p:nvSpPr>
        <p:spPr>
          <a:xfrm>
            <a:off x="572436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28" name="TextBox 1127"/>
          <p:cNvSpPr txBox="1"/>
          <p:nvPr/>
        </p:nvSpPr>
        <p:spPr>
          <a:xfrm>
            <a:off x="572436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29" name="TextBox 1128"/>
          <p:cNvSpPr txBox="1"/>
          <p:nvPr/>
        </p:nvSpPr>
        <p:spPr>
          <a:xfrm>
            <a:off x="202880" y="233101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130" name="Rectangle 1129"/>
          <p:cNvSpPr/>
          <p:nvPr/>
        </p:nvSpPr>
        <p:spPr>
          <a:xfrm>
            <a:off x="1216129" y="2337012"/>
            <a:ext cx="335249" cy="250996"/>
          </a:xfrm>
          <a:prstGeom prst="rect">
            <a:avLst/>
          </a:prstGeom>
          <a:solidFill>
            <a:srgbClr val="94A3B8">
              <a:alpha val="264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TextBox 1130"/>
          <p:cNvSpPr txBox="1"/>
          <p:nvPr/>
        </p:nvSpPr>
        <p:spPr>
          <a:xfrm>
            <a:off x="1210129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2" name="TextBox 1131"/>
          <p:cNvSpPr txBox="1"/>
          <p:nvPr/>
        </p:nvSpPr>
        <p:spPr>
          <a:xfrm>
            <a:off x="1210129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3" name="Rectangle 1132"/>
          <p:cNvSpPr/>
          <p:nvPr/>
        </p:nvSpPr>
        <p:spPr>
          <a:xfrm>
            <a:off x="1910627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TextBox 1133"/>
          <p:cNvSpPr txBox="1"/>
          <p:nvPr/>
        </p:nvSpPr>
        <p:spPr>
          <a:xfrm>
            <a:off x="1904627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35" name="TextBox 1134"/>
          <p:cNvSpPr txBox="1"/>
          <p:nvPr/>
        </p:nvSpPr>
        <p:spPr>
          <a:xfrm>
            <a:off x="1904627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36" name="Rectangle 1135"/>
          <p:cNvSpPr/>
          <p:nvPr/>
        </p:nvSpPr>
        <p:spPr>
          <a:xfrm>
            <a:off x="2605125" y="2337012"/>
            <a:ext cx="335249" cy="250996"/>
          </a:xfrm>
          <a:prstGeom prst="rect">
            <a:avLst/>
          </a:prstGeom>
          <a:solidFill>
            <a:srgbClr val="94A3B8">
              <a:alpha val="297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TextBox 1136"/>
          <p:cNvSpPr txBox="1"/>
          <p:nvPr/>
        </p:nvSpPr>
        <p:spPr>
          <a:xfrm>
            <a:off x="2599125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8" name="TextBox 1137"/>
          <p:cNvSpPr txBox="1"/>
          <p:nvPr/>
        </p:nvSpPr>
        <p:spPr>
          <a:xfrm>
            <a:off x="2599125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9" name="Rectangle 1138"/>
          <p:cNvSpPr/>
          <p:nvPr/>
        </p:nvSpPr>
        <p:spPr>
          <a:xfrm>
            <a:off x="3299623" y="2337012"/>
            <a:ext cx="335249" cy="250996"/>
          </a:xfrm>
          <a:prstGeom prst="rect">
            <a:avLst/>
          </a:prstGeom>
          <a:solidFill>
            <a:srgbClr val="94A3B8">
              <a:alpha val="2503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TextBox 1139"/>
          <p:cNvSpPr txBox="1"/>
          <p:nvPr/>
        </p:nvSpPr>
        <p:spPr>
          <a:xfrm>
            <a:off x="3293623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1" name="TextBox 1140"/>
          <p:cNvSpPr txBox="1"/>
          <p:nvPr/>
        </p:nvSpPr>
        <p:spPr>
          <a:xfrm>
            <a:off x="3293623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2" name="Rectangle 1141"/>
          <p:cNvSpPr/>
          <p:nvPr/>
        </p:nvSpPr>
        <p:spPr>
          <a:xfrm>
            <a:off x="3646872" y="2337012"/>
            <a:ext cx="335249" cy="250996"/>
          </a:xfrm>
          <a:prstGeom prst="rect">
            <a:avLst/>
          </a:prstGeom>
          <a:solidFill>
            <a:srgbClr val="94A3B8">
              <a:alpha val="251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TextBox 1142"/>
          <p:cNvSpPr txBox="1"/>
          <p:nvPr/>
        </p:nvSpPr>
        <p:spPr>
          <a:xfrm>
            <a:off x="3640872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4" name="TextBox 1143"/>
          <p:cNvSpPr txBox="1"/>
          <p:nvPr/>
        </p:nvSpPr>
        <p:spPr>
          <a:xfrm>
            <a:off x="3640872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5" name="Rectangle 1144"/>
          <p:cNvSpPr/>
          <p:nvPr/>
        </p:nvSpPr>
        <p:spPr>
          <a:xfrm>
            <a:off x="4688619" y="2337012"/>
            <a:ext cx="335249" cy="250996"/>
          </a:xfrm>
          <a:prstGeom prst="rect">
            <a:avLst/>
          </a:prstGeom>
          <a:solidFill>
            <a:srgbClr val="94A3B8">
              <a:alpha val="313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TextBox 1145"/>
          <p:cNvSpPr txBox="1"/>
          <p:nvPr/>
        </p:nvSpPr>
        <p:spPr>
          <a:xfrm>
            <a:off x="4682619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7" name="TextBox 1146"/>
          <p:cNvSpPr txBox="1"/>
          <p:nvPr/>
        </p:nvSpPr>
        <p:spPr>
          <a:xfrm>
            <a:off x="4682619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8" name="Rectangle 1147"/>
          <p:cNvSpPr/>
          <p:nvPr/>
        </p:nvSpPr>
        <p:spPr>
          <a:xfrm>
            <a:off x="5035868" y="2337012"/>
            <a:ext cx="335249" cy="250996"/>
          </a:xfrm>
          <a:prstGeom prst="rect">
            <a:avLst/>
          </a:prstGeom>
          <a:solidFill>
            <a:srgbClr val="94A3B8">
              <a:alpha val="2532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TextBox 1148"/>
          <p:cNvSpPr txBox="1"/>
          <p:nvPr/>
        </p:nvSpPr>
        <p:spPr>
          <a:xfrm>
            <a:off x="5029868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50" name="TextBox 1149"/>
          <p:cNvSpPr txBox="1"/>
          <p:nvPr/>
        </p:nvSpPr>
        <p:spPr>
          <a:xfrm>
            <a:off x="5029868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51" name="TextBox 1150"/>
          <p:cNvSpPr txBox="1"/>
          <p:nvPr/>
        </p:nvSpPr>
        <p:spPr>
          <a:xfrm>
            <a:off x="202880" y="259400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152" name="Rectangle 1151"/>
          <p:cNvSpPr/>
          <p:nvPr/>
        </p:nvSpPr>
        <p:spPr>
          <a:xfrm>
            <a:off x="4341370" y="2600008"/>
            <a:ext cx="335249" cy="250996"/>
          </a:xfrm>
          <a:prstGeom prst="rect">
            <a:avLst/>
          </a:prstGeom>
          <a:solidFill>
            <a:srgbClr val="8E44AD">
              <a:alpha val="425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TextBox 1152"/>
          <p:cNvSpPr txBox="1"/>
          <p:nvPr/>
        </p:nvSpPr>
        <p:spPr>
          <a:xfrm>
            <a:off x="4335370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154" name="TextBox 1153"/>
          <p:cNvSpPr txBox="1"/>
          <p:nvPr/>
        </p:nvSpPr>
        <p:spPr>
          <a:xfrm>
            <a:off x="4335370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155" name="Rectangle 1154"/>
          <p:cNvSpPr/>
          <p:nvPr/>
        </p:nvSpPr>
        <p:spPr>
          <a:xfrm>
            <a:off x="5730366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TextBox 1155"/>
          <p:cNvSpPr txBox="1"/>
          <p:nvPr/>
        </p:nvSpPr>
        <p:spPr>
          <a:xfrm>
            <a:off x="5724366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57" name="TextBox 1156"/>
          <p:cNvSpPr txBox="1"/>
          <p:nvPr/>
        </p:nvSpPr>
        <p:spPr>
          <a:xfrm>
            <a:off x="5724366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58" name="TextBox 1157"/>
          <p:cNvSpPr txBox="1"/>
          <p:nvPr/>
        </p:nvSpPr>
        <p:spPr>
          <a:xfrm>
            <a:off x="202880" y="285700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159" name="Rectangle 1158"/>
          <p:cNvSpPr/>
          <p:nvPr/>
        </p:nvSpPr>
        <p:spPr>
          <a:xfrm>
            <a:off x="86888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TextBox 1159"/>
          <p:cNvSpPr txBox="1"/>
          <p:nvPr/>
        </p:nvSpPr>
        <p:spPr>
          <a:xfrm>
            <a:off x="86288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9.6M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1" name="TextBox 1160"/>
          <p:cNvSpPr txBox="1"/>
          <p:nvPr/>
        </p:nvSpPr>
        <p:spPr>
          <a:xfrm>
            <a:off x="86288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2" name="Rectangle 1161"/>
          <p:cNvSpPr/>
          <p:nvPr/>
        </p:nvSpPr>
        <p:spPr>
          <a:xfrm>
            <a:off x="121612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TextBox 1162"/>
          <p:cNvSpPr txBox="1"/>
          <p:nvPr/>
        </p:nvSpPr>
        <p:spPr>
          <a:xfrm>
            <a:off x="121012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18.4M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4" name="TextBox 1163"/>
          <p:cNvSpPr txBox="1"/>
          <p:nvPr/>
        </p:nvSpPr>
        <p:spPr>
          <a:xfrm>
            <a:off x="121012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5" name="Rectangle 1164"/>
          <p:cNvSpPr/>
          <p:nvPr/>
        </p:nvSpPr>
        <p:spPr>
          <a:xfrm>
            <a:off x="156337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TextBox 1165"/>
          <p:cNvSpPr txBox="1"/>
          <p:nvPr/>
        </p:nvSpPr>
        <p:spPr>
          <a:xfrm>
            <a:off x="155737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7" name="TextBox 1166"/>
          <p:cNvSpPr txBox="1"/>
          <p:nvPr/>
        </p:nvSpPr>
        <p:spPr>
          <a:xfrm>
            <a:off x="155737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38件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8" name="Rectangle 1167"/>
          <p:cNvSpPr/>
          <p:nvPr/>
        </p:nvSpPr>
        <p:spPr>
          <a:xfrm>
            <a:off x="191062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TextBox 1168"/>
          <p:cNvSpPr txBox="1"/>
          <p:nvPr/>
        </p:nvSpPr>
        <p:spPr>
          <a:xfrm>
            <a:off x="190462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25.3M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0" name="TextBox 1169"/>
          <p:cNvSpPr txBox="1"/>
          <p:nvPr/>
        </p:nvSpPr>
        <p:spPr>
          <a:xfrm>
            <a:off x="190462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1" name="Rectangle 1170"/>
          <p:cNvSpPr/>
          <p:nvPr/>
        </p:nvSpPr>
        <p:spPr>
          <a:xfrm>
            <a:off x="225787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TextBox 1171"/>
          <p:cNvSpPr txBox="1"/>
          <p:nvPr/>
        </p:nvSpPr>
        <p:spPr>
          <a:xfrm>
            <a:off x="225187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3" name="TextBox 1172"/>
          <p:cNvSpPr txBox="1"/>
          <p:nvPr/>
        </p:nvSpPr>
        <p:spPr>
          <a:xfrm>
            <a:off x="225187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4" name="Rectangle 1173"/>
          <p:cNvSpPr/>
          <p:nvPr/>
        </p:nvSpPr>
        <p:spPr>
          <a:xfrm>
            <a:off x="260512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TextBox 1174"/>
          <p:cNvSpPr txBox="1"/>
          <p:nvPr/>
        </p:nvSpPr>
        <p:spPr>
          <a:xfrm>
            <a:off x="259912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22.8M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6" name="TextBox 1175"/>
          <p:cNvSpPr txBox="1"/>
          <p:nvPr/>
        </p:nvSpPr>
        <p:spPr>
          <a:xfrm>
            <a:off x="259912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7" name="Rectangle 1176"/>
          <p:cNvSpPr/>
          <p:nvPr/>
        </p:nvSpPr>
        <p:spPr>
          <a:xfrm>
            <a:off x="295237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TextBox 1177"/>
          <p:cNvSpPr txBox="1"/>
          <p:nvPr/>
        </p:nvSpPr>
        <p:spPr>
          <a:xfrm>
            <a:off x="294637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9" name="TextBox 1178"/>
          <p:cNvSpPr txBox="1"/>
          <p:nvPr/>
        </p:nvSpPr>
        <p:spPr>
          <a:xfrm>
            <a:off x="294637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0" name="Rectangle 1179"/>
          <p:cNvSpPr/>
          <p:nvPr/>
        </p:nvSpPr>
        <p:spPr>
          <a:xfrm>
            <a:off x="329962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TextBox 1180"/>
          <p:cNvSpPr txBox="1"/>
          <p:nvPr/>
        </p:nvSpPr>
        <p:spPr>
          <a:xfrm>
            <a:off x="329362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29.6M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2" name="TextBox 1181"/>
          <p:cNvSpPr txBox="1"/>
          <p:nvPr/>
        </p:nvSpPr>
        <p:spPr>
          <a:xfrm>
            <a:off x="329362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76件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3" name="Rectangle 1182"/>
          <p:cNvSpPr/>
          <p:nvPr/>
        </p:nvSpPr>
        <p:spPr>
          <a:xfrm>
            <a:off x="364687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TextBox 1183"/>
          <p:cNvSpPr txBox="1"/>
          <p:nvPr/>
        </p:nvSpPr>
        <p:spPr>
          <a:xfrm>
            <a:off x="364087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22.5M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5" name="TextBox 1184"/>
          <p:cNvSpPr txBox="1"/>
          <p:nvPr/>
        </p:nvSpPr>
        <p:spPr>
          <a:xfrm>
            <a:off x="364087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6" name="Rectangle 1185"/>
          <p:cNvSpPr/>
          <p:nvPr/>
        </p:nvSpPr>
        <p:spPr>
          <a:xfrm>
            <a:off x="399412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3988121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9.7M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8" name="TextBox 1187"/>
          <p:cNvSpPr txBox="1"/>
          <p:nvPr/>
        </p:nvSpPr>
        <p:spPr>
          <a:xfrm>
            <a:off x="3988121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9" name="Rectangle 1188"/>
          <p:cNvSpPr/>
          <p:nvPr/>
        </p:nvSpPr>
        <p:spPr>
          <a:xfrm>
            <a:off x="434137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TextBox 1189"/>
          <p:cNvSpPr txBox="1"/>
          <p:nvPr/>
        </p:nvSpPr>
        <p:spPr>
          <a:xfrm>
            <a:off x="433537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16.7M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1" name="TextBox 1190"/>
          <p:cNvSpPr txBox="1"/>
          <p:nvPr/>
        </p:nvSpPr>
        <p:spPr>
          <a:xfrm>
            <a:off x="433537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2" name="Rectangle 1191"/>
          <p:cNvSpPr/>
          <p:nvPr/>
        </p:nvSpPr>
        <p:spPr>
          <a:xfrm>
            <a:off x="468861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TextBox 1192"/>
          <p:cNvSpPr txBox="1"/>
          <p:nvPr/>
        </p:nvSpPr>
        <p:spPr>
          <a:xfrm>
            <a:off x="468261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18.0M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4" name="TextBox 1193"/>
          <p:cNvSpPr txBox="1"/>
          <p:nvPr/>
        </p:nvSpPr>
        <p:spPr>
          <a:xfrm>
            <a:off x="468261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5" name="Rectangle 1194"/>
          <p:cNvSpPr/>
          <p:nvPr/>
        </p:nvSpPr>
        <p:spPr>
          <a:xfrm>
            <a:off x="503586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TextBox 1195"/>
          <p:cNvSpPr txBox="1"/>
          <p:nvPr/>
        </p:nvSpPr>
        <p:spPr>
          <a:xfrm>
            <a:off x="502986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7" name="TextBox 1196"/>
          <p:cNvSpPr txBox="1"/>
          <p:nvPr/>
        </p:nvSpPr>
        <p:spPr>
          <a:xfrm>
            <a:off x="502986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8" name="Rectangle 1197"/>
          <p:cNvSpPr/>
          <p:nvPr/>
        </p:nvSpPr>
        <p:spPr>
          <a:xfrm>
            <a:off x="538311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TextBox 1198"/>
          <p:cNvSpPr txBox="1"/>
          <p:nvPr/>
        </p:nvSpPr>
        <p:spPr>
          <a:xfrm>
            <a:off x="537711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200" name="TextBox 1199"/>
          <p:cNvSpPr txBox="1"/>
          <p:nvPr/>
        </p:nvSpPr>
        <p:spPr>
          <a:xfrm>
            <a:off x="537711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28件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201" name="Rectangle 1200"/>
          <p:cNvSpPr/>
          <p:nvPr/>
        </p:nvSpPr>
        <p:spPr>
          <a:xfrm>
            <a:off x="573036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TextBox 1201"/>
          <p:cNvSpPr txBox="1"/>
          <p:nvPr/>
        </p:nvSpPr>
        <p:spPr>
          <a:xfrm>
            <a:off x="572436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203" name="TextBox 1202"/>
          <p:cNvSpPr txBox="1"/>
          <p:nvPr/>
        </p:nvSpPr>
        <p:spPr>
          <a:xfrm>
            <a:off x="572436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204" name="Rectangle 1203"/>
          <p:cNvSpPr/>
          <p:nvPr/>
        </p:nvSpPr>
        <p:spPr>
          <a:xfrm>
            <a:off x="6163056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TextBox 1204"/>
          <p:cNvSpPr txBox="1"/>
          <p:nvPr/>
        </p:nvSpPr>
        <p:spPr>
          <a:xfrm>
            <a:off x="6243056" y="5600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R  周度签单业绩热力矩阵（APE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06" name="TextBox 1205"/>
          <p:cNvSpPr txBox="1"/>
          <p:nvPr/>
        </p:nvSpPr>
        <p:spPr>
          <a:xfrm>
            <a:off x="684305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7" name="TextBox 1206"/>
          <p:cNvSpPr txBox="1"/>
          <p:nvPr/>
        </p:nvSpPr>
        <p:spPr>
          <a:xfrm>
            <a:off x="719030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8" name="TextBox 1207"/>
          <p:cNvSpPr txBox="1"/>
          <p:nvPr/>
        </p:nvSpPr>
        <p:spPr>
          <a:xfrm>
            <a:off x="753755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9" name="TextBox 1208"/>
          <p:cNvSpPr txBox="1"/>
          <p:nvPr/>
        </p:nvSpPr>
        <p:spPr>
          <a:xfrm>
            <a:off x="788480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0" name="TextBox 1209"/>
          <p:cNvSpPr txBox="1"/>
          <p:nvPr/>
        </p:nvSpPr>
        <p:spPr>
          <a:xfrm>
            <a:off x="823205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1" name="TextBox 1210"/>
          <p:cNvSpPr txBox="1"/>
          <p:nvPr/>
        </p:nvSpPr>
        <p:spPr>
          <a:xfrm>
            <a:off x="8579301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2" name="TextBox 1211"/>
          <p:cNvSpPr txBox="1"/>
          <p:nvPr/>
        </p:nvSpPr>
        <p:spPr>
          <a:xfrm>
            <a:off x="892655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3" name="TextBox 1212"/>
          <p:cNvSpPr txBox="1"/>
          <p:nvPr/>
        </p:nvSpPr>
        <p:spPr>
          <a:xfrm>
            <a:off x="927379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4" name="TextBox 1213"/>
          <p:cNvSpPr txBox="1"/>
          <p:nvPr/>
        </p:nvSpPr>
        <p:spPr>
          <a:xfrm>
            <a:off x="962104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5" name="TextBox 1214"/>
          <p:cNvSpPr txBox="1"/>
          <p:nvPr/>
        </p:nvSpPr>
        <p:spPr>
          <a:xfrm>
            <a:off x="996829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6" name="TextBox 1215"/>
          <p:cNvSpPr txBox="1"/>
          <p:nvPr/>
        </p:nvSpPr>
        <p:spPr>
          <a:xfrm>
            <a:off x="1031554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7" name="TextBox 1216"/>
          <p:cNvSpPr txBox="1"/>
          <p:nvPr/>
        </p:nvSpPr>
        <p:spPr>
          <a:xfrm>
            <a:off x="1066279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8" name="TextBox 1217"/>
          <p:cNvSpPr txBox="1"/>
          <p:nvPr/>
        </p:nvSpPr>
        <p:spPr>
          <a:xfrm>
            <a:off x="1101004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9" name="TextBox 1218"/>
          <p:cNvSpPr txBox="1"/>
          <p:nvPr/>
        </p:nvSpPr>
        <p:spPr>
          <a:xfrm>
            <a:off x="1135729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W35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20" name="TextBox 1219"/>
          <p:cNvSpPr txBox="1"/>
          <p:nvPr/>
        </p:nvSpPr>
        <p:spPr>
          <a:xfrm>
            <a:off x="1170454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W36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21" name="TextBox 1220"/>
          <p:cNvSpPr txBox="1"/>
          <p:nvPr/>
        </p:nvSpPr>
        <p:spPr>
          <a:xfrm>
            <a:off x="6183056" y="101603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222" name="Rectangle 1221"/>
          <p:cNvSpPr/>
          <p:nvPr/>
        </p:nvSpPr>
        <p:spPr>
          <a:xfrm>
            <a:off x="6849056" y="1022032"/>
            <a:ext cx="335249" cy="250996"/>
          </a:xfrm>
          <a:prstGeom prst="rect">
            <a:avLst/>
          </a:prstGeom>
          <a:solidFill>
            <a:srgbClr val="2980B9">
              <a:alpha val="379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TextBox 1222"/>
          <p:cNvSpPr txBox="1"/>
          <p:nvPr/>
        </p:nvSpPr>
        <p:spPr>
          <a:xfrm>
            <a:off x="684305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4" name="TextBox 1223"/>
          <p:cNvSpPr txBox="1"/>
          <p:nvPr/>
        </p:nvSpPr>
        <p:spPr>
          <a:xfrm>
            <a:off x="684305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5" name="Rectangle 1224"/>
          <p:cNvSpPr/>
          <p:nvPr/>
        </p:nvSpPr>
        <p:spPr>
          <a:xfrm>
            <a:off x="7543554" y="1022032"/>
            <a:ext cx="335249" cy="250996"/>
          </a:xfrm>
          <a:prstGeom prst="rect">
            <a:avLst/>
          </a:prstGeom>
          <a:solidFill>
            <a:srgbClr val="2980B9">
              <a:alpha val="3778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TextBox 1225"/>
          <p:cNvSpPr txBox="1"/>
          <p:nvPr/>
        </p:nvSpPr>
        <p:spPr>
          <a:xfrm>
            <a:off x="753755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7" name="TextBox 1226"/>
          <p:cNvSpPr txBox="1"/>
          <p:nvPr/>
        </p:nvSpPr>
        <p:spPr>
          <a:xfrm>
            <a:off x="753755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8" name="Rectangle 1227"/>
          <p:cNvSpPr/>
          <p:nvPr/>
        </p:nvSpPr>
        <p:spPr>
          <a:xfrm>
            <a:off x="7890803" y="1022032"/>
            <a:ext cx="335249" cy="250996"/>
          </a:xfrm>
          <a:prstGeom prst="rect">
            <a:avLst/>
          </a:prstGeom>
          <a:solidFill>
            <a:srgbClr val="2980B9">
              <a:alpha val="5329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TextBox 1228"/>
          <p:cNvSpPr txBox="1"/>
          <p:nvPr/>
        </p:nvSpPr>
        <p:spPr>
          <a:xfrm>
            <a:off x="788480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0" name="TextBox 1229"/>
          <p:cNvSpPr txBox="1"/>
          <p:nvPr/>
        </p:nvSpPr>
        <p:spPr>
          <a:xfrm>
            <a:off x="788480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1" name="Rectangle 1230"/>
          <p:cNvSpPr/>
          <p:nvPr/>
        </p:nvSpPr>
        <p:spPr>
          <a:xfrm>
            <a:off x="8238052" y="1022032"/>
            <a:ext cx="335249" cy="250996"/>
          </a:xfrm>
          <a:prstGeom prst="rect">
            <a:avLst/>
          </a:prstGeom>
          <a:solidFill>
            <a:srgbClr val="2980B9">
              <a:alpha val="464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TextBox 1231"/>
          <p:cNvSpPr txBox="1"/>
          <p:nvPr/>
        </p:nvSpPr>
        <p:spPr>
          <a:xfrm>
            <a:off x="823205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3" name="TextBox 1232"/>
          <p:cNvSpPr txBox="1"/>
          <p:nvPr/>
        </p:nvSpPr>
        <p:spPr>
          <a:xfrm>
            <a:off x="823205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4" name="Rectangle 1233"/>
          <p:cNvSpPr/>
          <p:nvPr/>
        </p:nvSpPr>
        <p:spPr>
          <a:xfrm>
            <a:off x="8585301" y="1022032"/>
            <a:ext cx="335249" cy="250996"/>
          </a:xfrm>
          <a:prstGeom prst="rect">
            <a:avLst/>
          </a:prstGeom>
          <a:solidFill>
            <a:srgbClr val="2980B9">
              <a:alpha val="328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TextBox 1234"/>
          <p:cNvSpPr txBox="1"/>
          <p:nvPr/>
        </p:nvSpPr>
        <p:spPr>
          <a:xfrm>
            <a:off x="8579301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6" name="TextBox 1235"/>
          <p:cNvSpPr txBox="1"/>
          <p:nvPr/>
        </p:nvSpPr>
        <p:spPr>
          <a:xfrm>
            <a:off x="8579301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7" name="Rectangle 1236"/>
          <p:cNvSpPr/>
          <p:nvPr/>
        </p:nvSpPr>
        <p:spPr>
          <a:xfrm>
            <a:off x="8932550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TextBox 1237"/>
          <p:cNvSpPr txBox="1"/>
          <p:nvPr/>
        </p:nvSpPr>
        <p:spPr>
          <a:xfrm>
            <a:off x="892655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9" name="TextBox 1238"/>
          <p:cNvSpPr txBox="1"/>
          <p:nvPr/>
        </p:nvSpPr>
        <p:spPr>
          <a:xfrm>
            <a:off x="892655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40" name="Rectangle 1239"/>
          <p:cNvSpPr/>
          <p:nvPr/>
        </p:nvSpPr>
        <p:spPr>
          <a:xfrm>
            <a:off x="9279799" y="1022032"/>
            <a:ext cx="335249" cy="250996"/>
          </a:xfrm>
          <a:prstGeom prst="rect">
            <a:avLst/>
          </a:prstGeom>
          <a:solidFill>
            <a:srgbClr val="2980B9">
              <a:alpha val="361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TextBox 1240"/>
          <p:cNvSpPr txBox="1"/>
          <p:nvPr/>
        </p:nvSpPr>
        <p:spPr>
          <a:xfrm>
            <a:off x="927379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2" name="TextBox 1241"/>
          <p:cNvSpPr txBox="1"/>
          <p:nvPr/>
        </p:nvSpPr>
        <p:spPr>
          <a:xfrm>
            <a:off x="927379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3" name="Rectangle 1242"/>
          <p:cNvSpPr/>
          <p:nvPr/>
        </p:nvSpPr>
        <p:spPr>
          <a:xfrm>
            <a:off x="9627048" y="1022032"/>
            <a:ext cx="335249" cy="250996"/>
          </a:xfrm>
          <a:prstGeom prst="rect">
            <a:avLst/>
          </a:prstGeom>
          <a:solidFill>
            <a:srgbClr val="2980B9">
              <a:alpha val="441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TextBox 1243"/>
          <p:cNvSpPr txBox="1"/>
          <p:nvPr/>
        </p:nvSpPr>
        <p:spPr>
          <a:xfrm>
            <a:off x="962104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5" name="TextBox 1244"/>
          <p:cNvSpPr txBox="1"/>
          <p:nvPr/>
        </p:nvSpPr>
        <p:spPr>
          <a:xfrm>
            <a:off x="962104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6" name="Rectangle 1245"/>
          <p:cNvSpPr/>
          <p:nvPr/>
        </p:nvSpPr>
        <p:spPr>
          <a:xfrm>
            <a:off x="9974297" y="1022032"/>
            <a:ext cx="335249" cy="250996"/>
          </a:xfrm>
          <a:prstGeom prst="rect">
            <a:avLst/>
          </a:prstGeom>
          <a:solidFill>
            <a:srgbClr val="2980B9">
              <a:alpha val="4269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TextBox 1246"/>
          <p:cNvSpPr txBox="1"/>
          <p:nvPr/>
        </p:nvSpPr>
        <p:spPr>
          <a:xfrm>
            <a:off x="996829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1.4M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8" name="TextBox 1247"/>
          <p:cNvSpPr txBox="1"/>
          <p:nvPr/>
        </p:nvSpPr>
        <p:spPr>
          <a:xfrm>
            <a:off x="996829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9" name="Rectangle 1248"/>
          <p:cNvSpPr/>
          <p:nvPr/>
        </p:nvSpPr>
        <p:spPr>
          <a:xfrm>
            <a:off x="10321546" y="1022032"/>
            <a:ext cx="335249" cy="250996"/>
          </a:xfrm>
          <a:prstGeom prst="rect">
            <a:avLst/>
          </a:prstGeom>
          <a:solidFill>
            <a:srgbClr val="2980B9">
              <a:alpha val="287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TextBox 1249"/>
          <p:cNvSpPr txBox="1"/>
          <p:nvPr/>
        </p:nvSpPr>
        <p:spPr>
          <a:xfrm>
            <a:off x="1031554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1" name="TextBox 1250"/>
          <p:cNvSpPr txBox="1"/>
          <p:nvPr/>
        </p:nvSpPr>
        <p:spPr>
          <a:xfrm>
            <a:off x="1031554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2" name="Rectangle 1251"/>
          <p:cNvSpPr/>
          <p:nvPr/>
        </p:nvSpPr>
        <p:spPr>
          <a:xfrm>
            <a:off x="10668795" y="1022032"/>
            <a:ext cx="335249" cy="250996"/>
          </a:xfrm>
          <a:prstGeom prst="rect">
            <a:avLst/>
          </a:prstGeom>
          <a:solidFill>
            <a:srgbClr val="2980B9">
              <a:alpha val="538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TextBox 1252"/>
          <p:cNvSpPr txBox="1"/>
          <p:nvPr/>
        </p:nvSpPr>
        <p:spPr>
          <a:xfrm>
            <a:off x="1066279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4" name="TextBox 1253"/>
          <p:cNvSpPr txBox="1"/>
          <p:nvPr/>
        </p:nvSpPr>
        <p:spPr>
          <a:xfrm>
            <a:off x="1066279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5" name="Rectangle 1254"/>
          <p:cNvSpPr/>
          <p:nvPr/>
        </p:nvSpPr>
        <p:spPr>
          <a:xfrm>
            <a:off x="11016044" y="1022032"/>
            <a:ext cx="335249" cy="250996"/>
          </a:xfrm>
          <a:prstGeom prst="rect">
            <a:avLst/>
          </a:prstGeom>
          <a:solidFill>
            <a:srgbClr val="2980B9">
              <a:alpha val="315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TextBox 1255"/>
          <p:cNvSpPr txBox="1"/>
          <p:nvPr/>
        </p:nvSpPr>
        <p:spPr>
          <a:xfrm>
            <a:off x="1101004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7" name="TextBox 1256"/>
          <p:cNvSpPr txBox="1"/>
          <p:nvPr/>
        </p:nvSpPr>
        <p:spPr>
          <a:xfrm>
            <a:off x="1101004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8" name="Rectangle 1257"/>
          <p:cNvSpPr/>
          <p:nvPr/>
        </p:nvSpPr>
        <p:spPr>
          <a:xfrm>
            <a:off x="11363293" y="1022032"/>
            <a:ext cx="335249" cy="250996"/>
          </a:xfrm>
          <a:prstGeom prst="rect">
            <a:avLst/>
          </a:prstGeom>
          <a:solidFill>
            <a:srgbClr val="2980B9">
              <a:alpha val="255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TextBox 1258"/>
          <p:cNvSpPr txBox="1"/>
          <p:nvPr/>
        </p:nvSpPr>
        <p:spPr>
          <a:xfrm>
            <a:off x="1135729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60" name="TextBox 1259"/>
          <p:cNvSpPr txBox="1"/>
          <p:nvPr/>
        </p:nvSpPr>
        <p:spPr>
          <a:xfrm>
            <a:off x="1135729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61" name="Rectangle 1260"/>
          <p:cNvSpPr/>
          <p:nvPr/>
        </p:nvSpPr>
        <p:spPr>
          <a:xfrm>
            <a:off x="11710542" y="1022032"/>
            <a:ext cx="335249" cy="250996"/>
          </a:xfrm>
          <a:prstGeom prst="rect">
            <a:avLst/>
          </a:prstGeom>
          <a:solidFill>
            <a:srgbClr val="2980B9">
              <a:alpha val="397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TextBox 1261"/>
          <p:cNvSpPr txBox="1"/>
          <p:nvPr/>
        </p:nvSpPr>
        <p:spPr>
          <a:xfrm>
            <a:off x="1170454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63" name="TextBox 1262"/>
          <p:cNvSpPr txBox="1"/>
          <p:nvPr/>
        </p:nvSpPr>
        <p:spPr>
          <a:xfrm>
            <a:off x="1170454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64" name="TextBox 1263"/>
          <p:cNvSpPr txBox="1"/>
          <p:nvPr/>
        </p:nvSpPr>
        <p:spPr>
          <a:xfrm>
            <a:off x="6183056" y="127902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265" name="Rectangle 1264"/>
          <p:cNvSpPr/>
          <p:nvPr/>
        </p:nvSpPr>
        <p:spPr>
          <a:xfrm>
            <a:off x="6849056" y="1285028"/>
            <a:ext cx="335249" cy="250996"/>
          </a:xfrm>
          <a:prstGeom prst="rect">
            <a:avLst/>
          </a:prstGeom>
          <a:solidFill>
            <a:srgbClr val="374151">
              <a:alpha val="423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TextBox 1265"/>
          <p:cNvSpPr txBox="1"/>
          <p:nvPr/>
        </p:nvSpPr>
        <p:spPr>
          <a:xfrm>
            <a:off x="6843056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7" name="TextBox 1266"/>
          <p:cNvSpPr txBox="1"/>
          <p:nvPr/>
        </p:nvSpPr>
        <p:spPr>
          <a:xfrm>
            <a:off x="6843056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8" name="Rectangle 1267"/>
          <p:cNvSpPr/>
          <p:nvPr/>
        </p:nvSpPr>
        <p:spPr>
          <a:xfrm>
            <a:off x="7196305" y="1285028"/>
            <a:ext cx="335249" cy="250996"/>
          </a:xfrm>
          <a:prstGeom prst="rect">
            <a:avLst/>
          </a:prstGeom>
          <a:solidFill>
            <a:srgbClr val="374151">
              <a:alpha val="307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TextBox 1268"/>
          <p:cNvSpPr txBox="1"/>
          <p:nvPr/>
        </p:nvSpPr>
        <p:spPr>
          <a:xfrm>
            <a:off x="719030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0" name="TextBox 1269"/>
          <p:cNvSpPr txBox="1"/>
          <p:nvPr/>
        </p:nvSpPr>
        <p:spPr>
          <a:xfrm>
            <a:off x="719030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1" name="Rectangle 1270"/>
          <p:cNvSpPr/>
          <p:nvPr/>
        </p:nvSpPr>
        <p:spPr>
          <a:xfrm>
            <a:off x="7543554" y="1285028"/>
            <a:ext cx="335249" cy="250996"/>
          </a:xfrm>
          <a:prstGeom prst="rect">
            <a:avLst/>
          </a:prstGeom>
          <a:solidFill>
            <a:srgbClr val="374151">
              <a:alpha val="3365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TextBox 1271"/>
          <p:cNvSpPr txBox="1"/>
          <p:nvPr/>
        </p:nvSpPr>
        <p:spPr>
          <a:xfrm>
            <a:off x="7537554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3" name="TextBox 1272"/>
          <p:cNvSpPr txBox="1"/>
          <p:nvPr/>
        </p:nvSpPr>
        <p:spPr>
          <a:xfrm>
            <a:off x="7537554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4" name="Rectangle 1273"/>
          <p:cNvSpPr/>
          <p:nvPr/>
        </p:nvSpPr>
        <p:spPr>
          <a:xfrm>
            <a:off x="7890803" y="1285028"/>
            <a:ext cx="335249" cy="250996"/>
          </a:xfrm>
          <a:prstGeom prst="rect">
            <a:avLst/>
          </a:prstGeom>
          <a:solidFill>
            <a:srgbClr val="374151">
              <a:alpha val="538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TextBox 1274"/>
          <p:cNvSpPr txBox="1"/>
          <p:nvPr/>
        </p:nvSpPr>
        <p:spPr>
          <a:xfrm>
            <a:off x="7884803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6" name="TextBox 1275"/>
          <p:cNvSpPr txBox="1"/>
          <p:nvPr/>
        </p:nvSpPr>
        <p:spPr>
          <a:xfrm>
            <a:off x="7884803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7" name="Rectangle 1276"/>
          <p:cNvSpPr/>
          <p:nvPr/>
        </p:nvSpPr>
        <p:spPr>
          <a:xfrm>
            <a:off x="8932550" y="1285028"/>
            <a:ext cx="335249" cy="250996"/>
          </a:xfrm>
          <a:prstGeom prst="rect">
            <a:avLst/>
          </a:prstGeom>
          <a:solidFill>
            <a:srgbClr val="374151">
              <a:alpha val="423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TextBox 1277"/>
          <p:cNvSpPr txBox="1"/>
          <p:nvPr/>
        </p:nvSpPr>
        <p:spPr>
          <a:xfrm>
            <a:off x="8926550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9" name="TextBox 1278"/>
          <p:cNvSpPr txBox="1"/>
          <p:nvPr/>
        </p:nvSpPr>
        <p:spPr>
          <a:xfrm>
            <a:off x="8926550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0" name="Rectangle 1279"/>
          <p:cNvSpPr/>
          <p:nvPr/>
        </p:nvSpPr>
        <p:spPr>
          <a:xfrm>
            <a:off x="9279799" y="1285028"/>
            <a:ext cx="335249" cy="250996"/>
          </a:xfrm>
          <a:prstGeom prst="rect">
            <a:avLst/>
          </a:prstGeom>
          <a:solidFill>
            <a:srgbClr val="374151">
              <a:alpha val="2754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TextBox 1280"/>
          <p:cNvSpPr txBox="1"/>
          <p:nvPr/>
        </p:nvSpPr>
        <p:spPr>
          <a:xfrm>
            <a:off x="927379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2" name="TextBox 1281"/>
          <p:cNvSpPr txBox="1"/>
          <p:nvPr/>
        </p:nvSpPr>
        <p:spPr>
          <a:xfrm>
            <a:off x="927379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3" name="Rectangle 1282"/>
          <p:cNvSpPr/>
          <p:nvPr/>
        </p:nvSpPr>
        <p:spPr>
          <a:xfrm>
            <a:off x="9974297" y="1285028"/>
            <a:ext cx="335249" cy="250996"/>
          </a:xfrm>
          <a:prstGeom prst="rect">
            <a:avLst/>
          </a:prstGeom>
          <a:solidFill>
            <a:srgbClr val="374151">
              <a:alpha val="307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TextBox 1283"/>
          <p:cNvSpPr txBox="1"/>
          <p:nvPr/>
        </p:nvSpPr>
        <p:spPr>
          <a:xfrm>
            <a:off x="9968297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5" name="TextBox 1284"/>
          <p:cNvSpPr txBox="1"/>
          <p:nvPr/>
        </p:nvSpPr>
        <p:spPr>
          <a:xfrm>
            <a:off x="9968297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6" name="Rectangle 1285"/>
          <p:cNvSpPr/>
          <p:nvPr/>
        </p:nvSpPr>
        <p:spPr>
          <a:xfrm>
            <a:off x="10321546" y="1285028"/>
            <a:ext cx="335249" cy="250996"/>
          </a:xfrm>
          <a:prstGeom prst="rect">
            <a:avLst/>
          </a:prstGeom>
          <a:solidFill>
            <a:srgbClr val="374151">
              <a:alpha val="423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TextBox 1286"/>
          <p:cNvSpPr txBox="1"/>
          <p:nvPr/>
        </p:nvSpPr>
        <p:spPr>
          <a:xfrm>
            <a:off x="10315546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8" name="TextBox 1287"/>
          <p:cNvSpPr txBox="1"/>
          <p:nvPr/>
        </p:nvSpPr>
        <p:spPr>
          <a:xfrm>
            <a:off x="10315546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9" name="Rectangle 1288"/>
          <p:cNvSpPr/>
          <p:nvPr/>
        </p:nvSpPr>
        <p:spPr>
          <a:xfrm>
            <a:off x="10668795" y="1285028"/>
            <a:ext cx="335249" cy="250996"/>
          </a:xfrm>
          <a:prstGeom prst="rect">
            <a:avLst/>
          </a:prstGeom>
          <a:solidFill>
            <a:srgbClr val="374151">
              <a:alpha val="728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TextBox 1289"/>
          <p:cNvSpPr txBox="1"/>
          <p:nvPr/>
        </p:nvSpPr>
        <p:spPr>
          <a:xfrm>
            <a:off x="1066279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91" name="TextBox 1290"/>
          <p:cNvSpPr txBox="1"/>
          <p:nvPr/>
        </p:nvSpPr>
        <p:spPr>
          <a:xfrm>
            <a:off x="1066279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92" name="Rectangle 1291"/>
          <p:cNvSpPr/>
          <p:nvPr/>
        </p:nvSpPr>
        <p:spPr>
          <a:xfrm>
            <a:off x="11363293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TextBox 1292"/>
          <p:cNvSpPr txBox="1"/>
          <p:nvPr/>
        </p:nvSpPr>
        <p:spPr>
          <a:xfrm>
            <a:off x="11357293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94" name="TextBox 1293"/>
          <p:cNvSpPr txBox="1"/>
          <p:nvPr/>
        </p:nvSpPr>
        <p:spPr>
          <a:xfrm>
            <a:off x="11357293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95" name="TextBox 1294"/>
          <p:cNvSpPr txBox="1"/>
          <p:nvPr/>
        </p:nvSpPr>
        <p:spPr>
          <a:xfrm>
            <a:off x="6183056" y="154202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296" name="Rectangle 1295"/>
          <p:cNvSpPr/>
          <p:nvPr/>
        </p:nvSpPr>
        <p:spPr>
          <a:xfrm>
            <a:off x="6849056" y="1548024"/>
            <a:ext cx="335249" cy="250996"/>
          </a:xfrm>
          <a:prstGeom prst="rect">
            <a:avLst/>
          </a:prstGeom>
          <a:solidFill>
            <a:srgbClr val="1F3864">
              <a:alpha val="37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TextBox 1296"/>
          <p:cNvSpPr txBox="1"/>
          <p:nvPr/>
        </p:nvSpPr>
        <p:spPr>
          <a:xfrm>
            <a:off x="684305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298" name="TextBox 1297"/>
          <p:cNvSpPr txBox="1"/>
          <p:nvPr/>
        </p:nvSpPr>
        <p:spPr>
          <a:xfrm>
            <a:off x="684305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299" name="Rectangle 1298"/>
          <p:cNvSpPr/>
          <p:nvPr/>
        </p:nvSpPr>
        <p:spPr>
          <a:xfrm>
            <a:off x="7196305" y="1548024"/>
            <a:ext cx="335249" cy="250996"/>
          </a:xfrm>
          <a:prstGeom prst="rect">
            <a:avLst/>
          </a:prstGeom>
          <a:solidFill>
            <a:srgbClr val="1F3864">
              <a:alpha val="524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TextBox 1299"/>
          <p:cNvSpPr txBox="1"/>
          <p:nvPr/>
        </p:nvSpPr>
        <p:spPr>
          <a:xfrm>
            <a:off x="719030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01" name="TextBox 1300"/>
          <p:cNvSpPr txBox="1"/>
          <p:nvPr/>
        </p:nvSpPr>
        <p:spPr>
          <a:xfrm>
            <a:off x="719030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02" name="Rectangle 1301"/>
          <p:cNvSpPr/>
          <p:nvPr/>
        </p:nvSpPr>
        <p:spPr>
          <a:xfrm>
            <a:off x="7543554" y="1548024"/>
            <a:ext cx="335249" cy="250996"/>
          </a:xfrm>
          <a:prstGeom prst="rect">
            <a:avLst/>
          </a:prstGeom>
          <a:solidFill>
            <a:srgbClr val="1F3864">
              <a:alpha val="50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TextBox 1302"/>
          <p:cNvSpPr txBox="1"/>
          <p:nvPr/>
        </p:nvSpPr>
        <p:spPr>
          <a:xfrm>
            <a:off x="753755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04" name="TextBox 1303"/>
          <p:cNvSpPr txBox="1"/>
          <p:nvPr/>
        </p:nvSpPr>
        <p:spPr>
          <a:xfrm>
            <a:off x="753755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05" name="Rectangle 1304"/>
          <p:cNvSpPr/>
          <p:nvPr/>
        </p:nvSpPr>
        <p:spPr>
          <a:xfrm>
            <a:off x="7890803" y="1548024"/>
            <a:ext cx="335249" cy="250996"/>
          </a:xfrm>
          <a:prstGeom prst="rect">
            <a:avLst/>
          </a:prstGeom>
          <a:solidFill>
            <a:srgbClr val="1F3864">
              <a:alpha val="590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TextBox 1305"/>
          <p:cNvSpPr txBox="1"/>
          <p:nvPr/>
        </p:nvSpPr>
        <p:spPr>
          <a:xfrm>
            <a:off x="788480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07" name="TextBox 1306"/>
          <p:cNvSpPr txBox="1"/>
          <p:nvPr/>
        </p:nvSpPr>
        <p:spPr>
          <a:xfrm>
            <a:off x="788480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08" name="Rectangle 1307"/>
          <p:cNvSpPr/>
          <p:nvPr/>
        </p:nvSpPr>
        <p:spPr>
          <a:xfrm>
            <a:off x="8238052" y="1548024"/>
            <a:ext cx="335249" cy="250996"/>
          </a:xfrm>
          <a:prstGeom prst="rect">
            <a:avLst/>
          </a:prstGeom>
          <a:solidFill>
            <a:srgbClr val="1F3864">
              <a:alpha val="5833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TextBox 1308"/>
          <p:cNvSpPr txBox="1"/>
          <p:nvPr/>
        </p:nvSpPr>
        <p:spPr>
          <a:xfrm>
            <a:off x="823205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0" name="TextBox 1309"/>
          <p:cNvSpPr txBox="1"/>
          <p:nvPr/>
        </p:nvSpPr>
        <p:spPr>
          <a:xfrm>
            <a:off x="823205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1" name="Rectangle 1310"/>
          <p:cNvSpPr/>
          <p:nvPr/>
        </p:nvSpPr>
        <p:spPr>
          <a:xfrm>
            <a:off x="8585301" y="1548024"/>
            <a:ext cx="335249" cy="250996"/>
          </a:xfrm>
          <a:prstGeom prst="rect">
            <a:avLst/>
          </a:prstGeom>
          <a:solidFill>
            <a:srgbClr val="1F3864">
              <a:alpha val="50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TextBox 1311"/>
          <p:cNvSpPr txBox="1"/>
          <p:nvPr/>
        </p:nvSpPr>
        <p:spPr>
          <a:xfrm>
            <a:off x="8579301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3" name="TextBox 1312"/>
          <p:cNvSpPr txBox="1"/>
          <p:nvPr/>
        </p:nvSpPr>
        <p:spPr>
          <a:xfrm>
            <a:off x="8579301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4" name="Rectangle 1313"/>
          <p:cNvSpPr/>
          <p:nvPr/>
        </p:nvSpPr>
        <p:spPr>
          <a:xfrm>
            <a:off x="8932550" y="1548024"/>
            <a:ext cx="335249" cy="250996"/>
          </a:xfrm>
          <a:prstGeom prst="rect">
            <a:avLst/>
          </a:prstGeom>
          <a:solidFill>
            <a:srgbClr val="1F3864">
              <a:alpha val="7083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TextBox 1314"/>
          <p:cNvSpPr txBox="1"/>
          <p:nvPr/>
        </p:nvSpPr>
        <p:spPr>
          <a:xfrm>
            <a:off x="892655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6" name="TextBox 1315"/>
          <p:cNvSpPr txBox="1"/>
          <p:nvPr/>
        </p:nvSpPr>
        <p:spPr>
          <a:xfrm>
            <a:off x="892655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7" name="Rectangle 1316"/>
          <p:cNvSpPr/>
          <p:nvPr/>
        </p:nvSpPr>
        <p:spPr>
          <a:xfrm>
            <a:off x="9279799" y="1548024"/>
            <a:ext cx="335249" cy="250996"/>
          </a:xfrm>
          <a:prstGeom prst="rect">
            <a:avLst/>
          </a:prstGeom>
          <a:solidFill>
            <a:srgbClr val="1F3864">
              <a:alpha val="75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TextBox 1317"/>
          <p:cNvSpPr txBox="1"/>
          <p:nvPr/>
        </p:nvSpPr>
        <p:spPr>
          <a:xfrm>
            <a:off x="927379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9" name="TextBox 1318"/>
          <p:cNvSpPr txBox="1"/>
          <p:nvPr/>
        </p:nvSpPr>
        <p:spPr>
          <a:xfrm>
            <a:off x="927379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0" name="Rectangle 1319"/>
          <p:cNvSpPr/>
          <p:nvPr/>
        </p:nvSpPr>
        <p:spPr>
          <a:xfrm>
            <a:off x="9974297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TextBox 1320"/>
          <p:cNvSpPr txBox="1"/>
          <p:nvPr/>
        </p:nvSpPr>
        <p:spPr>
          <a:xfrm>
            <a:off x="996829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2" name="TextBox 1321"/>
          <p:cNvSpPr txBox="1"/>
          <p:nvPr/>
        </p:nvSpPr>
        <p:spPr>
          <a:xfrm>
            <a:off x="996829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3" name="Rectangle 1322"/>
          <p:cNvSpPr/>
          <p:nvPr/>
        </p:nvSpPr>
        <p:spPr>
          <a:xfrm>
            <a:off x="10321546" y="1548024"/>
            <a:ext cx="335249" cy="250996"/>
          </a:xfrm>
          <a:prstGeom prst="rect">
            <a:avLst/>
          </a:prstGeom>
          <a:solidFill>
            <a:srgbClr val="1F3864">
              <a:alpha val="87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TextBox 1323"/>
          <p:cNvSpPr txBox="1"/>
          <p:nvPr/>
        </p:nvSpPr>
        <p:spPr>
          <a:xfrm>
            <a:off x="1031554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5" name="TextBox 1324"/>
          <p:cNvSpPr txBox="1"/>
          <p:nvPr/>
        </p:nvSpPr>
        <p:spPr>
          <a:xfrm>
            <a:off x="1031554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6" name="Rectangle 1325"/>
          <p:cNvSpPr/>
          <p:nvPr/>
        </p:nvSpPr>
        <p:spPr>
          <a:xfrm>
            <a:off x="10668795" y="1548024"/>
            <a:ext cx="335249" cy="250996"/>
          </a:xfrm>
          <a:prstGeom prst="rect">
            <a:avLst/>
          </a:prstGeom>
          <a:solidFill>
            <a:srgbClr val="1F3864">
              <a:alpha val="6666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TextBox 1326"/>
          <p:cNvSpPr txBox="1"/>
          <p:nvPr/>
        </p:nvSpPr>
        <p:spPr>
          <a:xfrm>
            <a:off x="1066279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8" name="TextBox 1327"/>
          <p:cNvSpPr txBox="1"/>
          <p:nvPr/>
        </p:nvSpPr>
        <p:spPr>
          <a:xfrm>
            <a:off x="1066279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9" name="Rectangle 1328"/>
          <p:cNvSpPr/>
          <p:nvPr/>
        </p:nvSpPr>
        <p:spPr>
          <a:xfrm>
            <a:off x="11016044" y="1548024"/>
            <a:ext cx="335249" cy="250996"/>
          </a:xfrm>
          <a:prstGeom prst="rect">
            <a:avLst/>
          </a:prstGeom>
          <a:solidFill>
            <a:srgbClr val="1F3864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1101004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1" name="TextBox 1330"/>
          <p:cNvSpPr txBox="1"/>
          <p:nvPr/>
        </p:nvSpPr>
        <p:spPr>
          <a:xfrm>
            <a:off x="1101004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2" name="Rectangle 1331"/>
          <p:cNvSpPr/>
          <p:nvPr/>
        </p:nvSpPr>
        <p:spPr>
          <a:xfrm>
            <a:off x="11363293" y="1548024"/>
            <a:ext cx="335249" cy="250996"/>
          </a:xfrm>
          <a:prstGeom prst="rect">
            <a:avLst/>
          </a:prstGeom>
          <a:solidFill>
            <a:srgbClr val="1F3864">
              <a:alpha val="737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1135729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4" name="TextBox 1333"/>
          <p:cNvSpPr txBox="1"/>
          <p:nvPr/>
        </p:nvSpPr>
        <p:spPr>
          <a:xfrm>
            <a:off x="1135729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5" name="Rectangle 1334"/>
          <p:cNvSpPr/>
          <p:nvPr/>
        </p:nvSpPr>
        <p:spPr>
          <a:xfrm>
            <a:off x="11710542" y="1548024"/>
            <a:ext cx="335249" cy="250996"/>
          </a:xfrm>
          <a:prstGeom prst="rect">
            <a:avLst/>
          </a:prstGeom>
          <a:solidFill>
            <a:srgbClr val="1F3864">
              <a:alpha val="500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1170454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37" name="TextBox 1336"/>
          <p:cNvSpPr txBox="1"/>
          <p:nvPr/>
        </p:nvSpPr>
        <p:spPr>
          <a:xfrm>
            <a:off x="1170454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38" name="TextBox 1337"/>
          <p:cNvSpPr txBox="1"/>
          <p:nvPr/>
        </p:nvSpPr>
        <p:spPr>
          <a:xfrm>
            <a:off x="6183056" y="1805020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39" name="Rectangle 1338"/>
          <p:cNvSpPr/>
          <p:nvPr/>
        </p:nvSpPr>
        <p:spPr>
          <a:xfrm>
            <a:off x="6849056" y="1811020"/>
            <a:ext cx="335249" cy="250996"/>
          </a:xfrm>
          <a:prstGeom prst="rect">
            <a:avLst/>
          </a:prstGeom>
          <a:solidFill>
            <a:srgbClr val="E67E22">
              <a:alpha val="4412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TextBox 1339"/>
          <p:cNvSpPr txBox="1"/>
          <p:nvPr/>
        </p:nvSpPr>
        <p:spPr>
          <a:xfrm>
            <a:off x="684305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41" name="TextBox 1340"/>
          <p:cNvSpPr txBox="1"/>
          <p:nvPr/>
        </p:nvSpPr>
        <p:spPr>
          <a:xfrm>
            <a:off x="684305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42" name="Rectangle 1341"/>
          <p:cNvSpPr/>
          <p:nvPr/>
        </p:nvSpPr>
        <p:spPr>
          <a:xfrm>
            <a:off x="7196305" y="1811020"/>
            <a:ext cx="335249" cy="250996"/>
          </a:xfrm>
          <a:prstGeom prst="rect">
            <a:avLst/>
          </a:prstGeom>
          <a:solidFill>
            <a:srgbClr val="E67E22">
              <a:alpha val="363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TextBox 1342"/>
          <p:cNvSpPr txBox="1"/>
          <p:nvPr/>
        </p:nvSpPr>
        <p:spPr>
          <a:xfrm>
            <a:off x="719030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44" name="TextBox 1343"/>
          <p:cNvSpPr txBox="1"/>
          <p:nvPr/>
        </p:nvSpPr>
        <p:spPr>
          <a:xfrm>
            <a:off x="719030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45" name="Rectangle 1344"/>
          <p:cNvSpPr/>
          <p:nvPr/>
        </p:nvSpPr>
        <p:spPr>
          <a:xfrm>
            <a:off x="7543554" y="1811020"/>
            <a:ext cx="335249" cy="250996"/>
          </a:xfrm>
          <a:prstGeom prst="rect">
            <a:avLst/>
          </a:prstGeom>
          <a:solidFill>
            <a:srgbClr val="E67E22">
              <a:alpha val="66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TextBox 1345"/>
          <p:cNvSpPr txBox="1"/>
          <p:nvPr/>
        </p:nvSpPr>
        <p:spPr>
          <a:xfrm>
            <a:off x="753755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11.0M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7" name="TextBox 1346"/>
          <p:cNvSpPr txBox="1"/>
          <p:nvPr/>
        </p:nvSpPr>
        <p:spPr>
          <a:xfrm>
            <a:off x="753755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8" name="Rectangle 1347"/>
          <p:cNvSpPr/>
          <p:nvPr/>
        </p:nvSpPr>
        <p:spPr>
          <a:xfrm>
            <a:off x="7890803" y="1811020"/>
            <a:ext cx="335249" cy="250996"/>
          </a:xfrm>
          <a:prstGeom prst="rect">
            <a:avLst/>
          </a:prstGeom>
          <a:solidFill>
            <a:srgbClr val="E67E22">
              <a:alpha val="621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TextBox 1348"/>
          <p:cNvSpPr txBox="1"/>
          <p:nvPr/>
        </p:nvSpPr>
        <p:spPr>
          <a:xfrm>
            <a:off x="788480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50" name="TextBox 1349"/>
          <p:cNvSpPr txBox="1"/>
          <p:nvPr/>
        </p:nvSpPr>
        <p:spPr>
          <a:xfrm>
            <a:off x="788480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51" name="Rectangle 1350"/>
          <p:cNvSpPr/>
          <p:nvPr/>
        </p:nvSpPr>
        <p:spPr>
          <a:xfrm>
            <a:off x="8238052" y="1811020"/>
            <a:ext cx="335249" cy="250996"/>
          </a:xfrm>
          <a:prstGeom prst="rect">
            <a:avLst/>
          </a:prstGeom>
          <a:solidFill>
            <a:srgbClr val="E67E22">
              <a:alpha val="45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TextBox 1351"/>
          <p:cNvSpPr txBox="1"/>
          <p:nvPr/>
        </p:nvSpPr>
        <p:spPr>
          <a:xfrm>
            <a:off x="823205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3" name="TextBox 1352"/>
          <p:cNvSpPr txBox="1"/>
          <p:nvPr/>
        </p:nvSpPr>
        <p:spPr>
          <a:xfrm>
            <a:off x="823205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4" name="Rectangle 1353"/>
          <p:cNvSpPr/>
          <p:nvPr/>
        </p:nvSpPr>
        <p:spPr>
          <a:xfrm>
            <a:off x="8585301" y="1811020"/>
            <a:ext cx="335249" cy="250996"/>
          </a:xfrm>
          <a:prstGeom prst="rect">
            <a:avLst/>
          </a:prstGeom>
          <a:solidFill>
            <a:srgbClr val="E67E22">
              <a:alpha val="452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TextBox 1354"/>
          <p:cNvSpPr txBox="1"/>
          <p:nvPr/>
        </p:nvSpPr>
        <p:spPr>
          <a:xfrm>
            <a:off x="8579301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6" name="TextBox 1355"/>
          <p:cNvSpPr txBox="1"/>
          <p:nvPr/>
        </p:nvSpPr>
        <p:spPr>
          <a:xfrm>
            <a:off x="8579301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7" name="Rectangle 1356"/>
          <p:cNvSpPr/>
          <p:nvPr/>
        </p:nvSpPr>
        <p:spPr>
          <a:xfrm>
            <a:off x="8932550" y="1811020"/>
            <a:ext cx="335249" cy="250996"/>
          </a:xfrm>
          <a:prstGeom prst="rect">
            <a:avLst/>
          </a:prstGeom>
          <a:solidFill>
            <a:srgbClr val="E67E22">
              <a:alpha val="517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TextBox 1357"/>
          <p:cNvSpPr txBox="1"/>
          <p:nvPr/>
        </p:nvSpPr>
        <p:spPr>
          <a:xfrm>
            <a:off x="892655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7.2M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9" name="TextBox 1358"/>
          <p:cNvSpPr txBox="1"/>
          <p:nvPr/>
        </p:nvSpPr>
        <p:spPr>
          <a:xfrm>
            <a:off x="892655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0" name="Rectangle 1359"/>
          <p:cNvSpPr/>
          <p:nvPr/>
        </p:nvSpPr>
        <p:spPr>
          <a:xfrm>
            <a:off x="9279799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TextBox 1360"/>
          <p:cNvSpPr txBox="1"/>
          <p:nvPr/>
        </p:nvSpPr>
        <p:spPr>
          <a:xfrm>
            <a:off x="927379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20.1M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2" name="TextBox 1361"/>
          <p:cNvSpPr txBox="1"/>
          <p:nvPr/>
        </p:nvSpPr>
        <p:spPr>
          <a:xfrm>
            <a:off x="927379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3" name="Rectangle 1362"/>
          <p:cNvSpPr/>
          <p:nvPr/>
        </p:nvSpPr>
        <p:spPr>
          <a:xfrm>
            <a:off x="9627048" y="1811020"/>
            <a:ext cx="335249" cy="250996"/>
          </a:xfrm>
          <a:prstGeom prst="rect">
            <a:avLst/>
          </a:prstGeom>
          <a:solidFill>
            <a:srgbClr val="E67E22">
              <a:alpha val="954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962104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18.9M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5" name="TextBox 1364"/>
          <p:cNvSpPr txBox="1"/>
          <p:nvPr/>
        </p:nvSpPr>
        <p:spPr>
          <a:xfrm>
            <a:off x="962104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6" name="Rectangle 1365"/>
          <p:cNvSpPr/>
          <p:nvPr/>
        </p:nvSpPr>
        <p:spPr>
          <a:xfrm>
            <a:off x="9974297" y="1811020"/>
            <a:ext cx="335249" cy="250996"/>
          </a:xfrm>
          <a:prstGeom prst="rect">
            <a:avLst/>
          </a:prstGeom>
          <a:solidFill>
            <a:srgbClr val="E67E22">
              <a:alpha val="445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TextBox 1366"/>
          <p:cNvSpPr txBox="1"/>
          <p:nvPr/>
        </p:nvSpPr>
        <p:spPr>
          <a:xfrm>
            <a:off x="996829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8" name="TextBox 1367"/>
          <p:cNvSpPr txBox="1"/>
          <p:nvPr/>
        </p:nvSpPr>
        <p:spPr>
          <a:xfrm>
            <a:off x="996829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9" name="Rectangle 1368"/>
          <p:cNvSpPr/>
          <p:nvPr/>
        </p:nvSpPr>
        <p:spPr>
          <a:xfrm>
            <a:off x="10321546" y="1811020"/>
            <a:ext cx="335249" cy="250996"/>
          </a:xfrm>
          <a:prstGeom prst="rect">
            <a:avLst/>
          </a:prstGeom>
          <a:solidFill>
            <a:srgbClr val="E67E22">
              <a:alpha val="494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1031554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6.6M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1" name="TextBox 1370"/>
          <p:cNvSpPr txBox="1"/>
          <p:nvPr/>
        </p:nvSpPr>
        <p:spPr>
          <a:xfrm>
            <a:off x="1031554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2" name="Rectangle 1371"/>
          <p:cNvSpPr/>
          <p:nvPr/>
        </p:nvSpPr>
        <p:spPr>
          <a:xfrm>
            <a:off x="10668795" y="1811020"/>
            <a:ext cx="335249" cy="250996"/>
          </a:xfrm>
          <a:prstGeom prst="rect">
            <a:avLst/>
          </a:prstGeom>
          <a:solidFill>
            <a:srgbClr val="E67E22">
              <a:alpha val="504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1066279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6.8M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4" name="TextBox 1373"/>
          <p:cNvSpPr txBox="1"/>
          <p:nvPr/>
        </p:nvSpPr>
        <p:spPr>
          <a:xfrm>
            <a:off x="1066279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5" name="Rectangle 1374"/>
          <p:cNvSpPr/>
          <p:nvPr/>
        </p:nvSpPr>
        <p:spPr>
          <a:xfrm>
            <a:off x="11016044" y="1811020"/>
            <a:ext cx="335249" cy="250996"/>
          </a:xfrm>
          <a:prstGeom prst="rect">
            <a:avLst/>
          </a:prstGeom>
          <a:solidFill>
            <a:srgbClr val="E67E22">
              <a:alpha val="633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TextBox 1375"/>
          <p:cNvSpPr txBox="1"/>
          <p:nvPr/>
        </p:nvSpPr>
        <p:spPr>
          <a:xfrm>
            <a:off x="1101004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7" name="TextBox 1376"/>
          <p:cNvSpPr txBox="1"/>
          <p:nvPr/>
        </p:nvSpPr>
        <p:spPr>
          <a:xfrm>
            <a:off x="1101004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8" name="Rectangle 1377"/>
          <p:cNvSpPr/>
          <p:nvPr/>
        </p:nvSpPr>
        <p:spPr>
          <a:xfrm>
            <a:off x="11363293" y="1811020"/>
            <a:ext cx="335249" cy="250996"/>
          </a:xfrm>
          <a:prstGeom prst="rect">
            <a:avLst/>
          </a:prstGeom>
          <a:solidFill>
            <a:srgbClr val="E67E22">
              <a:alpha val="319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TextBox 1378"/>
          <p:cNvSpPr txBox="1"/>
          <p:nvPr/>
        </p:nvSpPr>
        <p:spPr>
          <a:xfrm>
            <a:off x="1135729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80" name="TextBox 1379"/>
          <p:cNvSpPr txBox="1"/>
          <p:nvPr/>
        </p:nvSpPr>
        <p:spPr>
          <a:xfrm>
            <a:off x="1135729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81" name="Rectangle 1380"/>
          <p:cNvSpPr/>
          <p:nvPr/>
        </p:nvSpPr>
        <p:spPr>
          <a:xfrm>
            <a:off x="11710542" y="1811020"/>
            <a:ext cx="335249" cy="250996"/>
          </a:xfrm>
          <a:prstGeom prst="rect">
            <a:avLst/>
          </a:prstGeom>
          <a:solidFill>
            <a:srgbClr val="E67E22">
              <a:alpha val="352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TextBox 1381"/>
          <p:cNvSpPr txBox="1"/>
          <p:nvPr/>
        </p:nvSpPr>
        <p:spPr>
          <a:xfrm>
            <a:off x="1170454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83" name="TextBox 1382"/>
          <p:cNvSpPr txBox="1"/>
          <p:nvPr/>
        </p:nvSpPr>
        <p:spPr>
          <a:xfrm>
            <a:off x="1170454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84" name="TextBox 1383"/>
          <p:cNvSpPr txBox="1"/>
          <p:nvPr/>
        </p:nvSpPr>
        <p:spPr>
          <a:xfrm>
            <a:off x="6183056" y="2068016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85" name="Rectangle 1384"/>
          <p:cNvSpPr/>
          <p:nvPr/>
        </p:nvSpPr>
        <p:spPr>
          <a:xfrm>
            <a:off x="6849056" y="2074016"/>
            <a:ext cx="335249" cy="250996"/>
          </a:xfrm>
          <a:prstGeom prst="rect">
            <a:avLst/>
          </a:prstGeom>
          <a:solidFill>
            <a:srgbClr val="1A7A3F">
              <a:alpha val="4974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TextBox 1385"/>
          <p:cNvSpPr txBox="1"/>
          <p:nvPr/>
        </p:nvSpPr>
        <p:spPr>
          <a:xfrm>
            <a:off x="684305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387" name="TextBox 1386"/>
          <p:cNvSpPr txBox="1"/>
          <p:nvPr/>
        </p:nvSpPr>
        <p:spPr>
          <a:xfrm>
            <a:off x="684305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388" name="Rectangle 1387"/>
          <p:cNvSpPr/>
          <p:nvPr/>
        </p:nvSpPr>
        <p:spPr>
          <a:xfrm>
            <a:off x="7196305" y="2074016"/>
            <a:ext cx="335249" cy="250996"/>
          </a:xfrm>
          <a:prstGeom prst="rect">
            <a:avLst/>
          </a:prstGeom>
          <a:solidFill>
            <a:srgbClr val="1A7A3F">
              <a:alpha val="6235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TextBox 1388"/>
          <p:cNvSpPr txBox="1"/>
          <p:nvPr/>
        </p:nvSpPr>
        <p:spPr>
          <a:xfrm>
            <a:off x="719030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0" name="TextBox 1389"/>
          <p:cNvSpPr txBox="1"/>
          <p:nvPr/>
        </p:nvSpPr>
        <p:spPr>
          <a:xfrm>
            <a:off x="719030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1" name="Rectangle 1390"/>
          <p:cNvSpPr/>
          <p:nvPr/>
        </p:nvSpPr>
        <p:spPr>
          <a:xfrm>
            <a:off x="7543554" y="2074016"/>
            <a:ext cx="335249" cy="250996"/>
          </a:xfrm>
          <a:prstGeom prst="rect">
            <a:avLst/>
          </a:prstGeom>
          <a:solidFill>
            <a:srgbClr val="1A7A3F">
              <a:alpha val="5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TextBox 1391"/>
          <p:cNvSpPr txBox="1"/>
          <p:nvPr/>
        </p:nvSpPr>
        <p:spPr>
          <a:xfrm>
            <a:off x="753755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3" name="TextBox 1392"/>
          <p:cNvSpPr txBox="1"/>
          <p:nvPr/>
        </p:nvSpPr>
        <p:spPr>
          <a:xfrm>
            <a:off x="753755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4" name="Rectangle 1393"/>
          <p:cNvSpPr/>
          <p:nvPr/>
        </p:nvSpPr>
        <p:spPr>
          <a:xfrm>
            <a:off x="7890803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TextBox 1394"/>
          <p:cNvSpPr txBox="1"/>
          <p:nvPr/>
        </p:nvSpPr>
        <p:spPr>
          <a:xfrm>
            <a:off x="788480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6" name="TextBox 1395"/>
          <p:cNvSpPr txBox="1"/>
          <p:nvPr/>
        </p:nvSpPr>
        <p:spPr>
          <a:xfrm>
            <a:off x="788480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7" name="Rectangle 1396"/>
          <p:cNvSpPr/>
          <p:nvPr/>
        </p:nvSpPr>
        <p:spPr>
          <a:xfrm>
            <a:off x="8238052" y="2074016"/>
            <a:ext cx="335249" cy="250996"/>
          </a:xfrm>
          <a:prstGeom prst="rect">
            <a:avLst/>
          </a:prstGeom>
          <a:solidFill>
            <a:srgbClr val="1A7A3F">
              <a:alpha val="42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TextBox 1397"/>
          <p:cNvSpPr txBox="1"/>
          <p:nvPr/>
        </p:nvSpPr>
        <p:spPr>
          <a:xfrm>
            <a:off x="823205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399" name="TextBox 1398"/>
          <p:cNvSpPr txBox="1"/>
          <p:nvPr/>
        </p:nvSpPr>
        <p:spPr>
          <a:xfrm>
            <a:off x="823205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0" name="Rectangle 1399"/>
          <p:cNvSpPr/>
          <p:nvPr/>
        </p:nvSpPr>
        <p:spPr>
          <a:xfrm>
            <a:off x="8585301" y="2074016"/>
            <a:ext cx="335249" cy="250996"/>
          </a:xfrm>
          <a:prstGeom prst="rect">
            <a:avLst/>
          </a:prstGeom>
          <a:solidFill>
            <a:srgbClr val="1A7A3F">
              <a:alpha val="42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TextBox 1400"/>
          <p:cNvSpPr txBox="1"/>
          <p:nvPr/>
        </p:nvSpPr>
        <p:spPr>
          <a:xfrm>
            <a:off x="8579301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2" name="TextBox 1401"/>
          <p:cNvSpPr txBox="1"/>
          <p:nvPr/>
        </p:nvSpPr>
        <p:spPr>
          <a:xfrm>
            <a:off x="8579301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3" name="Rectangle 1402"/>
          <p:cNvSpPr/>
          <p:nvPr/>
        </p:nvSpPr>
        <p:spPr>
          <a:xfrm>
            <a:off x="8932550" y="2074016"/>
            <a:ext cx="335249" cy="250996"/>
          </a:xfrm>
          <a:prstGeom prst="rect">
            <a:avLst/>
          </a:prstGeom>
          <a:solidFill>
            <a:srgbClr val="1A7A3F">
              <a:alpha val="557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TextBox 1403"/>
          <p:cNvSpPr txBox="1"/>
          <p:nvPr/>
        </p:nvSpPr>
        <p:spPr>
          <a:xfrm>
            <a:off x="892655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5" name="TextBox 1404"/>
          <p:cNvSpPr txBox="1"/>
          <p:nvPr/>
        </p:nvSpPr>
        <p:spPr>
          <a:xfrm>
            <a:off x="892655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6" name="Rectangle 1405"/>
          <p:cNvSpPr/>
          <p:nvPr/>
        </p:nvSpPr>
        <p:spPr>
          <a:xfrm>
            <a:off x="9279799" y="2074016"/>
            <a:ext cx="335249" cy="250996"/>
          </a:xfrm>
          <a:prstGeom prst="rect">
            <a:avLst/>
          </a:prstGeom>
          <a:solidFill>
            <a:srgbClr val="1A7A3F">
              <a:alpha val="447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TextBox 1406"/>
          <p:cNvSpPr txBox="1"/>
          <p:nvPr/>
        </p:nvSpPr>
        <p:spPr>
          <a:xfrm>
            <a:off x="927379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2.5M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8" name="TextBox 1407"/>
          <p:cNvSpPr txBox="1"/>
          <p:nvPr/>
        </p:nvSpPr>
        <p:spPr>
          <a:xfrm>
            <a:off x="927379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9" name="Rectangle 1408"/>
          <p:cNvSpPr/>
          <p:nvPr/>
        </p:nvSpPr>
        <p:spPr>
          <a:xfrm>
            <a:off x="9627048" y="2074016"/>
            <a:ext cx="335249" cy="250996"/>
          </a:xfrm>
          <a:prstGeom prst="rect">
            <a:avLst/>
          </a:prstGeom>
          <a:solidFill>
            <a:srgbClr val="1A7A3F">
              <a:alpha val="595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TextBox 1409"/>
          <p:cNvSpPr txBox="1"/>
          <p:nvPr/>
        </p:nvSpPr>
        <p:spPr>
          <a:xfrm>
            <a:off x="962104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1" name="TextBox 1410"/>
          <p:cNvSpPr txBox="1"/>
          <p:nvPr/>
        </p:nvSpPr>
        <p:spPr>
          <a:xfrm>
            <a:off x="962104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2" name="Rectangle 1411"/>
          <p:cNvSpPr/>
          <p:nvPr/>
        </p:nvSpPr>
        <p:spPr>
          <a:xfrm>
            <a:off x="9974297" y="2074016"/>
            <a:ext cx="335249" cy="250996"/>
          </a:xfrm>
          <a:prstGeom prst="rect">
            <a:avLst/>
          </a:prstGeom>
          <a:solidFill>
            <a:srgbClr val="1A7A3F">
              <a:alpha val="340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TextBox 1412"/>
          <p:cNvSpPr txBox="1"/>
          <p:nvPr/>
        </p:nvSpPr>
        <p:spPr>
          <a:xfrm>
            <a:off x="996829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14" name="TextBox 1413"/>
          <p:cNvSpPr txBox="1"/>
          <p:nvPr/>
        </p:nvSpPr>
        <p:spPr>
          <a:xfrm>
            <a:off x="996829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15" name="Rectangle 1414"/>
          <p:cNvSpPr/>
          <p:nvPr/>
        </p:nvSpPr>
        <p:spPr>
          <a:xfrm>
            <a:off x="10321546" y="2074016"/>
            <a:ext cx="335249" cy="250996"/>
          </a:xfrm>
          <a:prstGeom prst="rect">
            <a:avLst/>
          </a:prstGeom>
          <a:solidFill>
            <a:srgbClr val="1A7A3F">
              <a:alpha val="5887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TextBox 1415"/>
          <p:cNvSpPr txBox="1"/>
          <p:nvPr/>
        </p:nvSpPr>
        <p:spPr>
          <a:xfrm>
            <a:off x="1031554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7" name="TextBox 1416"/>
          <p:cNvSpPr txBox="1"/>
          <p:nvPr/>
        </p:nvSpPr>
        <p:spPr>
          <a:xfrm>
            <a:off x="1031554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8" name="Rectangle 1417"/>
          <p:cNvSpPr/>
          <p:nvPr/>
        </p:nvSpPr>
        <p:spPr>
          <a:xfrm>
            <a:off x="10668795" y="2074016"/>
            <a:ext cx="335249" cy="250996"/>
          </a:xfrm>
          <a:prstGeom prst="rect">
            <a:avLst/>
          </a:prstGeom>
          <a:solidFill>
            <a:srgbClr val="1A7A3F">
              <a:alpha val="56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TextBox 1418"/>
          <p:cNvSpPr txBox="1"/>
          <p:nvPr/>
        </p:nvSpPr>
        <p:spPr>
          <a:xfrm>
            <a:off x="1066279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0" name="TextBox 1419"/>
          <p:cNvSpPr txBox="1"/>
          <p:nvPr/>
        </p:nvSpPr>
        <p:spPr>
          <a:xfrm>
            <a:off x="1066279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1" name="Rectangle 1420"/>
          <p:cNvSpPr/>
          <p:nvPr/>
        </p:nvSpPr>
        <p:spPr>
          <a:xfrm>
            <a:off x="11016044" y="2074016"/>
            <a:ext cx="335249" cy="250996"/>
          </a:xfrm>
          <a:prstGeom prst="rect">
            <a:avLst/>
          </a:prstGeom>
          <a:solidFill>
            <a:srgbClr val="1A7A3F">
              <a:alpha val="487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TextBox 1421"/>
          <p:cNvSpPr txBox="1"/>
          <p:nvPr/>
        </p:nvSpPr>
        <p:spPr>
          <a:xfrm>
            <a:off x="1101004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3" name="TextBox 1422"/>
          <p:cNvSpPr txBox="1"/>
          <p:nvPr/>
        </p:nvSpPr>
        <p:spPr>
          <a:xfrm>
            <a:off x="1101004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4" name="Rectangle 1423"/>
          <p:cNvSpPr/>
          <p:nvPr/>
        </p:nvSpPr>
        <p:spPr>
          <a:xfrm>
            <a:off x="11363293" y="2074016"/>
            <a:ext cx="335249" cy="250996"/>
          </a:xfrm>
          <a:prstGeom prst="rect">
            <a:avLst/>
          </a:prstGeom>
          <a:solidFill>
            <a:srgbClr val="1A7A3F">
              <a:alpha val="3499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TextBox 1424"/>
          <p:cNvSpPr txBox="1"/>
          <p:nvPr/>
        </p:nvSpPr>
        <p:spPr>
          <a:xfrm>
            <a:off x="1135729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6" name="TextBox 1425"/>
          <p:cNvSpPr txBox="1"/>
          <p:nvPr/>
        </p:nvSpPr>
        <p:spPr>
          <a:xfrm>
            <a:off x="1135729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7" name="Rectangle 1426"/>
          <p:cNvSpPr/>
          <p:nvPr/>
        </p:nvSpPr>
        <p:spPr>
          <a:xfrm>
            <a:off x="11710542" y="2074016"/>
            <a:ext cx="335249" cy="250996"/>
          </a:xfrm>
          <a:prstGeom prst="rect">
            <a:avLst/>
          </a:prstGeom>
          <a:solidFill>
            <a:srgbClr val="1A7A3F">
              <a:alpha val="360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TextBox 1427"/>
          <p:cNvSpPr txBox="1"/>
          <p:nvPr/>
        </p:nvSpPr>
        <p:spPr>
          <a:xfrm>
            <a:off x="1170454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1.4M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9" name="TextBox 1428"/>
          <p:cNvSpPr txBox="1"/>
          <p:nvPr/>
        </p:nvSpPr>
        <p:spPr>
          <a:xfrm>
            <a:off x="1170454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0" name="TextBox 1429"/>
          <p:cNvSpPr txBox="1"/>
          <p:nvPr/>
        </p:nvSpPr>
        <p:spPr>
          <a:xfrm>
            <a:off x="6183056" y="233101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431" name="Rectangle 1430"/>
          <p:cNvSpPr/>
          <p:nvPr/>
        </p:nvSpPr>
        <p:spPr>
          <a:xfrm>
            <a:off x="7196305" y="2337012"/>
            <a:ext cx="335249" cy="250996"/>
          </a:xfrm>
          <a:prstGeom prst="rect">
            <a:avLst/>
          </a:prstGeom>
          <a:solidFill>
            <a:srgbClr val="94A3B8">
              <a:alpha val="26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TextBox 1431"/>
          <p:cNvSpPr txBox="1"/>
          <p:nvPr/>
        </p:nvSpPr>
        <p:spPr>
          <a:xfrm>
            <a:off x="7190305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33" name="TextBox 1432"/>
          <p:cNvSpPr txBox="1"/>
          <p:nvPr/>
        </p:nvSpPr>
        <p:spPr>
          <a:xfrm>
            <a:off x="7190305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34" name="Rectangle 1433"/>
          <p:cNvSpPr/>
          <p:nvPr/>
        </p:nvSpPr>
        <p:spPr>
          <a:xfrm>
            <a:off x="7890803" y="2337012"/>
            <a:ext cx="335249" cy="250996"/>
          </a:xfrm>
          <a:prstGeom prst="rect">
            <a:avLst/>
          </a:prstGeom>
          <a:solidFill>
            <a:srgbClr val="94A3B8">
              <a:alpha val="268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TextBox 1434"/>
          <p:cNvSpPr txBox="1"/>
          <p:nvPr/>
        </p:nvSpPr>
        <p:spPr>
          <a:xfrm>
            <a:off x="7884803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36" name="TextBox 1435"/>
          <p:cNvSpPr txBox="1"/>
          <p:nvPr/>
        </p:nvSpPr>
        <p:spPr>
          <a:xfrm>
            <a:off x="7884803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37" name="Rectangle 1436"/>
          <p:cNvSpPr/>
          <p:nvPr/>
        </p:nvSpPr>
        <p:spPr>
          <a:xfrm>
            <a:off x="8238052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TextBox 1437"/>
          <p:cNvSpPr txBox="1"/>
          <p:nvPr/>
        </p:nvSpPr>
        <p:spPr>
          <a:xfrm>
            <a:off x="8232052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9" name="TextBox 1438"/>
          <p:cNvSpPr txBox="1"/>
          <p:nvPr/>
        </p:nvSpPr>
        <p:spPr>
          <a:xfrm>
            <a:off x="8232052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40" name="Rectangle 1439"/>
          <p:cNvSpPr/>
          <p:nvPr/>
        </p:nvSpPr>
        <p:spPr>
          <a:xfrm>
            <a:off x="8585301" y="2337012"/>
            <a:ext cx="335249" cy="250996"/>
          </a:xfrm>
          <a:prstGeom prst="rect">
            <a:avLst/>
          </a:prstGeom>
          <a:solidFill>
            <a:srgbClr val="94A3B8">
              <a:alpha val="298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TextBox 1440"/>
          <p:cNvSpPr txBox="1"/>
          <p:nvPr/>
        </p:nvSpPr>
        <p:spPr>
          <a:xfrm>
            <a:off x="8579301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2" name="TextBox 1441"/>
          <p:cNvSpPr txBox="1"/>
          <p:nvPr/>
        </p:nvSpPr>
        <p:spPr>
          <a:xfrm>
            <a:off x="8579301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3" name="Rectangle 1442"/>
          <p:cNvSpPr/>
          <p:nvPr/>
        </p:nvSpPr>
        <p:spPr>
          <a:xfrm>
            <a:off x="9279799" y="2337012"/>
            <a:ext cx="335249" cy="250996"/>
          </a:xfrm>
          <a:prstGeom prst="rect">
            <a:avLst/>
          </a:prstGeom>
          <a:solidFill>
            <a:srgbClr val="94A3B8">
              <a:alpha val="250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TextBox 1443"/>
          <p:cNvSpPr txBox="1"/>
          <p:nvPr/>
        </p:nvSpPr>
        <p:spPr>
          <a:xfrm>
            <a:off x="9273799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5" name="TextBox 1444"/>
          <p:cNvSpPr txBox="1"/>
          <p:nvPr/>
        </p:nvSpPr>
        <p:spPr>
          <a:xfrm>
            <a:off x="9273799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6" name="Rectangle 1445"/>
          <p:cNvSpPr/>
          <p:nvPr/>
        </p:nvSpPr>
        <p:spPr>
          <a:xfrm>
            <a:off x="9627048" y="2337012"/>
            <a:ext cx="335249" cy="250996"/>
          </a:xfrm>
          <a:prstGeom prst="rect">
            <a:avLst/>
          </a:prstGeom>
          <a:solidFill>
            <a:srgbClr val="94A3B8">
              <a:alpha val="251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TextBox 1446"/>
          <p:cNvSpPr txBox="1"/>
          <p:nvPr/>
        </p:nvSpPr>
        <p:spPr>
          <a:xfrm>
            <a:off x="9621048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8" name="TextBox 1447"/>
          <p:cNvSpPr txBox="1"/>
          <p:nvPr/>
        </p:nvSpPr>
        <p:spPr>
          <a:xfrm>
            <a:off x="9621048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9" name="Rectangle 1448"/>
          <p:cNvSpPr/>
          <p:nvPr/>
        </p:nvSpPr>
        <p:spPr>
          <a:xfrm>
            <a:off x="10668795" y="2337012"/>
            <a:ext cx="335249" cy="250996"/>
          </a:xfrm>
          <a:prstGeom prst="rect">
            <a:avLst/>
          </a:prstGeom>
          <a:solidFill>
            <a:srgbClr val="94A3B8">
              <a:alpha val="269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TextBox 1449"/>
          <p:cNvSpPr txBox="1"/>
          <p:nvPr/>
        </p:nvSpPr>
        <p:spPr>
          <a:xfrm>
            <a:off x="10662795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1" name="TextBox 1450"/>
          <p:cNvSpPr txBox="1"/>
          <p:nvPr/>
        </p:nvSpPr>
        <p:spPr>
          <a:xfrm>
            <a:off x="10662795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2" name="Rectangle 1451"/>
          <p:cNvSpPr/>
          <p:nvPr/>
        </p:nvSpPr>
        <p:spPr>
          <a:xfrm>
            <a:off x="11016044" y="2337012"/>
            <a:ext cx="335249" cy="250996"/>
          </a:xfrm>
          <a:prstGeom prst="rect">
            <a:avLst/>
          </a:prstGeom>
          <a:solidFill>
            <a:srgbClr val="94A3B8">
              <a:alpha val="253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TextBox 1452"/>
          <p:cNvSpPr txBox="1"/>
          <p:nvPr/>
        </p:nvSpPr>
        <p:spPr>
          <a:xfrm>
            <a:off x="11010044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4" name="TextBox 1453"/>
          <p:cNvSpPr txBox="1"/>
          <p:nvPr/>
        </p:nvSpPr>
        <p:spPr>
          <a:xfrm>
            <a:off x="11010044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5" name="Rectangle 1454"/>
          <p:cNvSpPr/>
          <p:nvPr/>
        </p:nvSpPr>
        <p:spPr>
          <a:xfrm>
            <a:off x="11363293" y="2337012"/>
            <a:ext cx="335249" cy="250996"/>
          </a:xfrm>
          <a:prstGeom prst="rect">
            <a:avLst/>
          </a:prstGeom>
          <a:solidFill>
            <a:srgbClr val="94A3B8">
              <a:alpha val="29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TextBox 1455"/>
          <p:cNvSpPr txBox="1"/>
          <p:nvPr/>
        </p:nvSpPr>
        <p:spPr>
          <a:xfrm>
            <a:off x="11357293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7" name="TextBox 1456"/>
          <p:cNvSpPr txBox="1"/>
          <p:nvPr/>
        </p:nvSpPr>
        <p:spPr>
          <a:xfrm>
            <a:off x="11357293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8" name="TextBox 1457"/>
          <p:cNvSpPr txBox="1"/>
          <p:nvPr/>
        </p:nvSpPr>
        <p:spPr>
          <a:xfrm>
            <a:off x="6183056" y="259400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459" name="Rectangle 1458"/>
          <p:cNvSpPr/>
          <p:nvPr/>
        </p:nvSpPr>
        <p:spPr>
          <a:xfrm>
            <a:off x="10321546" y="2600008"/>
            <a:ext cx="335249" cy="250996"/>
          </a:xfrm>
          <a:prstGeom prst="rect">
            <a:avLst/>
          </a:prstGeom>
          <a:solidFill>
            <a:srgbClr val="8E44AD">
              <a:alpha val="425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TextBox 1459"/>
          <p:cNvSpPr txBox="1"/>
          <p:nvPr/>
        </p:nvSpPr>
        <p:spPr>
          <a:xfrm>
            <a:off x="10315546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61" name="TextBox 1460"/>
          <p:cNvSpPr txBox="1"/>
          <p:nvPr/>
        </p:nvSpPr>
        <p:spPr>
          <a:xfrm>
            <a:off x="10315546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62" name="Rectangle 1461"/>
          <p:cNvSpPr/>
          <p:nvPr/>
        </p:nvSpPr>
        <p:spPr>
          <a:xfrm>
            <a:off x="11710542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TextBox 1462"/>
          <p:cNvSpPr txBox="1"/>
          <p:nvPr/>
        </p:nvSpPr>
        <p:spPr>
          <a:xfrm>
            <a:off x="11704542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64" name="TextBox 1463"/>
          <p:cNvSpPr txBox="1"/>
          <p:nvPr/>
        </p:nvSpPr>
        <p:spPr>
          <a:xfrm>
            <a:off x="11704542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65" name="TextBox 1464"/>
          <p:cNvSpPr txBox="1"/>
          <p:nvPr/>
        </p:nvSpPr>
        <p:spPr>
          <a:xfrm>
            <a:off x="6183056" y="285700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466" name="Rectangle 1465"/>
          <p:cNvSpPr/>
          <p:nvPr/>
        </p:nvSpPr>
        <p:spPr>
          <a:xfrm>
            <a:off x="684905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TextBox 1466"/>
          <p:cNvSpPr txBox="1"/>
          <p:nvPr/>
        </p:nvSpPr>
        <p:spPr>
          <a:xfrm>
            <a:off x="684305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10.8M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68" name="TextBox 1467"/>
          <p:cNvSpPr txBox="1"/>
          <p:nvPr/>
        </p:nvSpPr>
        <p:spPr>
          <a:xfrm>
            <a:off x="684305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69" name="Rectangle 1468"/>
          <p:cNvSpPr/>
          <p:nvPr/>
        </p:nvSpPr>
        <p:spPr>
          <a:xfrm>
            <a:off x="719630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TextBox 1469"/>
          <p:cNvSpPr txBox="1"/>
          <p:nvPr/>
        </p:nvSpPr>
        <p:spPr>
          <a:xfrm>
            <a:off x="719030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10.6M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71" name="TextBox 1470"/>
          <p:cNvSpPr txBox="1"/>
          <p:nvPr/>
        </p:nvSpPr>
        <p:spPr>
          <a:xfrm>
            <a:off x="719030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72" name="Rectangle 1471"/>
          <p:cNvSpPr/>
          <p:nvPr/>
        </p:nvSpPr>
        <p:spPr>
          <a:xfrm>
            <a:off x="754355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TextBox 1472"/>
          <p:cNvSpPr txBox="1"/>
          <p:nvPr/>
        </p:nvSpPr>
        <p:spPr>
          <a:xfrm>
            <a:off x="753755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74" name="TextBox 1473"/>
          <p:cNvSpPr txBox="1"/>
          <p:nvPr/>
        </p:nvSpPr>
        <p:spPr>
          <a:xfrm>
            <a:off x="753755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75" name="Rectangle 1474"/>
          <p:cNvSpPr/>
          <p:nvPr/>
        </p:nvSpPr>
        <p:spPr>
          <a:xfrm>
            <a:off x="789080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TextBox 1475"/>
          <p:cNvSpPr txBox="1"/>
          <p:nvPr/>
        </p:nvSpPr>
        <p:spPr>
          <a:xfrm>
            <a:off x="788480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25.6M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77" name="TextBox 1476"/>
          <p:cNvSpPr txBox="1"/>
          <p:nvPr/>
        </p:nvSpPr>
        <p:spPr>
          <a:xfrm>
            <a:off x="788480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78" name="Rectangle 1477"/>
          <p:cNvSpPr/>
          <p:nvPr/>
        </p:nvSpPr>
        <p:spPr>
          <a:xfrm>
            <a:off x="823805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TextBox 1478"/>
          <p:cNvSpPr txBox="1"/>
          <p:nvPr/>
        </p:nvSpPr>
        <p:spPr>
          <a:xfrm>
            <a:off x="823205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0" name="TextBox 1479"/>
          <p:cNvSpPr txBox="1"/>
          <p:nvPr/>
        </p:nvSpPr>
        <p:spPr>
          <a:xfrm>
            <a:off x="823205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1" name="Rectangle 1480"/>
          <p:cNvSpPr/>
          <p:nvPr/>
        </p:nvSpPr>
        <p:spPr>
          <a:xfrm>
            <a:off x="858530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TextBox 1481"/>
          <p:cNvSpPr txBox="1"/>
          <p:nvPr/>
        </p:nvSpPr>
        <p:spPr>
          <a:xfrm>
            <a:off x="8579301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10.9M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3" name="TextBox 1482"/>
          <p:cNvSpPr txBox="1"/>
          <p:nvPr/>
        </p:nvSpPr>
        <p:spPr>
          <a:xfrm>
            <a:off x="8579301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4" name="Rectangle 1483"/>
          <p:cNvSpPr/>
          <p:nvPr/>
        </p:nvSpPr>
        <p:spPr>
          <a:xfrm>
            <a:off x="893255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TextBox 1484"/>
          <p:cNvSpPr txBox="1"/>
          <p:nvPr/>
        </p:nvSpPr>
        <p:spPr>
          <a:xfrm>
            <a:off x="892655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21.6M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6" name="TextBox 1485"/>
          <p:cNvSpPr txBox="1"/>
          <p:nvPr/>
        </p:nvSpPr>
        <p:spPr>
          <a:xfrm>
            <a:off x="892655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7" name="Rectangle 1486"/>
          <p:cNvSpPr/>
          <p:nvPr/>
        </p:nvSpPr>
        <p:spPr>
          <a:xfrm>
            <a:off x="927979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TextBox 1487"/>
          <p:cNvSpPr txBox="1"/>
          <p:nvPr/>
        </p:nvSpPr>
        <p:spPr>
          <a:xfrm>
            <a:off x="927379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28.3M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9" name="TextBox 1488"/>
          <p:cNvSpPr txBox="1"/>
          <p:nvPr/>
        </p:nvSpPr>
        <p:spPr>
          <a:xfrm>
            <a:off x="927379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76件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0" name="Rectangle 1489"/>
          <p:cNvSpPr/>
          <p:nvPr/>
        </p:nvSpPr>
        <p:spPr>
          <a:xfrm>
            <a:off x="962704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TextBox 1490"/>
          <p:cNvSpPr txBox="1"/>
          <p:nvPr/>
        </p:nvSpPr>
        <p:spPr>
          <a:xfrm>
            <a:off x="962104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24.9M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2" name="TextBox 1491"/>
          <p:cNvSpPr txBox="1"/>
          <p:nvPr/>
        </p:nvSpPr>
        <p:spPr>
          <a:xfrm>
            <a:off x="962104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3" name="Rectangle 1492"/>
          <p:cNvSpPr/>
          <p:nvPr/>
        </p:nvSpPr>
        <p:spPr>
          <a:xfrm>
            <a:off x="997429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TextBox 1493"/>
          <p:cNvSpPr txBox="1"/>
          <p:nvPr/>
        </p:nvSpPr>
        <p:spPr>
          <a:xfrm>
            <a:off x="996829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5" name="TextBox 1494"/>
          <p:cNvSpPr txBox="1"/>
          <p:nvPr/>
        </p:nvSpPr>
        <p:spPr>
          <a:xfrm>
            <a:off x="996829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6" name="Rectangle 1495"/>
          <p:cNvSpPr/>
          <p:nvPr/>
        </p:nvSpPr>
        <p:spPr>
          <a:xfrm>
            <a:off x="1032154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TextBox 1496"/>
          <p:cNvSpPr txBox="1"/>
          <p:nvPr/>
        </p:nvSpPr>
        <p:spPr>
          <a:xfrm>
            <a:off x="1031554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17.8M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8" name="TextBox 1497"/>
          <p:cNvSpPr txBox="1"/>
          <p:nvPr/>
        </p:nvSpPr>
        <p:spPr>
          <a:xfrm>
            <a:off x="1031554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9" name="Rectangle 1498"/>
          <p:cNvSpPr/>
          <p:nvPr/>
        </p:nvSpPr>
        <p:spPr>
          <a:xfrm>
            <a:off x="1066879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1066279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17.8M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1" name="TextBox 1500"/>
          <p:cNvSpPr txBox="1"/>
          <p:nvPr/>
        </p:nvSpPr>
        <p:spPr>
          <a:xfrm>
            <a:off x="1066279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2" name="Rectangle 1501"/>
          <p:cNvSpPr/>
          <p:nvPr/>
        </p:nvSpPr>
        <p:spPr>
          <a:xfrm>
            <a:off x="1101604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1101004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17.4M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4" name="TextBox 1503"/>
          <p:cNvSpPr txBox="1"/>
          <p:nvPr/>
        </p:nvSpPr>
        <p:spPr>
          <a:xfrm>
            <a:off x="1101004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5" name="Rectangle 1504"/>
          <p:cNvSpPr/>
          <p:nvPr/>
        </p:nvSpPr>
        <p:spPr>
          <a:xfrm>
            <a:off x="1136329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1135729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9.0M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7" name="TextBox 1506"/>
          <p:cNvSpPr txBox="1"/>
          <p:nvPr/>
        </p:nvSpPr>
        <p:spPr>
          <a:xfrm>
            <a:off x="1135729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8" name="Rectangle 1507"/>
          <p:cNvSpPr/>
          <p:nvPr/>
        </p:nvSpPr>
        <p:spPr>
          <a:xfrm>
            <a:off x="1171054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1170454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9.7M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0" name="TextBox 1509"/>
          <p:cNvSpPr txBox="1"/>
          <p:nvPr/>
        </p:nvSpPr>
        <p:spPr>
          <a:xfrm>
            <a:off x="1170454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1" name="Rectangle 1510"/>
          <p:cNvSpPr/>
          <p:nvPr/>
        </p:nvSpPr>
        <p:spPr>
          <a:xfrm>
            <a:off x="182880" y="36576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262880" y="36576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S  周度批核业绩热力矩阵（APE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13" name="TextBox 1512"/>
          <p:cNvSpPr txBox="1"/>
          <p:nvPr/>
        </p:nvSpPr>
        <p:spPr>
          <a:xfrm>
            <a:off x="862880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14" name="TextBox 1513"/>
          <p:cNvSpPr txBox="1"/>
          <p:nvPr/>
        </p:nvSpPr>
        <p:spPr>
          <a:xfrm>
            <a:off x="1210129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15" name="TextBox 1514"/>
          <p:cNvSpPr txBox="1"/>
          <p:nvPr/>
        </p:nvSpPr>
        <p:spPr>
          <a:xfrm>
            <a:off x="1557378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16" name="TextBox 1515"/>
          <p:cNvSpPr txBox="1"/>
          <p:nvPr/>
        </p:nvSpPr>
        <p:spPr>
          <a:xfrm>
            <a:off x="1904627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17" name="TextBox 1516"/>
          <p:cNvSpPr txBox="1"/>
          <p:nvPr/>
        </p:nvSpPr>
        <p:spPr>
          <a:xfrm>
            <a:off x="2251876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18" name="TextBox 1517"/>
          <p:cNvSpPr txBox="1"/>
          <p:nvPr/>
        </p:nvSpPr>
        <p:spPr>
          <a:xfrm>
            <a:off x="2599125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19" name="TextBox 1518"/>
          <p:cNvSpPr txBox="1"/>
          <p:nvPr/>
        </p:nvSpPr>
        <p:spPr>
          <a:xfrm>
            <a:off x="2946374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0" name="TextBox 1519"/>
          <p:cNvSpPr txBox="1"/>
          <p:nvPr/>
        </p:nvSpPr>
        <p:spPr>
          <a:xfrm>
            <a:off x="3293623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1" name="TextBox 1520"/>
          <p:cNvSpPr txBox="1"/>
          <p:nvPr/>
        </p:nvSpPr>
        <p:spPr>
          <a:xfrm>
            <a:off x="3640872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2" name="TextBox 1521"/>
          <p:cNvSpPr txBox="1"/>
          <p:nvPr/>
        </p:nvSpPr>
        <p:spPr>
          <a:xfrm>
            <a:off x="3988121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3" name="TextBox 1522"/>
          <p:cNvSpPr txBox="1"/>
          <p:nvPr/>
        </p:nvSpPr>
        <p:spPr>
          <a:xfrm>
            <a:off x="4335370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4" name="TextBox 1523"/>
          <p:cNvSpPr txBox="1"/>
          <p:nvPr/>
        </p:nvSpPr>
        <p:spPr>
          <a:xfrm>
            <a:off x="4682619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5" name="TextBox 1524"/>
          <p:cNvSpPr txBox="1"/>
          <p:nvPr/>
        </p:nvSpPr>
        <p:spPr>
          <a:xfrm>
            <a:off x="5029868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W34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6" name="TextBox 1525"/>
          <p:cNvSpPr txBox="1"/>
          <p:nvPr/>
        </p:nvSpPr>
        <p:spPr>
          <a:xfrm>
            <a:off x="5377117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W35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7" name="TextBox 1526"/>
          <p:cNvSpPr txBox="1"/>
          <p:nvPr/>
        </p:nvSpPr>
        <p:spPr>
          <a:xfrm>
            <a:off x="5724366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W36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8" name="TextBox 1527"/>
          <p:cNvSpPr txBox="1"/>
          <p:nvPr/>
        </p:nvSpPr>
        <p:spPr>
          <a:xfrm>
            <a:off x="202880" y="4113632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529" name="Rectangle 1528"/>
          <p:cNvSpPr/>
          <p:nvPr/>
        </p:nvSpPr>
        <p:spPr>
          <a:xfrm>
            <a:off x="868880" y="4119632"/>
            <a:ext cx="335249" cy="251296"/>
          </a:xfrm>
          <a:prstGeom prst="rect">
            <a:avLst/>
          </a:prstGeom>
          <a:solidFill>
            <a:srgbClr val="2980B9">
              <a:alpha val="7013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TextBox 1529"/>
          <p:cNvSpPr txBox="1"/>
          <p:nvPr/>
        </p:nvSpPr>
        <p:spPr>
          <a:xfrm>
            <a:off x="862880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31" name="TextBox 1530"/>
          <p:cNvSpPr txBox="1"/>
          <p:nvPr/>
        </p:nvSpPr>
        <p:spPr>
          <a:xfrm>
            <a:off x="862880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32" name="Rectangle 1531"/>
          <p:cNvSpPr/>
          <p:nvPr/>
        </p:nvSpPr>
        <p:spPr>
          <a:xfrm>
            <a:off x="1216129" y="4119632"/>
            <a:ext cx="335249" cy="251296"/>
          </a:xfrm>
          <a:prstGeom prst="rect">
            <a:avLst/>
          </a:prstGeom>
          <a:solidFill>
            <a:srgbClr val="2980B9">
              <a:alpha val="474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TextBox 1532"/>
          <p:cNvSpPr txBox="1"/>
          <p:nvPr/>
        </p:nvSpPr>
        <p:spPr>
          <a:xfrm>
            <a:off x="1210129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34" name="TextBox 1533"/>
          <p:cNvSpPr txBox="1"/>
          <p:nvPr/>
        </p:nvSpPr>
        <p:spPr>
          <a:xfrm>
            <a:off x="1210129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35" name="Rectangle 1534"/>
          <p:cNvSpPr/>
          <p:nvPr/>
        </p:nvSpPr>
        <p:spPr>
          <a:xfrm>
            <a:off x="1563378" y="4119632"/>
            <a:ext cx="335249" cy="2512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TextBox 1535"/>
          <p:cNvSpPr txBox="1"/>
          <p:nvPr/>
        </p:nvSpPr>
        <p:spPr>
          <a:xfrm>
            <a:off x="1557378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37" name="TextBox 1536"/>
          <p:cNvSpPr txBox="1"/>
          <p:nvPr/>
        </p:nvSpPr>
        <p:spPr>
          <a:xfrm>
            <a:off x="1557378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38" name="Rectangle 1537"/>
          <p:cNvSpPr/>
          <p:nvPr/>
        </p:nvSpPr>
        <p:spPr>
          <a:xfrm>
            <a:off x="1910627" y="4119632"/>
            <a:ext cx="335249" cy="251296"/>
          </a:xfrm>
          <a:prstGeom prst="rect">
            <a:avLst/>
          </a:prstGeom>
          <a:solidFill>
            <a:srgbClr val="2980B9">
              <a:alpha val="279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TextBox 1538"/>
          <p:cNvSpPr txBox="1"/>
          <p:nvPr/>
        </p:nvSpPr>
        <p:spPr>
          <a:xfrm>
            <a:off x="1904627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0" name="TextBox 1539"/>
          <p:cNvSpPr txBox="1"/>
          <p:nvPr/>
        </p:nvSpPr>
        <p:spPr>
          <a:xfrm>
            <a:off x="1904627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1" name="Rectangle 1540"/>
          <p:cNvSpPr/>
          <p:nvPr/>
        </p:nvSpPr>
        <p:spPr>
          <a:xfrm>
            <a:off x="2257876" y="4119632"/>
            <a:ext cx="335249" cy="251296"/>
          </a:xfrm>
          <a:prstGeom prst="rect">
            <a:avLst/>
          </a:prstGeom>
          <a:solidFill>
            <a:srgbClr val="2980B9">
              <a:alpha val="299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TextBox 1541"/>
          <p:cNvSpPr txBox="1"/>
          <p:nvPr/>
        </p:nvSpPr>
        <p:spPr>
          <a:xfrm>
            <a:off x="2251876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3" name="TextBox 1542"/>
          <p:cNvSpPr txBox="1"/>
          <p:nvPr/>
        </p:nvSpPr>
        <p:spPr>
          <a:xfrm>
            <a:off x="2251876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4" name="Rectangle 1543"/>
          <p:cNvSpPr/>
          <p:nvPr/>
        </p:nvSpPr>
        <p:spPr>
          <a:xfrm>
            <a:off x="2605125" y="4119632"/>
            <a:ext cx="335249" cy="251296"/>
          </a:xfrm>
          <a:prstGeom prst="rect">
            <a:avLst/>
          </a:prstGeom>
          <a:solidFill>
            <a:srgbClr val="2980B9">
              <a:alpha val="277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TextBox 1544"/>
          <p:cNvSpPr txBox="1"/>
          <p:nvPr/>
        </p:nvSpPr>
        <p:spPr>
          <a:xfrm>
            <a:off x="2599125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6" name="TextBox 1545"/>
          <p:cNvSpPr txBox="1"/>
          <p:nvPr/>
        </p:nvSpPr>
        <p:spPr>
          <a:xfrm>
            <a:off x="2599125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7" name="Rectangle 1546"/>
          <p:cNvSpPr/>
          <p:nvPr/>
        </p:nvSpPr>
        <p:spPr>
          <a:xfrm>
            <a:off x="2952374" y="4119632"/>
            <a:ext cx="335249" cy="251296"/>
          </a:xfrm>
          <a:prstGeom prst="rect">
            <a:avLst/>
          </a:prstGeom>
          <a:solidFill>
            <a:srgbClr val="2980B9">
              <a:alpha val="334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TextBox 1547"/>
          <p:cNvSpPr txBox="1"/>
          <p:nvPr/>
        </p:nvSpPr>
        <p:spPr>
          <a:xfrm>
            <a:off x="2946374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9" name="TextBox 1548"/>
          <p:cNvSpPr txBox="1"/>
          <p:nvPr/>
        </p:nvSpPr>
        <p:spPr>
          <a:xfrm>
            <a:off x="2946374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0" name="Rectangle 1549"/>
          <p:cNvSpPr/>
          <p:nvPr/>
        </p:nvSpPr>
        <p:spPr>
          <a:xfrm>
            <a:off x="3299623" y="4119632"/>
            <a:ext cx="335249" cy="251296"/>
          </a:xfrm>
          <a:prstGeom prst="rect">
            <a:avLst/>
          </a:prstGeom>
          <a:solidFill>
            <a:srgbClr val="2980B9">
              <a:alpha val="497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TextBox 1550"/>
          <p:cNvSpPr txBox="1"/>
          <p:nvPr/>
        </p:nvSpPr>
        <p:spPr>
          <a:xfrm>
            <a:off x="3293623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2" name="TextBox 1551"/>
          <p:cNvSpPr txBox="1"/>
          <p:nvPr/>
        </p:nvSpPr>
        <p:spPr>
          <a:xfrm>
            <a:off x="3293623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3" name="Rectangle 1552"/>
          <p:cNvSpPr/>
          <p:nvPr/>
        </p:nvSpPr>
        <p:spPr>
          <a:xfrm>
            <a:off x="3646872" y="4119632"/>
            <a:ext cx="335249" cy="251296"/>
          </a:xfrm>
          <a:prstGeom prst="rect">
            <a:avLst/>
          </a:prstGeom>
          <a:solidFill>
            <a:srgbClr val="2980B9">
              <a:alpha val="455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TextBox 1553"/>
          <p:cNvSpPr txBox="1"/>
          <p:nvPr/>
        </p:nvSpPr>
        <p:spPr>
          <a:xfrm>
            <a:off x="3640872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2.4M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5" name="TextBox 1554"/>
          <p:cNvSpPr txBox="1"/>
          <p:nvPr/>
        </p:nvSpPr>
        <p:spPr>
          <a:xfrm>
            <a:off x="3640872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6" name="Rectangle 1555"/>
          <p:cNvSpPr/>
          <p:nvPr/>
        </p:nvSpPr>
        <p:spPr>
          <a:xfrm>
            <a:off x="3994121" y="4119632"/>
            <a:ext cx="335249" cy="251296"/>
          </a:xfrm>
          <a:prstGeom prst="rect">
            <a:avLst/>
          </a:prstGeom>
          <a:solidFill>
            <a:srgbClr val="2980B9">
              <a:alpha val="4660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TextBox 1556"/>
          <p:cNvSpPr txBox="1"/>
          <p:nvPr/>
        </p:nvSpPr>
        <p:spPr>
          <a:xfrm>
            <a:off x="3988121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8" name="TextBox 1557"/>
          <p:cNvSpPr txBox="1"/>
          <p:nvPr/>
        </p:nvSpPr>
        <p:spPr>
          <a:xfrm>
            <a:off x="3988121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9" name="Rectangle 1558"/>
          <p:cNvSpPr/>
          <p:nvPr/>
        </p:nvSpPr>
        <p:spPr>
          <a:xfrm>
            <a:off x="4341370" y="4119632"/>
            <a:ext cx="335249" cy="251296"/>
          </a:xfrm>
          <a:prstGeom prst="rect">
            <a:avLst/>
          </a:prstGeom>
          <a:solidFill>
            <a:srgbClr val="2980B9">
              <a:alpha val="577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TextBox 1559"/>
          <p:cNvSpPr txBox="1"/>
          <p:nvPr/>
        </p:nvSpPr>
        <p:spPr>
          <a:xfrm>
            <a:off x="4335370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61" name="TextBox 1560"/>
          <p:cNvSpPr txBox="1"/>
          <p:nvPr/>
        </p:nvSpPr>
        <p:spPr>
          <a:xfrm>
            <a:off x="4335370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62" name="Rectangle 1561"/>
          <p:cNvSpPr/>
          <p:nvPr/>
        </p:nvSpPr>
        <p:spPr>
          <a:xfrm>
            <a:off x="4688619" y="4119632"/>
            <a:ext cx="335249" cy="251296"/>
          </a:xfrm>
          <a:prstGeom prst="rect">
            <a:avLst/>
          </a:prstGeom>
          <a:solidFill>
            <a:srgbClr val="2980B9">
              <a:alpha val="321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TextBox 1562"/>
          <p:cNvSpPr txBox="1"/>
          <p:nvPr/>
        </p:nvSpPr>
        <p:spPr>
          <a:xfrm>
            <a:off x="4682619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4" name="TextBox 1563"/>
          <p:cNvSpPr txBox="1"/>
          <p:nvPr/>
        </p:nvSpPr>
        <p:spPr>
          <a:xfrm>
            <a:off x="4682619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5" name="Rectangle 1564"/>
          <p:cNvSpPr/>
          <p:nvPr/>
        </p:nvSpPr>
        <p:spPr>
          <a:xfrm>
            <a:off x="5035868" y="4119632"/>
            <a:ext cx="335249" cy="251296"/>
          </a:xfrm>
          <a:prstGeom prst="rect">
            <a:avLst/>
          </a:prstGeom>
          <a:solidFill>
            <a:srgbClr val="2980B9">
              <a:alpha val="287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TextBox 1565"/>
          <p:cNvSpPr txBox="1"/>
          <p:nvPr/>
        </p:nvSpPr>
        <p:spPr>
          <a:xfrm>
            <a:off x="5029868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7" name="TextBox 1566"/>
          <p:cNvSpPr txBox="1"/>
          <p:nvPr/>
        </p:nvSpPr>
        <p:spPr>
          <a:xfrm>
            <a:off x="5029868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8" name="Rectangle 1567"/>
          <p:cNvSpPr/>
          <p:nvPr/>
        </p:nvSpPr>
        <p:spPr>
          <a:xfrm>
            <a:off x="5383117" y="4119632"/>
            <a:ext cx="335249" cy="251296"/>
          </a:xfrm>
          <a:prstGeom prst="rect">
            <a:avLst/>
          </a:prstGeom>
          <a:solidFill>
            <a:srgbClr val="2980B9">
              <a:alpha val="335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TextBox 1568"/>
          <p:cNvSpPr txBox="1"/>
          <p:nvPr/>
        </p:nvSpPr>
        <p:spPr>
          <a:xfrm>
            <a:off x="5377117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0" name="TextBox 1569"/>
          <p:cNvSpPr txBox="1"/>
          <p:nvPr/>
        </p:nvSpPr>
        <p:spPr>
          <a:xfrm>
            <a:off x="5377117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1" name="Rectangle 1570"/>
          <p:cNvSpPr/>
          <p:nvPr/>
        </p:nvSpPr>
        <p:spPr>
          <a:xfrm>
            <a:off x="5730366" y="4119632"/>
            <a:ext cx="335249" cy="251296"/>
          </a:xfrm>
          <a:prstGeom prst="rect">
            <a:avLst/>
          </a:prstGeom>
          <a:solidFill>
            <a:srgbClr val="2980B9">
              <a:alpha val="261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TextBox 1571"/>
          <p:cNvSpPr txBox="1"/>
          <p:nvPr/>
        </p:nvSpPr>
        <p:spPr>
          <a:xfrm>
            <a:off x="5724366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3" name="TextBox 1572"/>
          <p:cNvSpPr txBox="1"/>
          <p:nvPr/>
        </p:nvSpPr>
        <p:spPr>
          <a:xfrm>
            <a:off x="5724366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4" name="TextBox 1573"/>
          <p:cNvSpPr txBox="1"/>
          <p:nvPr/>
        </p:nvSpPr>
        <p:spPr>
          <a:xfrm>
            <a:off x="202880" y="4376928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575" name="Rectangle 1574"/>
          <p:cNvSpPr/>
          <p:nvPr/>
        </p:nvSpPr>
        <p:spPr>
          <a:xfrm>
            <a:off x="1910627" y="4382928"/>
            <a:ext cx="335249" cy="251296"/>
          </a:xfrm>
          <a:prstGeom prst="rect">
            <a:avLst/>
          </a:prstGeom>
          <a:solidFill>
            <a:srgbClr val="374151">
              <a:alpha val="8402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TextBox 1575"/>
          <p:cNvSpPr txBox="1"/>
          <p:nvPr/>
        </p:nvSpPr>
        <p:spPr>
          <a:xfrm>
            <a:off x="1904627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77" name="TextBox 1576"/>
          <p:cNvSpPr txBox="1"/>
          <p:nvPr/>
        </p:nvSpPr>
        <p:spPr>
          <a:xfrm>
            <a:off x="1904627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78" name="Rectangle 1577"/>
          <p:cNvSpPr/>
          <p:nvPr/>
        </p:nvSpPr>
        <p:spPr>
          <a:xfrm>
            <a:off x="2257876" y="4382928"/>
            <a:ext cx="335249" cy="251296"/>
          </a:xfrm>
          <a:prstGeom prst="rect">
            <a:avLst/>
          </a:prstGeom>
          <a:solidFill>
            <a:srgbClr val="374151">
              <a:alpha val="7115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TextBox 1578"/>
          <p:cNvSpPr txBox="1"/>
          <p:nvPr/>
        </p:nvSpPr>
        <p:spPr>
          <a:xfrm>
            <a:off x="2251876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80" name="TextBox 1579"/>
          <p:cNvSpPr txBox="1"/>
          <p:nvPr/>
        </p:nvSpPr>
        <p:spPr>
          <a:xfrm>
            <a:off x="2251876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81" name="Rectangle 1580"/>
          <p:cNvSpPr/>
          <p:nvPr/>
        </p:nvSpPr>
        <p:spPr>
          <a:xfrm>
            <a:off x="2605125" y="4382928"/>
            <a:ext cx="335249" cy="2512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TextBox 1581"/>
          <p:cNvSpPr txBox="1"/>
          <p:nvPr/>
        </p:nvSpPr>
        <p:spPr>
          <a:xfrm>
            <a:off x="2599125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83" name="TextBox 1582"/>
          <p:cNvSpPr txBox="1"/>
          <p:nvPr/>
        </p:nvSpPr>
        <p:spPr>
          <a:xfrm>
            <a:off x="2599125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84" name="Rectangle 1583"/>
          <p:cNvSpPr/>
          <p:nvPr/>
        </p:nvSpPr>
        <p:spPr>
          <a:xfrm>
            <a:off x="3646872" y="4382928"/>
            <a:ext cx="335249" cy="251296"/>
          </a:xfrm>
          <a:prstGeom prst="rect">
            <a:avLst/>
          </a:prstGeom>
          <a:solidFill>
            <a:srgbClr val="374151">
              <a:alpha val="596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TextBox 1584"/>
          <p:cNvSpPr txBox="1"/>
          <p:nvPr/>
        </p:nvSpPr>
        <p:spPr>
          <a:xfrm>
            <a:off x="3640872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86" name="TextBox 1585"/>
          <p:cNvSpPr txBox="1"/>
          <p:nvPr/>
        </p:nvSpPr>
        <p:spPr>
          <a:xfrm>
            <a:off x="3640872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87" name="Rectangle 1586"/>
          <p:cNvSpPr/>
          <p:nvPr/>
        </p:nvSpPr>
        <p:spPr>
          <a:xfrm>
            <a:off x="3994121" y="4382928"/>
            <a:ext cx="335249" cy="251296"/>
          </a:xfrm>
          <a:prstGeom prst="rect">
            <a:avLst/>
          </a:prstGeom>
          <a:solidFill>
            <a:srgbClr val="374151">
              <a:alpha val="3009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TextBox 1587"/>
          <p:cNvSpPr txBox="1"/>
          <p:nvPr/>
        </p:nvSpPr>
        <p:spPr>
          <a:xfrm>
            <a:off x="3988121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89" name="TextBox 1588"/>
          <p:cNvSpPr txBox="1"/>
          <p:nvPr/>
        </p:nvSpPr>
        <p:spPr>
          <a:xfrm>
            <a:off x="3988121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0" name="Rectangle 1589"/>
          <p:cNvSpPr/>
          <p:nvPr/>
        </p:nvSpPr>
        <p:spPr>
          <a:xfrm>
            <a:off x="4341370" y="4382928"/>
            <a:ext cx="335249" cy="251296"/>
          </a:xfrm>
          <a:prstGeom prst="rect">
            <a:avLst/>
          </a:prstGeom>
          <a:solidFill>
            <a:srgbClr val="374151">
              <a:alpha val="365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TextBox 1590"/>
          <p:cNvSpPr txBox="1"/>
          <p:nvPr/>
        </p:nvSpPr>
        <p:spPr>
          <a:xfrm>
            <a:off x="4335370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2" name="TextBox 1591"/>
          <p:cNvSpPr txBox="1"/>
          <p:nvPr/>
        </p:nvSpPr>
        <p:spPr>
          <a:xfrm>
            <a:off x="4335370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3" name="Rectangle 1592"/>
          <p:cNvSpPr/>
          <p:nvPr/>
        </p:nvSpPr>
        <p:spPr>
          <a:xfrm>
            <a:off x="5730366" y="4382928"/>
            <a:ext cx="335249" cy="251296"/>
          </a:xfrm>
          <a:prstGeom prst="rect">
            <a:avLst/>
          </a:prstGeom>
          <a:solidFill>
            <a:srgbClr val="374151">
              <a:alpha val="976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TextBox 1593"/>
          <p:cNvSpPr txBox="1"/>
          <p:nvPr/>
        </p:nvSpPr>
        <p:spPr>
          <a:xfrm>
            <a:off x="5724366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95" name="TextBox 1594"/>
          <p:cNvSpPr txBox="1"/>
          <p:nvPr/>
        </p:nvSpPr>
        <p:spPr>
          <a:xfrm>
            <a:off x="5724366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96" name="TextBox 1595"/>
          <p:cNvSpPr txBox="1"/>
          <p:nvPr/>
        </p:nvSpPr>
        <p:spPr>
          <a:xfrm>
            <a:off x="202880" y="4640224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597" name="Rectangle 1596"/>
          <p:cNvSpPr/>
          <p:nvPr/>
        </p:nvSpPr>
        <p:spPr>
          <a:xfrm>
            <a:off x="868880" y="4646224"/>
            <a:ext cx="335249" cy="251296"/>
          </a:xfrm>
          <a:prstGeom prst="rect">
            <a:avLst/>
          </a:prstGeom>
          <a:solidFill>
            <a:srgbClr val="1F3864">
              <a:alpha val="522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TextBox 1597"/>
          <p:cNvSpPr txBox="1"/>
          <p:nvPr/>
        </p:nvSpPr>
        <p:spPr>
          <a:xfrm>
            <a:off x="862880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599" name="TextBox 1598"/>
          <p:cNvSpPr txBox="1"/>
          <p:nvPr/>
        </p:nvSpPr>
        <p:spPr>
          <a:xfrm>
            <a:off x="862880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00" name="Rectangle 1599"/>
          <p:cNvSpPr/>
          <p:nvPr/>
        </p:nvSpPr>
        <p:spPr>
          <a:xfrm>
            <a:off x="1216129" y="4646224"/>
            <a:ext cx="335249" cy="251296"/>
          </a:xfrm>
          <a:prstGeom prst="rect">
            <a:avLst/>
          </a:prstGeom>
          <a:solidFill>
            <a:srgbClr val="1F3864">
              <a:alpha val="386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TextBox 1600"/>
          <p:cNvSpPr txBox="1"/>
          <p:nvPr/>
        </p:nvSpPr>
        <p:spPr>
          <a:xfrm>
            <a:off x="1210129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02" name="TextBox 1601"/>
          <p:cNvSpPr txBox="1"/>
          <p:nvPr/>
        </p:nvSpPr>
        <p:spPr>
          <a:xfrm>
            <a:off x="1210129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03" name="Rectangle 1602"/>
          <p:cNvSpPr/>
          <p:nvPr/>
        </p:nvSpPr>
        <p:spPr>
          <a:xfrm>
            <a:off x="1563378" y="4646224"/>
            <a:ext cx="335249" cy="251296"/>
          </a:xfrm>
          <a:prstGeom prst="rect">
            <a:avLst/>
          </a:prstGeom>
          <a:solidFill>
            <a:srgbClr val="1F3864">
              <a:alpha val="386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TextBox 1603"/>
          <p:cNvSpPr txBox="1"/>
          <p:nvPr/>
        </p:nvSpPr>
        <p:spPr>
          <a:xfrm>
            <a:off x="1557378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05" name="TextBox 1604"/>
          <p:cNvSpPr txBox="1"/>
          <p:nvPr/>
        </p:nvSpPr>
        <p:spPr>
          <a:xfrm>
            <a:off x="1557378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06" name="Rectangle 1605"/>
          <p:cNvSpPr/>
          <p:nvPr/>
        </p:nvSpPr>
        <p:spPr>
          <a:xfrm>
            <a:off x="1910627" y="4646224"/>
            <a:ext cx="335249" cy="251296"/>
          </a:xfrm>
          <a:prstGeom prst="rect">
            <a:avLst/>
          </a:prstGeom>
          <a:solidFill>
            <a:srgbClr val="1F3864">
              <a:alpha val="740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TextBox 1606"/>
          <p:cNvSpPr txBox="1"/>
          <p:nvPr/>
        </p:nvSpPr>
        <p:spPr>
          <a:xfrm>
            <a:off x="1904627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8" name="TextBox 1607"/>
          <p:cNvSpPr txBox="1"/>
          <p:nvPr/>
        </p:nvSpPr>
        <p:spPr>
          <a:xfrm>
            <a:off x="1904627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9" name="Rectangle 1608"/>
          <p:cNvSpPr/>
          <p:nvPr/>
        </p:nvSpPr>
        <p:spPr>
          <a:xfrm>
            <a:off x="2257876" y="4646224"/>
            <a:ext cx="335249" cy="251296"/>
          </a:xfrm>
          <a:prstGeom prst="rect">
            <a:avLst/>
          </a:prstGeom>
          <a:solidFill>
            <a:srgbClr val="1F3864">
              <a:alpha val="30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TextBox 1609"/>
          <p:cNvSpPr txBox="1"/>
          <p:nvPr/>
        </p:nvSpPr>
        <p:spPr>
          <a:xfrm>
            <a:off x="2251876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11" name="TextBox 1610"/>
          <p:cNvSpPr txBox="1"/>
          <p:nvPr/>
        </p:nvSpPr>
        <p:spPr>
          <a:xfrm>
            <a:off x="2251876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12" name="Rectangle 1611"/>
          <p:cNvSpPr/>
          <p:nvPr/>
        </p:nvSpPr>
        <p:spPr>
          <a:xfrm>
            <a:off x="2605125" y="4646224"/>
            <a:ext cx="335249" cy="251296"/>
          </a:xfrm>
          <a:prstGeom prst="rect">
            <a:avLst/>
          </a:prstGeom>
          <a:solidFill>
            <a:srgbClr val="1F3864">
              <a:alpha val="522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TextBox 1612"/>
          <p:cNvSpPr txBox="1"/>
          <p:nvPr/>
        </p:nvSpPr>
        <p:spPr>
          <a:xfrm>
            <a:off x="2599125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14" name="TextBox 1613"/>
          <p:cNvSpPr txBox="1"/>
          <p:nvPr/>
        </p:nvSpPr>
        <p:spPr>
          <a:xfrm>
            <a:off x="2599125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15" name="Rectangle 1614"/>
          <p:cNvSpPr/>
          <p:nvPr/>
        </p:nvSpPr>
        <p:spPr>
          <a:xfrm>
            <a:off x="3299623" y="4646224"/>
            <a:ext cx="335249" cy="251296"/>
          </a:xfrm>
          <a:prstGeom prst="rect">
            <a:avLst/>
          </a:prstGeom>
          <a:solidFill>
            <a:srgbClr val="1F3864">
              <a:alpha val="863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TextBox 1615"/>
          <p:cNvSpPr txBox="1"/>
          <p:nvPr/>
        </p:nvSpPr>
        <p:spPr>
          <a:xfrm>
            <a:off x="3293623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7" name="TextBox 1616"/>
          <p:cNvSpPr txBox="1"/>
          <p:nvPr/>
        </p:nvSpPr>
        <p:spPr>
          <a:xfrm>
            <a:off x="3293623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8" name="Rectangle 1617"/>
          <p:cNvSpPr/>
          <p:nvPr/>
        </p:nvSpPr>
        <p:spPr>
          <a:xfrm>
            <a:off x="3646872" y="4646224"/>
            <a:ext cx="335249" cy="251296"/>
          </a:xfrm>
          <a:prstGeom prst="rect">
            <a:avLst/>
          </a:prstGeom>
          <a:solidFill>
            <a:srgbClr val="1F3864">
              <a:alpha val="627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TextBox 1618"/>
          <p:cNvSpPr txBox="1"/>
          <p:nvPr/>
        </p:nvSpPr>
        <p:spPr>
          <a:xfrm>
            <a:off x="3640872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0" name="TextBox 1619"/>
          <p:cNvSpPr txBox="1"/>
          <p:nvPr/>
        </p:nvSpPr>
        <p:spPr>
          <a:xfrm>
            <a:off x="3640872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1" name="Rectangle 1620"/>
          <p:cNvSpPr/>
          <p:nvPr/>
        </p:nvSpPr>
        <p:spPr>
          <a:xfrm>
            <a:off x="3994121" y="4646224"/>
            <a:ext cx="335249" cy="251296"/>
          </a:xfrm>
          <a:prstGeom prst="rect">
            <a:avLst/>
          </a:prstGeom>
          <a:solidFill>
            <a:srgbClr val="1F3864">
              <a:alpha val="60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TextBox 1621"/>
          <p:cNvSpPr txBox="1"/>
          <p:nvPr/>
        </p:nvSpPr>
        <p:spPr>
          <a:xfrm>
            <a:off x="3988121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3" name="TextBox 1622"/>
          <p:cNvSpPr txBox="1"/>
          <p:nvPr/>
        </p:nvSpPr>
        <p:spPr>
          <a:xfrm>
            <a:off x="3988121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4" name="Rectangle 1623"/>
          <p:cNvSpPr/>
          <p:nvPr/>
        </p:nvSpPr>
        <p:spPr>
          <a:xfrm>
            <a:off x="4341370" y="4646224"/>
            <a:ext cx="335249" cy="251296"/>
          </a:xfrm>
          <a:prstGeom prst="rect">
            <a:avLst/>
          </a:prstGeom>
          <a:solidFill>
            <a:srgbClr val="1F3864">
              <a:alpha val="5667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TextBox 1624"/>
          <p:cNvSpPr txBox="1"/>
          <p:nvPr/>
        </p:nvSpPr>
        <p:spPr>
          <a:xfrm>
            <a:off x="4335370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6" name="TextBox 1625"/>
          <p:cNvSpPr txBox="1"/>
          <p:nvPr/>
        </p:nvSpPr>
        <p:spPr>
          <a:xfrm>
            <a:off x="4335370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7" name="Rectangle 1626"/>
          <p:cNvSpPr/>
          <p:nvPr/>
        </p:nvSpPr>
        <p:spPr>
          <a:xfrm>
            <a:off x="4688619" y="4646224"/>
            <a:ext cx="335249" cy="2512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TextBox 1627"/>
          <p:cNvSpPr txBox="1"/>
          <p:nvPr/>
        </p:nvSpPr>
        <p:spPr>
          <a:xfrm>
            <a:off x="4682619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9" name="TextBox 1628"/>
          <p:cNvSpPr txBox="1"/>
          <p:nvPr/>
        </p:nvSpPr>
        <p:spPr>
          <a:xfrm>
            <a:off x="4682619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30" name="Rectangle 1629"/>
          <p:cNvSpPr/>
          <p:nvPr/>
        </p:nvSpPr>
        <p:spPr>
          <a:xfrm>
            <a:off x="5035868" y="4646224"/>
            <a:ext cx="335249" cy="251296"/>
          </a:xfrm>
          <a:prstGeom prst="rect">
            <a:avLst/>
          </a:prstGeom>
          <a:solidFill>
            <a:srgbClr val="1F3864">
              <a:alpha val="522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TextBox 1630"/>
          <p:cNvSpPr txBox="1"/>
          <p:nvPr/>
        </p:nvSpPr>
        <p:spPr>
          <a:xfrm>
            <a:off x="5029868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2" name="TextBox 1631"/>
          <p:cNvSpPr txBox="1"/>
          <p:nvPr/>
        </p:nvSpPr>
        <p:spPr>
          <a:xfrm>
            <a:off x="5029868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3" name="Rectangle 1632"/>
          <p:cNvSpPr/>
          <p:nvPr/>
        </p:nvSpPr>
        <p:spPr>
          <a:xfrm>
            <a:off x="5383117" y="4646224"/>
            <a:ext cx="335249" cy="2512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TextBox 1633"/>
          <p:cNvSpPr txBox="1"/>
          <p:nvPr/>
        </p:nvSpPr>
        <p:spPr>
          <a:xfrm>
            <a:off x="5377117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5" name="TextBox 1634"/>
          <p:cNvSpPr txBox="1"/>
          <p:nvPr/>
        </p:nvSpPr>
        <p:spPr>
          <a:xfrm>
            <a:off x="5377117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6" name="Rectangle 1635"/>
          <p:cNvSpPr/>
          <p:nvPr/>
        </p:nvSpPr>
        <p:spPr>
          <a:xfrm>
            <a:off x="5730366" y="4646224"/>
            <a:ext cx="335249" cy="251296"/>
          </a:xfrm>
          <a:prstGeom prst="rect">
            <a:avLst/>
          </a:prstGeom>
          <a:solidFill>
            <a:srgbClr val="1F3864">
              <a:alpha val="9788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TextBox 1636"/>
          <p:cNvSpPr txBox="1"/>
          <p:nvPr/>
        </p:nvSpPr>
        <p:spPr>
          <a:xfrm>
            <a:off x="5724366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38" name="TextBox 1637"/>
          <p:cNvSpPr txBox="1"/>
          <p:nvPr/>
        </p:nvSpPr>
        <p:spPr>
          <a:xfrm>
            <a:off x="5724366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39" name="TextBox 1638"/>
          <p:cNvSpPr txBox="1"/>
          <p:nvPr/>
        </p:nvSpPr>
        <p:spPr>
          <a:xfrm>
            <a:off x="202880" y="4903520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640" name="Rectangle 1639"/>
          <p:cNvSpPr/>
          <p:nvPr/>
        </p:nvSpPr>
        <p:spPr>
          <a:xfrm>
            <a:off x="868880" y="4909520"/>
            <a:ext cx="335249" cy="251296"/>
          </a:xfrm>
          <a:prstGeom prst="rect">
            <a:avLst/>
          </a:prstGeom>
          <a:solidFill>
            <a:srgbClr val="E67E22">
              <a:alpha val="4456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TextBox 1640"/>
          <p:cNvSpPr txBox="1"/>
          <p:nvPr/>
        </p:nvSpPr>
        <p:spPr>
          <a:xfrm>
            <a:off x="862880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42" name="TextBox 1641"/>
          <p:cNvSpPr txBox="1"/>
          <p:nvPr/>
        </p:nvSpPr>
        <p:spPr>
          <a:xfrm>
            <a:off x="862880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43" name="Rectangle 1642"/>
          <p:cNvSpPr/>
          <p:nvPr/>
        </p:nvSpPr>
        <p:spPr>
          <a:xfrm>
            <a:off x="1216129" y="4909520"/>
            <a:ext cx="335249" cy="251296"/>
          </a:xfrm>
          <a:prstGeom prst="rect">
            <a:avLst/>
          </a:prstGeom>
          <a:solidFill>
            <a:srgbClr val="E67E22">
              <a:alpha val="554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TextBox 1643"/>
          <p:cNvSpPr txBox="1"/>
          <p:nvPr/>
        </p:nvSpPr>
        <p:spPr>
          <a:xfrm>
            <a:off x="1210129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45" name="TextBox 1644"/>
          <p:cNvSpPr txBox="1"/>
          <p:nvPr/>
        </p:nvSpPr>
        <p:spPr>
          <a:xfrm>
            <a:off x="1210129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46" name="Rectangle 1645"/>
          <p:cNvSpPr/>
          <p:nvPr/>
        </p:nvSpPr>
        <p:spPr>
          <a:xfrm>
            <a:off x="1563378" y="4909520"/>
            <a:ext cx="335249" cy="251296"/>
          </a:xfrm>
          <a:prstGeom prst="rect">
            <a:avLst/>
          </a:prstGeom>
          <a:solidFill>
            <a:srgbClr val="E67E22">
              <a:alpha val="40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TextBox 1646"/>
          <p:cNvSpPr txBox="1"/>
          <p:nvPr/>
        </p:nvSpPr>
        <p:spPr>
          <a:xfrm>
            <a:off x="1557378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48" name="TextBox 1647"/>
          <p:cNvSpPr txBox="1"/>
          <p:nvPr/>
        </p:nvSpPr>
        <p:spPr>
          <a:xfrm>
            <a:off x="1557378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49" name="Rectangle 1648"/>
          <p:cNvSpPr/>
          <p:nvPr/>
        </p:nvSpPr>
        <p:spPr>
          <a:xfrm>
            <a:off x="1910627" y="4909520"/>
            <a:ext cx="335249" cy="251296"/>
          </a:xfrm>
          <a:prstGeom prst="rect">
            <a:avLst/>
          </a:prstGeom>
          <a:solidFill>
            <a:srgbClr val="E67E22">
              <a:alpha val="956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TextBox 1649"/>
          <p:cNvSpPr txBox="1"/>
          <p:nvPr/>
        </p:nvSpPr>
        <p:spPr>
          <a:xfrm>
            <a:off x="1904627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51" name="TextBox 1650"/>
          <p:cNvSpPr txBox="1"/>
          <p:nvPr/>
        </p:nvSpPr>
        <p:spPr>
          <a:xfrm>
            <a:off x="1904627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52" name="Rectangle 1651"/>
          <p:cNvSpPr/>
          <p:nvPr/>
        </p:nvSpPr>
        <p:spPr>
          <a:xfrm>
            <a:off x="2257876" y="4909520"/>
            <a:ext cx="335249" cy="251296"/>
          </a:xfrm>
          <a:prstGeom prst="rect">
            <a:avLst/>
          </a:prstGeom>
          <a:solidFill>
            <a:srgbClr val="E67E22">
              <a:alpha val="488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TextBox 1652"/>
          <p:cNvSpPr txBox="1"/>
          <p:nvPr/>
        </p:nvSpPr>
        <p:spPr>
          <a:xfrm>
            <a:off x="2251876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54" name="TextBox 1653"/>
          <p:cNvSpPr txBox="1"/>
          <p:nvPr/>
        </p:nvSpPr>
        <p:spPr>
          <a:xfrm>
            <a:off x="2251876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55" name="Rectangle 1654"/>
          <p:cNvSpPr/>
          <p:nvPr/>
        </p:nvSpPr>
        <p:spPr>
          <a:xfrm>
            <a:off x="2605125" y="4909520"/>
            <a:ext cx="335249" cy="251296"/>
          </a:xfrm>
          <a:prstGeom prst="rect">
            <a:avLst/>
          </a:prstGeom>
          <a:solidFill>
            <a:srgbClr val="E67E22">
              <a:alpha val="598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TextBox 1655"/>
          <p:cNvSpPr txBox="1"/>
          <p:nvPr/>
        </p:nvSpPr>
        <p:spPr>
          <a:xfrm>
            <a:off x="2599125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57" name="TextBox 1656"/>
          <p:cNvSpPr txBox="1"/>
          <p:nvPr/>
        </p:nvSpPr>
        <p:spPr>
          <a:xfrm>
            <a:off x="2599125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58" name="Rectangle 1657"/>
          <p:cNvSpPr/>
          <p:nvPr/>
        </p:nvSpPr>
        <p:spPr>
          <a:xfrm>
            <a:off x="2952374" y="4909520"/>
            <a:ext cx="335249" cy="251296"/>
          </a:xfrm>
          <a:prstGeom prst="rect">
            <a:avLst/>
          </a:prstGeom>
          <a:solidFill>
            <a:srgbClr val="E67E22">
              <a:alpha val="4020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TextBox 1658"/>
          <p:cNvSpPr txBox="1"/>
          <p:nvPr/>
        </p:nvSpPr>
        <p:spPr>
          <a:xfrm>
            <a:off x="2946374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0" name="TextBox 1659"/>
          <p:cNvSpPr txBox="1"/>
          <p:nvPr/>
        </p:nvSpPr>
        <p:spPr>
          <a:xfrm>
            <a:off x="2946374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1" name="Rectangle 1660"/>
          <p:cNvSpPr/>
          <p:nvPr/>
        </p:nvSpPr>
        <p:spPr>
          <a:xfrm>
            <a:off x="3299623" y="4909520"/>
            <a:ext cx="335249" cy="251296"/>
          </a:xfrm>
          <a:prstGeom prst="rect">
            <a:avLst/>
          </a:prstGeom>
          <a:solidFill>
            <a:srgbClr val="E67E22">
              <a:alpha val="5219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TextBox 1661"/>
          <p:cNvSpPr txBox="1"/>
          <p:nvPr/>
        </p:nvSpPr>
        <p:spPr>
          <a:xfrm>
            <a:off x="3293623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4.8M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3" name="TextBox 1662"/>
          <p:cNvSpPr txBox="1"/>
          <p:nvPr/>
        </p:nvSpPr>
        <p:spPr>
          <a:xfrm>
            <a:off x="3293623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4" name="Rectangle 1663"/>
          <p:cNvSpPr/>
          <p:nvPr/>
        </p:nvSpPr>
        <p:spPr>
          <a:xfrm>
            <a:off x="3646872" y="4909520"/>
            <a:ext cx="335249" cy="251296"/>
          </a:xfrm>
          <a:prstGeom prst="rect">
            <a:avLst/>
          </a:prstGeom>
          <a:solidFill>
            <a:srgbClr val="E67E22">
              <a:alpha val="947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TextBox 1664"/>
          <p:cNvSpPr txBox="1"/>
          <p:nvPr/>
        </p:nvSpPr>
        <p:spPr>
          <a:xfrm>
            <a:off x="3640872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66" name="TextBox 1665"/>
          <p:cNvSpPr txBox="1"/>
          <p:nvPr/>
        </p:nvSpPr>
        <p:spPr>
          <a:xfrm>
            <a:off x="3640872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67" name="Rectangle 1666"/>
          <p:cNvSpPr/>
          <p:nvPr/>
        </p:nvSpPr>
        <p:spPr>
          <a:xfrm>
            <a:off x="3994121" y="4909520"/>
            <a:ext cx="335249" cy="2512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TextBox 1667"/>
          <p:cNvSpPr txBox="1"/>
          <p:nvPr/>
        </p:nvSpPr>
        <p:spPr>
          <a:xfrm>
            <a:off x="3988121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13.2M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69" name="TextBox 1668"/>
          <p:cNvSpPr txBox="1"/>
          <p:nvPr/>
        </p:nvSpPr>
        <p:spPr>
          <a:xfrm>
            <a:off x="3988121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0" name="Rectangle 1669"/>
          <p:cNvSpPr/>
          <p:nvPr/>
        </p:nvSpPr>
        <p:spPr>
          <a:xfrm>
            <a:off x="4341370" y="4909520"/>
            <a:ext cx="335249" cy="251296"/>
          </a:xfrm>
          <a:prstGeom prst="rect">
            <a:avLst/>
          </a:prstGeom>
          <a:solidFill>
            <a:srgbClr val="E67E22">
              <a:alpha val="628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TextBox 1670"/>
          <p:cNvSpPr txBox="1"/>
          <p:nvPr/>
        </p:nvSpPr>
        <p:spPr>
          <a:xfrm>
            <a:off x="4335370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2" name="TextBox 1671"/>
          <p:cNvSpPr txBox="1"/>
          <p:nvPr/>
        </p:nvSpPr>
        <p:spPr>
          <a:xfrm>
            <a:off x="4335370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3" name="Rectangle 1672"/>
          <p:cNvSpPr/>
          <p:nvPr/>
        </p:nvSpPr>
        <p:spPr>
          <a:xfrm>
            <a:off x="4688619" y="4909520"/>
            <a:ext cx="335249" cy="251296"/>
          </a:xfrm>
          <a:prstGeom prst="rect">
            <a:avLst/>
          </a:prstGeom>
          <a:solidFill>
            <a:srgbClr val="E67E22">
              <a:alpha val="665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TextBox 1673"/>
          <p:cNvSpPr txBox="1"/>
          <p:nvPr/>
        </p:nvSpPr>
        <p:spPr>
          <a:xfrm>
            <a:off x="4682619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5" name="TextBox 1674"/>
          <p:cNvSpPr txBox="1"/>
          <p:nvPr/>
        </p:nvSpPr>
        <p:spPr>
          <a:xfrm>
            <a:off x="4682619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6" name="Rectangle 1675"/>
          <p:cNvSpPr/>
          <p:nvPr/>
        </p:nvSpPr>
        <p:spPr>
          <a:xfrm>
            <a:off x="5035868" y="4909520"/>
            <a:ext cx="335249" cy="251296"/>
          </a:xfrm>
          <a:prstGeom prst="rect">
            <a:avLst/>
          </a:prstGeom>
          <a:solidFill>
            <a:srgbClr val="E67E22">
              <a:alpha val="772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TextBox 1676"/>
          <p:cNvSpPr txBox="1"/>
          <p:nvPr/>
        </p:nvSpPr>
        <p:spPr>
          <a:xfrm>
            <a:off x="5029868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8" name="TextBox 1677"/>
          <p:cNvSpPr txBox="1"/>
          <p:nvPr/>
        </p:nvSpPr>
        <p:spPr>
          <a:xfrm>
            <a:off x="5029868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9" name="Rectangle 1678"/>
          <p:cNvSpPr/>
          <p:nvPr/>
        </p:nvSpPr>
        <p:spPr>
          <a:xfrm>
            <a:off x="5383117" y="4909520"/>
            <a:ext cx="335249" cy="251296"/>
          </a:xfrm>
          <a:prstGeom prst="rect">
            <a:avLst/>
          </a:prstGeom>
          <a:solidFill>
            <a:srgbClr val="E67E22">
              <a:alpha val="699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TextBox 1679"/>
          <p:cNvSpPr txBox="1"/>
          <p:nvPr/>
        </p:nvSpPr>
        <p:spPr>
          <a:xfrm>
            <a:off x="5377117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81" name="TextBox 1680"/>
          <p:cNvSpPr txBox="1"/>
          <p:nvPr/>
        </p:nvSpPr>
        <p:spPr>
          <a:xfrm>
            <a:off x="5377117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82" name="Rectangle 1681"/>
          <p:cNvSpPr/>
          <p:nvPr/>
        </p:nvSpPr>
        <p:spPr>
          <a:xfrm>
            <a:off x="5730366" y="4909520"/>
            <a:ext cx="335249" cy="251296"/>
          </a:xfrm>
          <a:prstGeom prst="rect">
            <a:avLst/>
          </a:prstGeom>
          <a:solidFill>
            <a:srgbClr val="E67E22">
              <a:alpha val="4968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TextBox 1682"/>
          <p:cNvSpPr txBox="1"/>
          <p:nvPr/>
        </p:nvSpPr>
        <p:spPr>
          <a:xfrm>
            <a:off x="5724366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4" name="TextBox 1683"/>
          <p:cNvSpPr txBox="1"/>
          <p:nvPr/>
        </p:nvSpPr>
        <p:spPr>
          <a:xfrm>
            <a:off x="5724366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5" name="TextBox 1684"/>
          <p:cNvSpPr txBox="1"/>
          <p:nvPr/>
        </p:nvSpPr>
        <p:spPr>
          <a:xfrm>
            <a:off x="202880" y="5166816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686" name="Rectangle 1685"/>
          <p:cNvSpPr/>
          <p:nvPr/>
        </p:nvSpPr>
        <p:spPr>
          <a:xfrm>
            <a:off x="868880" y="5172816"/>
            <a:ext cx="335249" cy="251296"/>
          </a:xfrm>
          <a:prstGeom prst="rect">
            <a:avLst/>
          </a:prstGeom>
          <a:solidFill>
            <a:srgbClr val="1A7A3F">
              <a:alpha val="420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TextBox 1686"/>
          <p:cNvSpPr txBox="1"/>
          <p:nvPr/>
        </p:nvSpPr>
        <p:spPr>
          <a:xfrm>
            <a:off x="862880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688" name="TextBox 1687"/>
          <p:cNvSpPr txBox="1"/>
          <p:nvPr/>
        </p:nvSpPr>
        <p:spPr>
          <a:xfrm>
            <a:off x="862880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689" name="Rectangle 1688"/>
          <p:cNvSpPr/>
          <p:nvPr/>
        </p:nvSpPr>
        <p:spPr>
          <a:xfrm>
            <a:off x="1216129" y="5172816"/>
            <a:ext cx="335249" cy="251296"/>
          </a:xfrm>
          <a:prstGeom prst="rect">
            <a:avLst/>
          </a:prstGeom>
          <a:solidFill>
            <a:srgbClr val="1A7A3F">
              <a:alpha val="498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TextBox 1689"/>
          <p:cNvSpPr txBox="1"/>
          <p:nvPr/>
        </p:nvSpPr>
        <p:spPr>
          <a:xfrm>
            <a:off x="1210129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691" name="TextBox 1690"/>
          <p:cNvSpPr txBox="1"/>
          <p:nvPr/>
        </p:nvSpPr>
        <p:spPr>
          <a:xfrm>
            <a:off x="1210129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692" name="Rectangle 1691"/>
          <p:cNvSpPr/>
          <p:nvPr/>
        </p:nvSpPr>
        <p:spPr>
          <a:xfrm>
            <a:off x="1563378" y="5172816"/>
            <a:ext cx="335249" cy="251296"/>
          </a:xfrm>
          <a:prstGeom prst="rect">
            <a:avLst/>
          </a:prstGeom>
          <a:solidFill>
            <a:srgbClr val="1A7A3F">
              <a:alpha val="497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TextBox 1692"/>
          <p:cNvSpPr txBox="1"/>
          <p:nvPr/>
        </p:nvSpPr>
        <p:spPr>
          <a:xfrm>
            <a:off x="1557378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694" name="TextBox 1693"/>
          <p:cNvSpPr txBox="1"/>
          <p:nvPr/>
        </p:nvSpPr>
        <p:spPr>
          <a:xfrm>
            <a:off x="1557378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695" name="Rectangle 1694"/>
          <p:cNvSpPr/>
          <p:nvPr/>
        </p:nvSpPr>
        <p:spPr>
          <a:xfrm>
            <a:off x="1910627" y="5172816"/>
            <a:ext cx="335249" cy="251296"/>
          </a:xfrm>
          <a:prstGeom prst="rect">
            <a:avLst/>
          </a:prstGeom>
          <a:solidFill>
            <a:srgbClr val="1A7A3F">
              <a:alpha val="489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TextBox 1695"/>
          <p:cNvSpPr txBox="1"/>
          <p:nvPr/>
        </p:nvSpPr>
        <p:spPr>
          <a:xfrm>
            <a:off x="1904627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697" name="TextBox 1696"/>
          <p:cNvSpPr txBox="1"/>
          <p:nvPr/>
        </p:nvSpPr>
        <p:spPr>
          <a:xfrm>
            <a:off x="1904627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698" name="Rectangle 1697"/>
          <p:cNvSpPr/>
          <p:nvPr/>
        </p:nvSpPr>
        <p:spPr>
          <a:xfrm>
            <a:off x="2257876" y="5172816"/>
            <a:ext cx="335249" cy="251296"/>
          </a:xfrm>
          <a:prstGeom prst="rect">
            <a:avLst/>
          </a:prstGeom>
          <a:solidFill>
            <a:srgbClr val="1A7A3F">
              <a:alpha val="6839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TextBox 1698"/>
          <p:cNvSpPr txBox="1"/>
          <p:nvPr/>
        </p:nvSpPr>
        <p:spPr>
          <a:xfrm>
            <a:off x="2251876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0" name="TextBox 1699"/>
          <p:cNvSpPr txBox="1"/>
          <p:nvPr/>
        </p:nvSpPr>
        <p:spPr>
          <a:xfrm>
            <a:off x="2251876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1" name="Rectangle 1700"/>
          <p:cNvSpPr/>
          <p:nvPr/>
        </p:nvSpPr>
        <p:spPr>
          <a:xfrm>
            <a:off x="2605125" y="5172816"/>
            <a:ext cx="335249" cy="2512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TextBox 1701"/>
          <p:cNvSpPr txBox="1"/>
          <p:nvPr/>
        </p:nvSpPr>
        <p:spPr>
          <a:xfrm>
            <a:off x="2599125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3" name="TextBox 1702"/>
          <p:cNvSpPr txBox="1"/>
          <p:nvPr/>
        </p:nvSpPr>
        <p:spPr>
          <a:xfrm>
            <a:off x="2599125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4" name="Rectangle 1703"/>
          <p:cNvSpPr/>
          <p:nvPr/>
        </p:nvSpPr>
        <p:spPr>
          <a:xfrm>
            <a:off x="2952374" y="5172816"/>
            <a:ext cx="335249" cy="251296"/>
          </a:xfrm>
          <a:prstGeom prst="rect">
            <a:avLst/>
          </a:prstGeom>
          <a:solidFill>
            <a:srgbClr val="1A7A3F">
              <a:alpha val="550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TextBox 1704"/>
          <p:cNvSpPr txBox="1"/>
          <p:nvPr/>
        </p:nvSpPr>
        <p:spPr>
          <a:xfrm>
            <a:off x="2946374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6" name="TextBox 1705"/>
          <p:cNvSpPr txBox="1"/>
          <p:nvPr/>
        </p:nvSpPr>
        <p:spPr>
          <a:xfrm>
            <a:off x="2946374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7" name="Rectangle 1706"/>
          <p:cNvSpPr/>
          <p:nvPr/>
        </p:nvSpPr>
        <p:spPr>
          <a:xfrm>
            <a:off x="3299623" y="5172816"/>
            <a:ext cx="335249" cy="251296"/>
          </a:xfrm>
          <a:prstGeom prst="rect">
            <a:avLst/>
          </a:prstGeom>
          <a:solidFill>
            <a:srgbClr val="1A7A3F">
              <a:alpha val="465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TextBox 1707"/>
          <p:cNvSpPr txBox="1"/>
          <p:nvPr/>
        </p:nvSpPr>
        <p:spPr>
          <a:xfrm>
            <a:off x="3293623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2.8M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09" name="TextBox 1708"/>
          <p:cNvSpPr txBox="1"/>
          <p:nvPr/>
        </p:nvSpPr>
        <p:spPr>
          <a:xfrm>
            <a:off x="3293623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0" name="Rectangle 1709"/>
          <p:cNvSpPr/>
          <p:nvPr/>
        </p:nvSpPr>
        <p:spPr>
          <a:xfrm>
            <a:off x="3646872" y="5172816"/>
            <a:ext cx="335249" cy="251296"/>
          </a:xfrm>
          <a:prstGeom prst="rect">
            <a:avLst/>
          </a:prstGeom>
          <a:solidFill>
            <a:srgbClr val="1A7A3F">
              <a:alpha val="4361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TextBox 1710"/>
          <p:cNvSpPr txBox="1"/>
          <p:nvPr/>
        </p:nvSpPr>
        <p:spPr>
          <a:xfrm>
            <a:off x="3640872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2.5M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2" name="TextBox 1711"/>
          <p:cNvSpPr txBox="1"/>
          <p:nvPr/>
        </p:nvSpPr>
        <p:spPr>
          <a:xfrm>
            <a:off x="3640872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3" name="Rectangle 1712"/>
          <p:cNvSpPr/>
          <p:nvPr/>
        </p:nvSpPr>
        <p:spPr>
          <a:xfrm>
            <a:off x="3994121" y="5172816"/>
            <a:ext cx="335249" cy="251296"/>
          </a:xfrm>
          <a:prstGeom prst="rect">
            <a:avLst/>
          </a:prstGeom>
          <a:solidFill>
            <a:srgbClr val="1A7A3F">
              <a:alpha val="5996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TextBox 1713"/>
          <p:cNvSpPr txBox="1"/>
          <p:nvPr/>
        </p:nvSpPr>
        <p:spPr>
          <a:xfrm>
            <a:off x="3988121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5" name="TextBox 1714"/>
          <p:cNvSpPr txBox="1"/>
          <p:nvPr/>
        </p:nvSpPr>
        <p:spPr>
          <a:xfrm>
            <a:off x="3988121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6" name="Rectangle 1715"/>
          <p:cNvSpPr/>
          <p:nvPr/>
        </p:nvSpPr>
        <p:spPr>
          <a:xfrm>
            <a:off x="4341370" y="5172816"/>
            <a:ext cx="335249" cy="251296"/>
          </a:xfrm>
          <a:prstGeom prst="rect">
            <a:avLst/>
          </a:prstGeom>
          <a:solidFill>
            <a:srgbClr val="1A7A3F">
              <a:alpha val="5448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TextBox 1716"/>
          <p:cNvSpPr txBox="1"/>
          <p:nvPr/>
        </p:nvSpPr>
        <p:spPr>
          <a:xfrm>
            <a:off x="4335370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8" name="TextBox 1717"/>
          <p:cNvSpPr txBox="1"/>
          <p:nvPr/>
        </p:nvSpPr>
        <p:spPr>
          <a:xfrm>
            <a:off x="4335370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9" name="Rectangle 1718"/>
          <p:cNvSpPr/>
          <p:nvPr/>
        </p:nvSpPr>
        <p:spPr>
          <a:xfrm>
            <a:off x="4688619" y="5172816"/>
            <a:ext cx="335249" cy="251296"/>
          </a:xfrm>
          <a:prstGeom prst="rect">
            <a:avLst/>
          </a:prstGeom>
          <a:solidFill>
            <a:srgbClr val="1A7A3F">
              <a:alpha val="5370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TextBox 1719"/>
          <p:cNvSpPr txBox="1"/>
          <p:nvPr/>
        </p:nvSpPr>
        <p:spPr>
          <a:xfrm>
            <a:off x="4682619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3.8M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1" name="TextBox 1720"/>
          <p:cNvSpPr txBox="1"/>
          <p:nvPr/>
        </p:nvSpPr>
        <p:spPr>
          <a:xfrm>
            <a:off x="4682619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2" name="Rectangle 1721"/>
          <p:cNvSpPr/>
          <p:nvPr/>
        </p:nvSpPr>
        <p:spPr>
          <a:xfrm>
            <a:off x="5035868" y="5172816"/>
            <a:ext cx="335249" cy="251296"/>
          </a:xfrm>
          <a:prstGeom prst="rect">
            <a:avLst/>
          </a:prstGeom>
          <a:solidFill>
            <a:srgbClr val="1A7A3F">
              <a:alpha val="359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TextBox 1722"/>
          <p:cNvSpPr txBox="1"/>
          <p:nvPr/>
        </p:nvSpPr>
        <p:spPr>
          <a:xfrm>
            <a:off x="5029868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1.4M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4" name="TextBox 1723"/>
          <p:cNvSpPr txBox="1"/>
          <p:nvPr/>
        </p:nvSpPr>
        <p:spPr>
          <a:xfrm>
            <a:off x="5029868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5" name="Rectangle 1724"/>
          <p:cNvSpPr/>
          <p:nvPr/>
        </p:nvSpPr>
        <p:spPr>
          <a:xfrm>
            <a:off x="5383117" y="5172816"/>
            <a:ext cx="335249" cy="251296"/>
          </a:xfrm>
          <a:prstGeom prst="rect">
            <a:avLst/>
          </a:prstGeom>
          <a:solidFill>
            <a:srgbClr val="1A7A3F">
              <a:alpha val="506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TextBox 1725"/>
          <p:cNvSpPr txBox="1"/>
          <p:nvPr/>
        </p:nvSpPr>
        <p:spPr>
          <a:xfrm>
            <a:off x="5377117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7" name="TextBox 1726"/>
          <p:cNvSpPr txBox="1"/>
          <p:nvPr/>
        </p:nvSpPr>
        <p:spPr>
          <a:xfrm>
            <a:off x="5377117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8" name="Rectangle 1727"/>
          <p:cNvSpPr/>
          <p:nvPr/>
        </p:nvSpPr>
        <p:spPr>
          <a:xfrm>
            <a:off x="5730366" y="5172816"/>
            <a:ext cx="335249" cy="251296"/>
          </a:xfrm>
          <a:prstGeom prst="rect">
            <a:avLst/>
          </a:prstGeom>
          <a:solidFill>
            <a:srgbClr val="1A7A3F">
              <a:alpha val="4710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TextBox 1728"/>
          <p:cNvSpPr txBox="1"/>
          <p:nvPr/>
        </p:nvSpPr>
        <p:spPr>
          <a:xfrm>
            <a:off x="5724366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2.9M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0" name="TextBox 1729"/>
          <p:cNvSpPr txBox="1"/>
          <p:nvPr/>
        </p:nvSpPr>
        <p:spPr>
          <a:xfrm>
            <a:off x="5724366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1" name="TextBox 1730"/>
          <p:cNvSpPr txBox="1"/>
          <p:nvPr/>
        </p:nvSpPr>
        <p:spPr>
          <a:xfrm>
            <a:off x="202880" y="5430112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32" name="Rectangle 1731"/>
          <p:cNvSpPr/>
          <p:nvPr/>
        </p:nvSpPr>
        <p:spPr>
          <a:xfrm>
            <a:off x="2257876" y="5436112"/>
            <a:ext cx="335249" cy="251296"/>
          </a:xfrm>
          <a:prstGeom prst="rect">
            <a:avLst/>
          </a:prstGeom>
          <a:solidFill>
            <a:srgbClr val="94A3B8">
              <a:alpha val="433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TextBox 1732"/>
          <p:cNvSpPr txBox="1"/>
          <p:nvPr/>
        </p:nvSpPr>
        <p:spPr>
          <a:xfrm>
            <a:off x="2251876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34" name="TextBox 1733"/>
          <p:cNvSpPr txBox="1"/>
          <p:nvPr/>
        </p:nvSpPr>
        <p:spPr>
          <a:xfrm>
            <a:off x="2251876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35" name="Rectangle 1734"/>
          <p:cNvSpPr/>
          <p:nvPr/>
        </p:nvSpPr>
        <p:spPr>
          <a:xfrm>
            <a:off x="2952374" y="5436112"/>
            <a:ext cx="335249" cy="2512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TextBox 1735"/>
          <p:cNvSpPr txBox="1"/>
          <p:nvPr/>
        </p:nvSpPr>
        <p:spPr>
          <a:xfrm>
            <a:off x="2946374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37" name="TextBox 1736"/>
          <p:cNvSpPr txBox="1"/>
          <p:nvPr/>
        </p:nvSpPr>
        <p:spPr>
          <a:xfrm>
            <a:off x="2946374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38" name="Rectangle 1737"/>
          <p:cNvSpPr/>
          <p:nvPr/>
        </p:nvSpPr>
        <p:spPr>
          <a:xfrm>
            <a:off x="3646872" y="5436112"/>
            <a:ext cx="335249" cy="251296"/>
          </a:xfrm>
          <a:prstGeom prst="rect">
            <a:avLst/>
          </a:prstGeom>
          <a:solidFill>
            <a:srgbClr val="94A3B8">
              <a:alpha val="254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TextBox 1738"/>
          <p:cNvSpPr txBox="1"/>
          <p:nvPr/>
        </p:nvSpPr>
        <p:spPr>
          <a:xfrm>
            <a:off x="3640872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40" name="TextBox 1739"/>
          <p:cNvSpPr txBox="1"/>
          <p:nvPr/>
        </p:nvSpPr>
        <p:spPr>
          <a:xfrm>
            <a:off x="3640872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41" name="Rectangle 1740"/>
          <p:cNvSpPr/>
          <p:nvPr/>
        </p:nvSpPr>
        <p:spPr>
          <a:xfrm>
            <a:off x="4341370" y="5436112"/>
            <a:ext cx="335249" cy="251296"/>
          </a:xfrm>
          <a:prstGeom prst="rect">
            <a:avLst/>
          </a:prstGeom>
          <a:solidFill>
            <a:srgbClr val="94A3B8">
              <a:alpha val="267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TextBox 1741"/>
          <p:cNvSpPr txBox="1"/>
          <p:nvPr/>
        </p:nvSpPr>
        <p:spPr>
          <a:xfrm>
            <a:off x="4335370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43" name="TextBox 1742"/>
          <p:cNvSpPr txBox="1"/>
          <p:nvPr/>
        </p:nvSpPr>
        <p:spPr>
          <a:xfrm>
            <a:off x="4335370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44" name="Rectangle 1743"/>
          <p:cNvSpPr/>
          <p:nvPr/>
        </p:nvSpPr>
        <p:spPr>
          <a:xfrm>
            <a:off x="5035868" y="5436112"/>
            <a:ext cx="335249" cy="251296"/>
          </a:xfrm>
          <a:prstGeom prst="rect">
            <a:avLst/>
          </a:prstGeom>
          <a:solidFill>
            <a:srgbClr val="94A3B8">
              <a:alpha val="2909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TextBox 1744"/>
          <p:cNvSpPr txBox="1"/>
          <p:nvPr/>
        </p:nvSpPr>
        <p:spPr>
          <a:xfrm>
            <a:off x="5029868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46" name="TextBox 1745"/>
          <p:cNvSpPr txBox="1"/>
          <p:nvPr/>
        </p:nvSpPr>
        <p:spPr>
          <a:xfrm>
            <a:off x="5029868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47" name="TextBox 1746"/>
          <p:cNvSpPr txBox="1"/>
          <p:nvPr/>
        </p:nvSpPr>
        <p:spPr>
          <a:xfrm>
            <a:off x="202880" y="5693408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48" name="Rectangle 1747"/>
          <p:cNvSpPr/>
          <p:nvPr/>
        </p:nvSpPr>
        <p:spPr>
          <a:xfrm>
            <a:off x="5035868" y="5699408"/>
            <a:ext cx="335249" cy="2512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TextBox 1748"/>
          <p:cNvSpPr txBox="1"/>
          <p:nvPr/>
        </p:nvSpPr>
        <p:spPr>
          <a:xfrm>
            <a:off x="5029868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0" name="TextBox 1749"/>
          <p:cNvSpPr txBox="1"/>
          <p:nvPr/>
        </p:nvSpPr>
        <p:spPr>
          <a:xfrm>
            <a:off x="5029868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1" name="Rectangle 1750"/>
          <p:cNvSpPr/>
          <p:nvPr/>
        </p:nvSpPr>
        <p:spPr>
          <a:xfrm>
            <a:off x="5730366" y="5699408"/>
            <a:ext cx="335249" cy="2512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TextBox 1751"/>
          <p:cNvSpPr txBox="1"/>
          <p:nvPr/>
        </p:nvSpPr>
        <p:spPr>
          <a:xfrm>
            <a:off x="5724366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3" name="TextBox 1752"/>
          <p:cNvSpPr txBox="1"/>
          <p:nvPr/>
        </p:nvSpPr>
        <p:spPr>
          <a:xfrm>
            <a:off x="5724366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4" name="TextBox 1753"/>
          <p:cNvSpPr txBox="1"/>
          <p:nvPr/>
        </p:nvSpPr>
        <p:spPr>
          <a:xfrm>
            <a:off x="202880" y="5956704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755" name="Rectangle 1754"/>
          <p:cNvSpPr/>
          <p:nvPr/>
        </p:nvSpPr>
        <p:spPr>
          <a:xfrm>
            <a:off x="86888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TextBox 1755"/>
          <p:cNvSpPr txBox="1"/>
          <p:nvPr/>
        </p:nvSpPr>
        <p:spPr>
          <a:xfrm>
            <a:off x="862880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57" name="TextBox 1756"/>
          <p:cNvSpPr txBox="1"/>
          <p:nvPr/>
        </p:nvSpPr>
        <p:spPr>
          <a:xfrm>
            <a:off x="862880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58" name="Rectangle 1757"/>
          <p:cNvSpPr/>
          <p:nvPr/>
        </p:nvSpPr>
        <p:spPr>
          <a:xfrm>
            <a:off x="121612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TextBox 1758"/>
          <p:cNvSpPr txBox="1"/>
          <p:nvPr/>
        </p:nvSpPr>
        <p:spPr>
          <a:xfrm>
            <a:off x="1210129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60" name="TextBox 1759"/>
          <p:cNvSpPr txBox="1"/>
          <p:nvPr/>
        </p:nvSpPr>
        <p:spPr>
          <a:xfrm>
            <a:off x="1210129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61" name="Rectangle 1760"/>
          <p:cNvSpPr/>
          <p:nvPr/>
        </p:nvSpPr>
        <p:spPr>
          <a:xfrm>
            <a:off x="156337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TextBox 1761"/>
          <p:cNvSpPr txBox="1"/>
          <p:nvPr/>
        </p:nvSpPr>
        <p:spPr>
          <a:xfrm>
            <a:off x="1557378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15.4M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63" name="TextBox 1762"/>
          <p:cNvSpPr txBox="1"/>
          <p:nvPr/>
        </p:nvSpPr>
        <p:spPr>
          <a:xfrm>
            <a:off x="1557378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64" name="Rectangle 1763"/>
          <p:cNvSpPr/>
          <p:nvPr/>
        </p:nvSpPr>
        <p:spPr>
          <a:xfrm>
            <a:off x="191062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TextBox 1764"/>
          <p:cNvSpPr txBox="1"/>
          <p:nvPr/>
        </p:nvSpPr>
        <p:spPr>
          <a:xfrm>
            <a:off x="1904627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66" name="TextBox 1765"/>
          <p:cNvSpPr txBox="1"/>
          <p:nvPr/>
        </p:nvSpPr>
        <p:spPr>
          <a:xfrm>
            <a:off x="1904627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67" name="Rectangle 1766"/>
          <p:cNvSpPr/>
          <p:nvPr/>
        </p:nvSpPr>
        <p:spPr>
          <a:xfrm>
            <a:off x="225787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TextBox 1767"/>
          <p:cNvSpPr txBox="1"/>
          <p:nvPr/>
        </p:nvSpPr>
        <p:spPr>
          <a:xfrm>
            <a:off x="2251876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69" name="TextBox 1768"/>
          <p:cNvSpPr txBox="1"/>
          <p:nvPr/>
        </p:nvSpPr>
        <p:spPr>
          <a:xfrm>
            <a:off x="2251876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70" name="Rectangle 1769"/>
          <p:cNvSpPr/>
          <p:nvPr/>
        </p:nvSpPr>
        <p:spPr>
          <a:xfrm>
            <a:off x="2605125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TextBox 1770"/>
          <p:cNvSpPr txBox="1"/>
          <p:nvPr/>
        </p:nvSpPr>
        <p:spPr>
          <a:xfrm>
            <a:off x="2599125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18.4M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72" name="TextBox 1771"/>
          <p:cNvSpPr txBox="1"/>
          <p:nvPr/>
        </p:nvSpPr>
        <p:spPr>
          <a:xfrm>
            <a:off x="2599125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50件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73" name="Rectangle 1772"/>
          <p:cNvSpPr/>
          <p:nvPr/>
        </p:nvSpPr>
        <p:spPr>
          <a:xfrm>
            <a:off x="2952374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TextBox 1773"/>
          <p:cNvSpPr txBox="1"/>
          <p:nvPr/>
        </p:nvSpPr>
        <p:spPr>
          <a:xfrm>
            <a:off x="2946374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7.9M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75" name="TextBox 1774"/>
          <p:cNvSpPr txBox="1"/>
          <p:nvPr/>
        </p:nvSpPr>
        <p:spPr>
          <a:xfrm>
            <a:off x="2946374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76" name="Rectangle 1775"/>
          <p:cNvSpPr/>
          <p:nvPr/>
        </p:nvSpPr>
        <p:spPr>
          <a:xfrm>
            <a:off x="3299623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TextBox 1776"/>
          <p:cNvSpPr txBox="1"/>
          <p:nvPr/>
        </p:nvSpPr>
        <p:spPr>
          <a:xfrm>
            <a:off x="3293623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78" name="TextBox 1777"/>
          <p:cNvSpPr txBox="1"/>
          <p:nvPr/>
        </p:nvSpPr>
        <p:spPr>
          <a:xfrm>
            <a:off x="3293623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79" name="Rectangle 1778"/>
          <p:cNvSpPr/>
          <p:nvPr/>
        </p:nvSpPr>
        <p:spPr>
          <a:xfrm>
            <a:off x="3646872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TextBox 1779"/>
          <p:cNvSpPr txBox="1"/>
          <p:nvPr/>
        </p:nvSpPr>
        <p:spPr>
          <a:xfrm>
            <a:off x="3640872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81" name="TextBox 1780"/>
          <p:cNvSpPr txBox="1"/>
          <p:nvPr/>
        </p:nvSpPr>
        <p:spPr>
          <a:xfrm>
            <a:off x="3640872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50件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82" name="Rectangle 1781"/>
          <p:cNvSpPr/>
          <p:nvPr/>
        </p:nvSpPr>
        <p:spPr>
          <a:xfrm>
            <a:off x="3994121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TextBox 1782"/>
          <p:cNvSpPr txBox="1"/>
          <p:nvPr/>
        </p:nvSpPr>
        <p:spPr>
          <a:xfrm>
            <a:off x="3988121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22.4M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84" name="TextBox 1783"/>
          <p:cNvSpPr txBox="1"/>
          <p:nvPr/>
        </p:nvSpPr>
        <p:spPr>
          <a:xfrm>
            <a:off x="3988121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85" name="Rectangle 1784"/>
          <p:cNvSpPr/>
          <p:nvPr/>
        </p:nvSpPr>
        <p:spPr>
          <a:xfrm>
            <a:off x="434137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TextBox 1785"/>
          <p:cNvSpPr txBox="1"/>
          <p:nvPr/>
        </p:nvSpPr>
        <p:spPr>
          <a:xfrm>
            <a:off x="4335370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87" name="TextBox 1786"/>
          <p:cNvSpPr txBox="1"/>
          <p:nvPr/>
        </p:nvSpPr>
        <p:spPr>
          <a:xfrm>
            <a:off x="4335370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88" name="Rectangle 1787"/>
          <p:cNvSpPr/>
          <p:nvPr/>
        </p:nvSpPr>
        <p:spPr>
          <a:xfrm>
            <a:off x="468861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TextBox 1788"/>
          <p:cNvSpPr txBox="1"/>
          <p:nvPr/>
        </p:nvSpPr>
        <p:spPr>
          <a:xfrm>
            <a:off x="4682619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0" name="TextBox 1789"/>
          <p:cNvSpPr txBox="1"/>
          <p:nvPr/>
        </p:nvSpPr>
        <p:spPr>
          <a:xfrm>
            <a:off x="4682619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48件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1" name="Rectangle 1790"/>
          <p:cNvSpPr/>
          <p:nvPr/>
        </p:nvSpPr>
        <p:spPr>
          <a:xfrm>
            <a:off x="503586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TextBox 1791"/>
          <p:cNvSpPr txBox="1"/>
          <p:nvPr/>
        </p:nvSpPr>
        <p:spPr>
          <a:xfrm>
            <a:off x="5029868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3" name="TextBox 1792"/>
          <p:cNvSpPr txBox="1"/>
          <p:nvPr/>
        </p:nvSpPr>
        <p:spPr>
          <a:xfrm>
            <a:off x="5029868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4" name="Rectangle 1793"/>
          <p:cNvSpPr/>
          <p:nvPr/>
        </p:nvSpPr>
        <p:spPr>
          <a:xfrm>
            <a:off x="538311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TextBox 1794"/>
          <p:cNvSpPr txBox="1"/>
          <p:nvPr/>
        </p:nvSpPr>
        <p:spPr>
          <a:xfrm>
            <a:off x="5377117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13.4M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6" name="TextBox 1795"/>
          <p:cNvSpPr txBox="1"/>
          <p:nvPr/>
        </p:nvSpPr>
        <p:spPr>
          <a:xfrm>
            <a:off x="5377117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7" name="Rectangle 1796"/>
          <p:cNvSpPr/>
          <p:nvPr/>
        </p:nvSpPr>
        <p:spPr>
          <a:xfrm>
            <a:off x="573036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TextBox 1797"/>
          <p:cNvSpPr txBox="1"/>
          <p:nvPr/>
        </p:nvSpPr>
        <p:spPr>
          <a:xfrm>
            <a:off x="5724366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9" name="TextBox 1798"/>
          <p:cNvSpPr txBox="1"/>
          <p:nvPr/>
        </p:nvSpPr>
        <p:spPr>
          <a:xfrm>
            <a:off x="5724366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63169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>
            <p:custDataLst>
              <p:tags r:id="rId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>
            <p:custDataLst>
              <p:tags r:id="rId11"/>
            </p:custDataLst>
          </p:nvPr>
        </p:nvSpPr>
        <p:spPr>
          <a:xfrm>
            <a:off x="5930900" y="2950845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12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  姜通 + 战略合作合计贡献批核 APE 77.7%，但模式迥异：姜通件均 APE≈36万 为「大单驱动型」；战略合作 143件 为「流量驱动型」。头部集中度高，需差异化管理策略。</a:t>
            </a:r>
            <a:endParaRPr lang="en-US" sz="850" dirty="0">
              <a:solidFill>
                <a:srgbClr val="374151"/>
              </a:solidFill>
            </a:endParaRPr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Chart 1"/>
          <p:cNvGraphicFramePr/>
          <p:nvPr>
            <p:custDataLst>
              <p:tags r:id="rId14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176530" y="6134100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176530" y="6134354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286258" y="6152642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  Mark批核率 100%（批核 13.3M，未批核 0.0M），件质量最高。姜通未批核量最大（33.4M），批核率 85%，需优先排查件质量问题。头部推荐人质量差异显著，需差异化对接策略。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8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9"/>
            </p:custDataLst>
          </p:nvPr>
        </p:nvSpPr>
        <p:spPr>
          <a:xfrm>
            <a:off x="174625" y="7315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20"/>
            </p:custDataLst>
          </p:nvPr>
        </p:nvSpPr>
        <p:spPr>
          <a:xfrm>
            <a:off x="174625" y="8578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21"/>
            </p:custDataLst>
          </p:nvPr>
        </p:nvSpPr>
        <p:spPr>
          <a:xfrm>
            <a:off x="174625" y="11950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296件  |  件均46.2万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2"/>
            </p:custDataLst>
          </p:nvPr>
        </p:nvSpPr>
        <p:spPr>
          <a:xfrm>
            <a:off x="109855" y="605155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5" name="Text 6"/>
          <p:cNvSpPr/>
          <p:nvPr>
            <p:custDataLst>
              <p:tags r:id="rId23"/>
            </p:custDataLst>
          </p:nvPr>
        </p:nvSpPr>
        <p:spPr>
          <a:xfrm>
            <a:off x="2079625" y="72517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4"/>
            </p:custDataLst>
          </p:nvPr>
        </p:nvSpPr>
        <p:spPr>
          <a:xfrm>
            <a:off x="2079625" y="85153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5"/>
            </p:custDataLst>
          </p:nvPr>
        </p:nvSpPr>
        <p:spPr>
          <a:xfrm>
            <a:off x="2079625" y="118872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 panose="020F0502020204030204"/>
              </a:rPr>
              <a:t>138件  |  件均34.6万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6"/>
            </p:custDataLst>
          </p:nvPr>
        </p:nvSpPr>
        <p:spPr>
          <a:xfrm>
            <a:off x="2005330" y="598805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0" name="Text 6"/>
          <p:cNvSpPr/>
          <p:nvPr>
            <p:custDataLst>
              <p:tags r:id="rId27"/>
            </p:custDataLst>
          </p:nvPr>
        </p:nvSpPr>
        <p:spPr>
          <a:xfrm>
            <a:off x="3975735" y="7188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8"/>
            </p:custDataLst>
          </p:nvPr>
        </p:nvSpPr>
        <p:spPr>
          <a:xfrm>
            <a:off x="3975735" y="8451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9"/>
            </p:custDataLst>
          </p:nvPr>
        </p:nvSpPr>
        <p:spPr>
          <a:xfrm>
            <a:off x="3975735" y="11823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 panose="020F0502020204030204"/>
              </a:rPr>
              <a:t>17件  |  件均37.0万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30"/>
            </p:custDataLst>
          </p:nvPr>
        </p:nvSpPr>
        <p:spPr>
          <a:xfrm>
            <a:off x="3901440" y="592455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/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496822"/>
          <a:ext cx="5526405" cy="4899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611505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天誉国际(MGA)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62.59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192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19.56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59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1.40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83.56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258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56.74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11.16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67.89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159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48.85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143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4.00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3.08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55.94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39.34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2.69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42.03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29.01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29.30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28.69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2.75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0.47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31.91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利泰丰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27.86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0.16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28.02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21.77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0.35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22.12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15.19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1.80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0.43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17.42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10.63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2.06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12.69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6.52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2.97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9.50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德方集团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龙腾财富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1.99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2.11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富仕德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1.35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0.01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裕承资产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0.77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0.77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巨蚁环球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0.70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动力势能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 panose="020F0502020204030204"/>
                        </a:rPr>
                        <a:t>0.57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 panose="020F0502020204030204"/>
                        </a:rPr>
                        <a:t>0.31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0.31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0.18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时代保险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372.45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969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47.80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138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6.28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17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426.53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1124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同行W36预约</a:t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7.24M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19件| 件均38.1W</a:t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同行W36签单</a:t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4.16M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13件| 件均32.0W</a:t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同行W36批核</a:t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7.25M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20件| 件均36.2W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82460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7972425" y="382460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W36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409905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天誉国际(MGA)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1.48M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2.03M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2.88M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2.81M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0.69M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0.69M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1.41M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万城保险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0.58M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0.58M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00796B"/>
                          </a:solidFill>
                        </a:rPr>
                        <a:t>0.58M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0.43M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1.26M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万森保险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0.34M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0.57M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巨蚁环球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0.78M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富仕德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0.34M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0.34M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0.39M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臻略财富</a:t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0.12M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/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7.24M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4.16M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7.25M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  W36 同行批核 7.25M，签单 4.16M，预约 7.24M。签单前端尚在蓄力，预约 7.2M 为节后水平，需密切跟踪后续周次是否回升。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W01–W36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12.34M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38件 | 件均32.5W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6.90M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26件 | 件均26.5W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13.21M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35件 | 件均37.7W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82460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p/>
        </p:txBody>
      </p:sp>
      <p:sp>
        <p:nvSpPr>
          <p:cNvPr id="2101" name="t2101"/>
          <p:cNvSpPr/>
          <p:nvPr/>
        </p:nvSpPr>
        <p:spPr>
          <a:xfrm>
            <a:off x="277495" y="381063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4166235"/>
          <a:ext cx="7303770" cy="3920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23.19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16.33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87.76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20.98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22.68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25.98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39.13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42.36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125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19.46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75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38.17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94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36.58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43.88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May-26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41.56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124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41.58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36.08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Jun-26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55.59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157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56.08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155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38.07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Jul-26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67.52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67.11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52.67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159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Aug-26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39.72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42.60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140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55.34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Sep-26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12.34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6.90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13.21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Oct-26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338.20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986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332.22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971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372.45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969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34809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4" name="Shape 7"/>
          <p:cNvSpPr/>
          <p:nvPr/>
        </p:nvSpPr>
        <p:spPr>
          <a:xfrm>
            <a:off x="284480" y="634873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95" name="Text 8"/>
          <p:cNvSpPr/>
          <p:nvPr/>
        </p:nvSpPr>
        <p:spPr>
          <a:xfrm>
            <a:off x="398145" y="635000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  3 月同行预约 3913 万，环比 +86.5%，前端显著回暖。3 月签单 4236 万，预约-签单缺口反映大量前端件仍处「待结」状态，需密切跟进 4 月转化节奏。</a:t>
            </a:r>
            <a:endParaRPr lang="en-US" sz="850" b="1" dirty="0"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248.3M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227件 | 达成率124.2%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30.8M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 |件均106.2W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7.80M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 | 件均156W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10.14M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7件| 件均145W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22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5.34M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25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3件| 件均178W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26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27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28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29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4.56M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0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 | 件均114W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" name="Shape 19"/>
          <p:cNvSpPr/>
          <p:nvPr>
            <p:custDataLst>
              <p:tags r:id="rId31"/>
            </p:custDataLst>
          </p:nvPr>
        </p:nvSpPr>
        <p:spPr>
          <a:xfrm>
            <a:off x="11176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" name="Shape 20"/>
          <p:cNvSpPr/>
          <p:nvPr>
            <p:custDataLst>
              <p:tags r:id="rId32"/>
            </p:custDataLst>
          </p:nvPr>
        </p:nvSpPr>
        <p:spPr>
          <a:xfrm>
            <a:off x="111760" y="1400000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4" name="Text 21"/>
          <p:cNvSpPr/>
          <p:nvPr>
            <p:custDataLst>
              <p:tags r:id="rId33"/>
            </p:custDataLst>
          </p:nvPr>
        </p:nvSpPr>
        <p:spPr>
          <a:xfrm>
            <a:off x="2209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W36预约</a:t>
            </a:r>
            <a:endParaRPr lang="en-US" sz="800" dirty="0"/>
          </a:p>
        </p:txBody>
      </p:sp>
      <p:sp>
        <p:nvSpPr>
          <p:cNvPr id="5" name="Text 22"/>
          <p:cNvSpPr/>
          <p:nvPr>
            <p:custDataLst>
              <p:tags r:id="rId34"/>
            </p:custDataLst>
          </p:nvPr>
        </p:nvSpPr>
        <p:spPr>
          <a:xfrm>
            <a:off x="2209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9B2335"/>
                </a:solidFill>
                <a:latin typeface="Calibri" panose="020F0502020204030204"/>
              </a:rPr>
              <a:t>8.58M</a:t>
            </a:r>
            <a:endParaRPr lang="en-US" sz="1800" dirty="0"/>
          </a:p>
        </p:txBody>
      </p:sp>
      <p:sp>
        <p:nvSpPr>
          <p:cNvPr id="37" name="Text 23"/>
          <p:cNvSpPr/>
          <p:nvPr>
            <p:custDataLst>
              <p:tags r:id="rId35"/>
            </p:custDataLst>
          </p:nvPr>
        </p:nvSpPr>
        <p:spPr>
          <a:xfrm>
            <a:off x="2209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6件 | 件均143.0W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8" name="Shape 24"/>
          <p:cNvSpPr/>
          <p:nvPr>
            <p:custDataLst>
              <p:tags r:id="rId36"/>
            </p:custDataLst>
          </p:nvPr>
        </p:nvSpPr>
        <p:spPr>
          <a:xfrm>
            <a:off x="2155825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25"/>
          <p:cNvSpPr/>
          <p:nvPr>
            <p:custDataLst>
              <p:tags r:id="rId37"/>
            </p:custDataLst>
          </p:nvPr>
        </p:nvSpPr>
        <p:spPr>
          <a:xfrm>
            <a:off x="2155825" y="1400000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40" name="Text 26"/>
          <p:cNvSpPr/>
          <p:nvPr>
            <p:custDataLst>
              <p:tags r:id="rId38"/>
            </p:custDataLst>
          </p:nvPr>
        </p:nvSpPr>
        <p:spPr>
          <a:xfrm>
            <a:off x="22656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W36签单</a:t>
            </a:r>
            <a:endParaRPr lang="en-US" sz="800" dirty="0"/>
          </a:p>
        </p:txBody>
      </p:sp>
      <p:sp>
        <p:nvSpPr>
          <p:cNvPr id="41" name="Text 27"/>
          <p:cNvSpPr/>
          <p:nvPr>
            <p:custDataLst>
              <p:tags r:id="rId39"/>
            </p:custDataLst>
          </p:nvPr>
        </p:nvSpPr>
        <p:spPr>
          <a:xfrm>
            <a:off x="22656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B2737"/>
                </a:solidFill>
                <a:latin typeface="Calibri" panose="020F0502020204030204"/>
              </a:rPr>
              <a:t>2.34M</a:t>
            </a:r>
            <a:endParaRPr lang="en-US" sz="1800" dirty="0"/>
          </a:p>
        </p:txBody>
      </p:sp>
      <p:sp>
        <p:nvSpPr>
          <p:cNvPr id="42" name="Text 28"/>
          <p:cNvSpPr/>
          <p:nvPr>
            <p:custDataLst>
              <p:tags r:id="rId40"/>
            </p:custDataLst>
          </p:nvPr>
        </p:nvSpPr>
        <p:spPr>
          <a:xfrm>
            <a:off x="22656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2件 | 件均117.0W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3" name="Shape 29"/>
          <p:cNvSpPr/>
          <p:nvPr>
            <p:custDataLst>
              <p:tags r:id="rId41"/>
            </p:custDataLst>
          </p:nvPr>
        </p:nvSpPr>
        <p:spPr>
          <a:xfrm>
            <a:off x="422021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30"/>
          <p:cNvSpPr/>
          <p:nvPr>
            <p:custDataLst>
              <p:tags r:id="rId42"/>
            </p:custDataLst>
          </p:nvPr>
        </p:nvSpPr>
        <p:spPr>
          <a:xfrm>
            <a:off x="4220210" y="1400000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5" name="Text 31"/>
          <p:cNvSpPr/>
          <p:nvPr>
            <p:custDataLst>
              <p:tags r:id="rId43"/>
            </p:custDataLst>
          </p:nvPr>
        </p:nvSpPr>
        <p:spPr>
          <a:xfrm>
            <a:off x="4330065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W36批核</a:t>
            </a:r>
            <a:endParaRPr lang="en-US" sz="800" dirty="0"/>
          </a:p>
        </p:txBody>
      </p:sp>
      <p:sp>
        <p:nvSpPr>
          <p:cNvPr id="46" name="Text 32"/>
          <p:cNvSpPr/>
          <p:nvPr>
            <p:custDataLst>
              <p:tags r:id="rId44"/>
            </p:custDataLst>
          </p:nvPr>
        </p:nvSpPr>
        <p:spPr>
          <a:xfrm>
            <a:off x="4330065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C3483"/>
                </a:solidFill>
                <a:latin typeface="Calibri" panose="020F0502020204030204"/>
              </a:rPr>
              <a:t>4.17M</a:t>
            </a:r>
            <a:endParaRPr lang="en-US" sz="1800" dirty="0"/>
          </a:p>
        </p:txBody>
      </p:sp>
      <p:sp>
        <p:nvSpPr>
          <p:cNvPr id="47" name="Text 33"/>
          <p:cNvSpPr/>
          <p:nvPr>
            <p:custDataLst>
              <p:tags r:id="rId45"/>
            </p:custDataLst>
          </p:nvPr>
        </p:nvSpPr>
        <p:spPr>
          <a:xfrm>
            <a:off x="4330065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3件 | 件均139.0W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57150" y="2328890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  <p:txBody>
          <a:bodyPr/>
          <a:p/>
        </p:txBody>
      </p:sp>
      <p:sp>
        <p:nvSpPr>
          <p:cNvPr id="49" name="Text 41"/>
          <p:cNvSpPr/>
          <p:nvPr/>
        </p:nvSpPr>
        <p:spPr>
          <a:xfrm>
            <a:off x="133350" y="2320000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W36 银行 KA 本周业绩详情（M）</a:t>
            </a:r>
            <a:endParaRPr lang="en-US" sz="950" dirty="0"/>
          </a:p>
        </p:txBody>
      </p:sp>
      <p:graphicFrame>
        <p:nvGraphicFramePr>
          <p:cNvPr id="52" name="Table 1"/>
          <p:cNvGraphicFramePr>
            <a:graphicFrameLocks noGrp="1"/>
          </p:cNvGraphicFramePr>
          <p:nvPr>
            <p:custDataLst>
              <p:tags r:id="rId46"/>
            </p:custDataLst>
          </p:nvPr>
        </p:nvGraphicFramePr>
        <p:xfrm>
          <a:off x="59055" y="2621625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1.17M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8.58M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2.34M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2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3.00M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8.58M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2.34M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4.17M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3" name="Picture 51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200000" y="1400000"/>
            <a:ext cx="5900000" cy="3500000"/>
          </a:xfrm>
          <a:prstGeom prst="rect">
            <a:avLst/>
          </a:prstGeom>
        </p:spPr>
      </p:pic>
      <p:pic>
        <p:nvPicPr>
          <p:cNvPr id="54" name="Picture 52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0000" y="5050000"/>
            <a:ext cx="12000000" cy="16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代理人业务分析仪表盘  Agent Business View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  <a:endParaRPr sz="800">
              <a:solidFill>
                <a:srgbClr val="CCCC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430000"/>
            <a:ext cx="76200" cy="762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71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代理人业务批核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71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4F72"/>
                </a:solidFill>
              </a:rPr>
              <a:t>87.4M</a:t>
            </a:r>
            <a:endParaRPr sz="2200" b="1">
              <a:solidFill>
                <a:srgbClr val="1B4F7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271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272件 | 件均32.1W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76145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76145" y="430000"/>
            <a:ext cx="76200" cy="762000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5980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代理人业务未批核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5980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7A65"/>
                </a:solidFill>
              </a:rPr>
              <a:t>6.36M</a:t>
            </a:r>
            <a:endParaRPr sz="2200" b="1">
              <a:solidFill>
                <a:srgbClr val="117A6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5980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18件 | 件均35.3W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6941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9410" y="430000"/>
            <a:ext cx="76200" cy="762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24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代理人业务待签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7924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796B"/>
                </a:solidFill>
              </a:rPr>
              <a:t>1.33M</a:t>
            </a:r>
            <a:endParaRPr sz="2200" b="1">
              <a:solidFill>
                <a:srgbClr val="00796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7924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8件 | 件均16.6W</a:t>
            </a:r>
            <a:endParaRPr sz="800" b="0">
              <a:solidFill>
                <a:srgbClr val="64748B"/>
              </a:solidFill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100000" y="1286080"/>
          <a:ext cx="5999997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4615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天领重庆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3453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3585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135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天领深圳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1695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天领成都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1484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1630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宁波贴牌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577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武汉贴牌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349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349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广西贴牌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332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332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苏州贴牌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合肥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厦门贴牌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台州贴牌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长沙贴牌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2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7883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232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495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15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133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8511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255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100000" y="4846080"/>
            <a:ext cx="6000000" cy="27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0000" y="4876080"/>
            <a:ext cx="59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KA明细 | 成事家办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100000" y="5116080"/>
          <a:ext cx="5999997" cy="1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8571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刘微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295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295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杨璐熙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229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369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杨帆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杨洪美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丁洁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856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140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996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50" y="485140"/>
            <a:ext cx="5831840" cy="2740025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6280000" y="3305520"/>
            <a:ext cx="5832000" cy="30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60000" y="3335520"/>
            <a:ext cx="5732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W36 本周快报 | 代理人业务（天领+成事家办）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6280000" y="3615520"/>
          <a:ext cx="5832000" cy="21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11866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广西贴牌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1.17M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1.17M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天领成都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0.47M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杨洪美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0.26M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刘微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0.23M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台州贴牌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0.16M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天领重庆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0.13M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厦门贴牌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长沙贴牌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合肥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丁洁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宁波贴牌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武汉贴牌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杨帆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天领深圳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苏州贴牌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杨璐熙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7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1.79M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1.17M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0.62M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KA业务分析仪表盘  |ICLUB + 合伙转介 + IFA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  <a:endParaRPr sz="800">
              <a:solidFill>
                <a:srgbClr val="CCCC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批核APE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25.4M</a:t>
            </a:r>
            <a:endParaRPr sz="2200" b="1">
              <a:solidFill>
                <a:srgbClr val="1B6B3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46件 | 件均55.3W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6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1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未批核APE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1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6.32M</a:t>
            </a:r>
            <a:endParaRPr sz="2200" b="1">
              <a:solidFill>
                <a:srgbClr val="1B6B3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1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6件 | 件均105.3W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20000" y="430000"/>
            <a:ext cx="1900000" cy="800000"/>
          </a:xfrm>
          <a:prstGeom prst="rect">
            <a:avLst/>
          </a:prstGeom>
          <a:noFill/>
          <a:ln w="3000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0000" y="430000"/>
            <a:ext cx="30000" cy="800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待签APE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7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B1A1A"/>
                </a:solidFill>
              </a:rPr>
              <a:t>0.00M</a:t>
            </a:r>
            <a:endParaRPr sz="2200" b="1">
              <a:solidFill>
                <a:srgbClr val="8B1A1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7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0件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0000" y="1310000"/>
            <a:ext cx="5940000" cy="26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134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ICLUB业务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0000" y="1570000"/>
          <a:ext cx="5940000" cy="1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800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1899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2099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保险师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新风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2087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200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2287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00000" y="2990000"/>
            <a:ext cx="5940000" cy="26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30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合伙转介业务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0000" y="3250000"/>
          <a:ext cx="5940000" cy="3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3333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懿丰家族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526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明德长青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总部职能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荻邦咨询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德约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Molly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迪岸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虹霖贸易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励欧移民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7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457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432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5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888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100000" y="6490000"/>
            <a:ext cx="5940000" cy="260000"/>
          </a:xfrm>
          <a:prstGeom prst="rect">
            <a:avLst/>
          </a:prstGeom>
          <a:solidFill>
            <a:srgbClr val="5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000" y="65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IFA业务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00000" y="6750000"/>
          <a:ext cx="5940000" cy="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000" y="430000"/>
            <a:ext cx="5832000" cy="30000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80000" y="3550000"/>
            <a:ext cx="5832000" cy="29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0000" y="3580000"/>
            <a:ext cx="573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W36 本周快报 | KA业务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280000" y="3850000"/>
          <a:ext cx="5832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205714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2.00M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2.00M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0.23M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励欧移民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德约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保险师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虹霖贸易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明德长青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总部职能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荻邦咨询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懿丰家族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Molly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新风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迪岸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2.00M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2.00M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0.23M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0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13090</Words>
  <Application>WPS 演示</Application>
  <PresentationFormat>On-screen Show (16:9)</PresentationFormat>
  <Paragraphs>4772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Carrie</cp:lastModifiedBy>
  <cp:revision>67</cp:revision>
  <dcterms:created xsi:type="dcterms:W3CDTF">2026-03-26T15:42:00Z</dcterms:created>
  <dcterms:modified xsi:type="dcterms:W3CDTF">2026-09-11T16:54:17Z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2052-12.1.0.28599</vt:lpwstr>
  </property>
</Properties>
</file>