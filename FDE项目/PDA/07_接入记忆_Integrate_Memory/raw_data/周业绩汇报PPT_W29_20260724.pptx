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3"/>
    <p:sldId id="277" r:id="rId14"/>
    <p:sldId id="278" r:id="rId15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0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518.52</c:v>
                </c:pt>
                <c:pt idx="1">
                  <c:v>75.5</c:v>
                </c:pt>
                <c:pt idx="2">
                  <c:v>24.92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106.43</c:v>
                </c:pt>
                <c:pt idx="1">
                  <c:v>12.93</c:v>
                </c:pt>
                <c:pt idx="2">
                  <c:v>4.35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19.3</c:v>
                </c:pt>
                <c:pt idx="1">
                  <c:v>0.74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84.18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61.13</c:v>
                </c:pt>
                <c:pt idx="14">
                  <c:v>82.15</c:v>
                </c:pt>
                <c:pt idx="15">
                  <c:v>62.1</c:v>
                </c:pt>
                <c:pt idx="16">
                  <c:v>86.14</c:v>
                </c:pt>
                <c:pt idx="17">
                  <c:v>85.69</c:v>
                </c:pt>
                <c:pt idx="18">
                  <c:v>69.85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61.9</c:v>
                </c:pt>
                <c:pt idx="18">
                  <c:v>46.81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61.9</c:v>
                </c:pt>
                <c:pt idx="6">
                  <c:v>46.81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84.2M / 214件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84.18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69.8M / 176件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</c:v>
                </c:pt>
                <c:pt idx="1">
                  <c:v>61.13</c:v>
                </c:pt>
                <c:pt idx="2">
                  <c:v>82.15</c:v>
                </c:pt>
                <c:pt idx="3">
                  <c:v>62.1</c:v>
                </c:pt>
                <c:pt idx="4">
                  <c:v>86.14</c:v>
                </c:pt>
                <c:pt idx="5">
                  <c:v>85.69</c:v>
                </c:pt>
                <c:pt idx="6">
                  <c:v>69.85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61.9M / 171件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46.8M / 153件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61.9</c:v>
                </c:pt>
                <c:pt idx="6">
                  <c:v>46.81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62.58</c:v>
                </c:pt>
                <c:pt idx="6">
                  <c:v>46.29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64.2</c:v>
                </c:pt>
                <c:pt idx="6">
                  <c:v>36.53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</c:v>
                </c:pt>
                <c:pt idx="4">
                  <c:v>56.85</c:v>
                </c:pt>
                <c:pt idx="5">
                  <c:v>48.34</c:v>
                </c:pt>
                <c:pt idx="6">
                  <c:v>40.34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6.4104</c:v>
                </c:pt>
                <c:pt idx="6">
                  <c:v>7.4888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7.2543</c:v>
                </c:pt>
                <c:pt idx="6">
                  <c:v>7.3774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</c:v>
                </c:pt>
                <c:pt idx="4">
                  <c:v>6.0226</c:v>
                </c:pt>
                <c:pt idx="5">
                  <c:v>17.1128</c:v>
                </c:pt>
                <c:pt idx="6">
                  <c:v>4.4719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2.6315</c:v>
                </c:pt>
                <c:pt idx="4">
                  <c:v>2.235</c:v>
                </c:pt>
                <c:pt idx="5">
                  <c:v>0.819</c:v>
                </c:pt>
                <c:pt idx="6">
                  <c:v>0.2685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1.8935</c:v>
                </c:pt>
                <c:pt idx="4">
                  <c:v>2.973</c:v>
                </c:pt>
                <c:pt idx="5">
                  <c:v>0.819</c:v>
                </c:pt>
                <c:pt idx="6">
                  <c:v>0.2685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</c:v>
                </c:pt>
                <c:pt idx="2">
                  <c:v>0.468</c:v>
                </c:pt>
                <c:pt idx="3">
                  <c:v>1.6926</c:v>
                </c:pt>
                <c:pt idx="4">
                  <c:v>2.607</c:v>
                </c:pt>
                <c:pt idx="5">
                  <c:v>0.477</c:v>
                </c:pt>
                <c:pt idx="6">
                  <c:v>0.741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</c:v>
                </c:pt>
                <c:pt idx="3">
                  <c:v>7.332</c:v>
                </c:pt>
                <c:pt idx="4">
                  <c:v>6.864</c:v>
                </c:pt>
                <c:pt idx="5">
                  <c:v>9.2742</c:v>
                </c:pt>
                <c:pt idx="6">
                  <c:v>14.82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</c:v>
                </c:pt>
                <c:pt idx="3">
                  <c:v>8.502</c:v>
                </c:pt>
                <c:pt idx="4">
                  <c:v>6.864</c:v>
                </c:pt>
                <c:pt idx="5">
                  <c:v>10.4442</c:v>
                </c:pt>
                <c:pt idx="6">
                  <c:v>12.48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</c:v>
                </c:pt>
                <c:pt idx="4">
                  <c:v>21.7036</c:v>
                </c:pt>
                <c:pt idx="5">
                  <c:v>6.24</c:v>
                </c:pt>
                <c:pt idx="6">
                  <c:v>5.07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4.9212</c:v>
                </c:pt>
                <c:pt idx="2">
                  <c:v>15.4377</c:v>
                </c:pt>
                <c:pt idx="3">
                  <c:v>23.3544</c:v>
                </c:pt>
                <c:pt idx="4">
                  <c:v>28.1452</c:v>
                </c:pt>
                <c:pt idx="5">
                  <c:v>36.9722</c:v>
                </c:pt>
                <c:pt idx="6">
                  <c:v>47.6031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7.4952</c:v>
                </c:pt>
                <c:pt idx="2">
                  <c:v>15.8277</c:v>
                </c:pt>
                <c:pt idx="3">
                  <c:v>22.6371</c:v>
                </c:pt>
                <c:pt idx="4">
                  <c:v>27.5167</c:v>
                </c:pt>
                <c:pt idx="5">
                  <c:v>34.7783</c:v>
                </c:pt>
                <c:pt idx="6">
                  <c:v>39.1302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5.929</c:v>
                </c:pt>
                <c:pt idx="3">
                  <c:v>15.0442</c:v>
                </c:pt>
                <c:pt idx="4">
                  <c:v>25.229</c:v>
                </c:pt>
                <c:pt idx="5">
                  <c:v>25.5938</c:v>
                </c:pt>
                <c:pt idx="6">
                  <c:v>14.7198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13.4571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</c:v>
                </c:pt>
                <c:pt idx="5">
                  <c:v>23.8791</c:v>
                </c:pt>
                <c:pt idx="6">
                  <c:v>10.0552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21.4389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0.2584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0.256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</c:v>
                </c:pt>
                <c:pt idx="2">
                  <c:v>0.3355</c:v>
                </c:pt>
                <c:pt idx="3">
                  <c:v>1.755</c:v>
                </c:pt>
                <c:pt idx="4">
                  <c:v>0.5743</c:v>
                </c:pt>
                <c:pt idx="5">
                  <c:v>0</c:v>
                </c:pt>
                <c:pt idx="6">
                  <c:v>0.3687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</c:v>
                </c:pt>
                <c:pt idx="1">
                  <c:v>12.1092</c:v>
                </c:pt>
                <c:pt idx="2">
                  <c:v>1.8188</c:v>
                </c:pt>
                <c:pt idx="3">
                  <c:v>4</c:v>
                </c:pt>
                <c:pt idx="4">
                  <c:v>0.0088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</c:v>
                </c:pt>
                <c:pt idx="1">
                  <c:v>12.1092</c:v>
                </c:pt>
                <c:pt idx="2">
                  <c:v>1.8</c:v>
                </c:pt>
                <c:pt idx="3">
                  <c:v>0.0188</c:v>
                </c:pt>
                <c:pt idx="4">
                  <c:v>4.0088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</c:v>
                </c:pt>
                <c:pt idx="1">
                  <c:v>12</c:v>
                </c:pt>
                <c:pt idx="2">
                  <c:v>0.4992</c:v>
                </c:pt>
                <c:pt idx="3">
                  <c:v>0</c:v>
                </c:pt>
                <c:pt idx="4">
                  <c:v>5.8276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618.94</c:v>
                </c:pt>
                <c:pt idx="1">
                  <c:v>123.71</c:v>
                </c:pt>
                <c:pt idx="2">
                  <c:v>20.03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231.14</c:v>
                </c:pt>
                <c:pt idx="1">
                  <c:v>153.4</c:v>
                </c:pt>
                <c:pt idx="2">
                  <c:v>133.98</c:v>
                </c:pt>
                <c:pt idx="3">
                  <c:v>67.78</c:v>
                </c:pt>
                <c:pt idx="4">
                  <c:v>20.4</c:v>
                </c:pt>
                <c:pt idx="5">
                  <c:v>7.72</c:v>
                </c:pt>
                <c:pt idx="6">
                  <c:v>4.51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28.62</c:v>
                </c:pt>
                <c:pt idx="1">
                  <c:v>20.03</c:v>
                </c:pt>
                <c:pt idx="2">
                  <c:v>57.79</c:v>
                </c:pt>
                <c:pt idx="3">
                  <c:v>11.96</c:v>
                </c:pt>
                <c:pt idx="4">
                  <c:v>0</c:v>
                </c:pt>
                <c:pt idx="5">
                  <c:v>0.97</c:v>
                </c:pt>
                <c:pt idx="6">
                  <c:v>4.35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2.34</c:v>
                </c:pt>
                <c:pt idx="1">
                  <c:v>4.16</c:v>
                </c:pt>
                <c:pt idx="2">
                  <c:v>12.79</c:v>
                </c:pt>
                <c:pt idx="3">
                  <c:v>0.74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162.41</c:v>
                </c:pt>
                <c:pt idx="2">
                  <c:v>0</c:v>
                </c:pt>
                <c:pt idx="3">
                  <c:v>112.52</c:v>
                </c:pt>
                <c:pt idx="4">
                  <c:v>31.6</c:v>
                </c:pt>
                <c:pt idx="5">
                  <c:v>61.31</c:v>
                </c:pt>
                <c:pt idx="6">
                  <c:v>64.14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9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12.64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13.17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10.75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14.12</c:v>
                </c:pt>
                <c:pt idx="26">
                  <c:v>22.83</c:v>
                </c:pt>
                <c:pt idx="27">
                  <c:v>20.16</c:v>
                </c:pt>
                <c:pt idx="28">
                  <c:v>34.82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9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12.77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14.14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12.14</c:v>
                </c:pt>
                <c:pt idx="23">
                  <c:v>18.96</c:v>
                </c:pt>
                <c:pt idx="24">
                  <c:v>26.14</c:v>
                </c:pt>
                <c:pt idx="25">
                  <c:v>19.46</c:v>
                </c:pt>
                <c:pt idx="26">
                  <c:v>10.88</c:v>
                </c:pt>
                <c:pt idx="27">
                  <c:v>23.27</c:v>
                </c:pt>
                <c:pt idx="28">
                  <c:v>28.44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9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14.28</c:v>
                </c:pt>
                <c:pt idx="6">
                  <c:v>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12.06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10.97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</c:v>
                </c:pt>
                <c:pt idx="27">
                  <c:v>20.41</c:v>
                </c:pt>
                <c:pt idx="28">
                  <c:v>23.79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9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</c:v>
                </c:pt>
                <c:pt idx="23">
                  <c:v>15.44</c:v>
                </c:pt>
                <c:pt idx="24">
                  <c:v>19.12</c:v>
                </c:pt>
                <c:pt idx="25">
                  <c:v>11.19</c:v>
                </c:pt>
                <c:pt idx="26">
                  <c:v>18.4</c:v>
                </c:pt>
                <c:pt idx="27">
                  <c:v>8.19</c:v>
                </c:pt>
                <c:pt idx="28">
                  <c:v>11.88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124.57</c:v>
                </c:pt>
                <c:pt idx="1">
                  <c:v>39.78</c:v>
                </c:pt>
                <c:pt idx="2">
                  <c:v>26.1</c:v>
                </c:pt>
                <c:pt idx="3">
                  <c:v>13.37</c:v>
                </c:pt>
                <c:pt idx="4">
                  <c:v>13.28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54.33</c:v>
                </c:pt>
                <c:pt idx="1">
                  <c:v>6.86</c:v>
                </c:pt>
                <c:pt idx="2">
                  <c:v>3.02</c:v>
                </c:pt>
                <c:pt idx="3">
                  <c:v>7.34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11.16</c:v>
                </c:pt>
                <c:pt idx="1">
                  <c:v>3.35</c:v>
                </c:pt>
                <c:pt idx="2">
                  <c:v>0.16</c:v>
                </c:pt>
                <c:pt idx="3">
                  <c:v>0.49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中天家办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利泰丰</c:v>
                </c:pt>
                <c:pt idx="6">
                  <c:v>堡盛国际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8.45</c:v>
                </c:pt>
                <c:pt idx="1">
                  <c:v>12.48</c:v>
                </c:pt>
                <c:pt idx="2">
                  <c:v>18.86</c:v>
                </c:pt>
                <c:pt idx="3">
                  <c:v>22.04</c:v>
                </c:pt>
                <c:pt idx="4">
                  <c:v>25.92</c:v>
                </c:pt>
                <c:pt idx="5">
                  <c:v>27.82</c:v>
                </c:pt>
                <c:pt idx="6">
                  <c:v>28.22</c:v>
                </c:pt>
                <c:pt idx="7">
                  <c:v>35.49</c:v>
                </c:pt>
                <c:pt idx="8">
                  <c:v>39.78</c:v>
                </c:pt>
                <c:pt idx="9">
                  <c:v>44.35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中天家办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利泰丰</c:v>
                </c:pt>
                <c:pt idx="6">
                  <c:v>堡盛国际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4.94</c:v>
                </c:pt>
                <c:pt idx="1">
                  <c:v>0</c:v>
                </c:pt>
                <c:pt idx="2">
                  <c:v>1.52</c:v>
                </c:pt>
                <c:pt idx="3">
                  <c:v>39.14</c:v>
                </c:pt>
                <c:pt idx="4">
                  <c:v>3.02</c:v>
                </c:pt>
                <c:pt idx="5">
                  <c:v>1.01</c:v>
                </c:pt>
                <c:pt idx="6">
                  <c:v>1.63</c:v>
                </c:pt>
                <c:pt idx="7">
                  <c:v>4.97</c:v>
                </c:pt>
                <c:pt idx="8">
                  <c:v>6.86</c:v>
                </c:pt>
                <c:pt idx="9">
                  <c:v>10.77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中天家办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利泰丰</c:v>
                </c:pt>
                <c:pt idx="6">
                  <c:v>堡盛国际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0.28</c:v>
                </c:pt>
                <c:pt idx="3">
                  <c:v>6.24</c:v>
                </c:pt>
                <c:pt idx="4">
                  <c:v>0.16</c:v>
                </c:pt>
                <c:pt idx="5">
                  <c:v>0</c:v>
                </c:pt>
                <c:pt idx="6">
                  <c:v>0</c:v>
                </c:pt>
                <c:pt idx="7">
                  <c:v>1.4</c:v>
                </c:pt>
                <c:pt idx="8">
                  <c:v>3.35</c:v>
                </c:pt>
                <c:pt idx="9">
                  <c:v>3.2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9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12.91</c:v>
                </c:pt>
                <c:pt idx="12">
                  <c:v>3.12</c:v>
                </c:pt>
                <c:pt idx="13">
                  <c:v>6.85</c:v>
                </c:pt>
                <c:pt idx="14">
                  <c:v>8.37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14.85</c:v>
                </c:pt>
                <c:pt idx="21">
                  <c:v>7.87</c:v>
                </c:pt>
                <c:pt idx="22">
                  <c:v>14.97</c:v>
                </c:pt>
                <c:pt idx="23">
                  <c:v>15.27</c:v>
                </c:pt>
                <c:pt idx="24">
                  <c:v>14.59</c:v>
                </c:pt>
                <c:pt idx="25">
                  <c:v>12.6</c:v>
                </c:pt>
                <c:pt idx="26">
                  <c:v>11.4</c:v>
                </c:pt>
                <c:pt idx="27">
                  <c:v>16.58</c:v>
                </c:pt>
                <c:pt idx="28">
                  <c:v>27.78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9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6.11</c:v>
                </c:pt>
                <c:pt idx="13">
                  <c:v>4.97</c:v>
                </c:pt>
                <c:pt idx="14">
                  <c:v>7.72</c:v>
                </c:pt>
                <c:pt idx="15">
                  <c:v>9.4</c:v>
                </c:pt>
                <c:pt idx="16">
                  <c:v>14.75</c:v>
                </c:pt>
                <c:pt idx="17">
                  <c:v>6</c:v>
                </c:pt>
                <c:pt idx="18">
                  <c:v>11.76</c:v>
                </c:pt>
                <c:pt idx="19">
                  <c:v>10.19</c:v>
                </c:pt>
                <c:pt idx="20">
                  <c:v>19.68</c:v>
                </c:pt>
                <c:pt idx="21">
                  <c:v>8.32</c:v>
                </c:pt>
                <c:pt idx="22">
                  <c:v>8.55</c:v>
                </c:pt>
                <c:pt idx="23">
                  <c:v>15.49</c:v>
                </c:pt>
                <c:pt idx="24">
                  <c:v>20.21</c:v>
                </c:pt>
                <c:pt idx="25">
                  <c:v>10.72</c:v>
                </c:pt>
                <c:pt idx="26">
                  <c:v>7.66</c:v>
                </c:pt>
                <c:pt idx="27">
                  <c:v>12.79</c:v>
                </c:pt>
                <c:pt idx="28">
                  <c:v>24.09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9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15.57</c:v>
                </c:pt>
                <c:pt idx="25">
                  <c:v>9.92</c:v>
                </c:pt>
                <c:pt idx="26">
                  <c:v>16.01</c:v>
                </c:pt>
                <c:pt idx="27">
                  <c:v>6.93</c:v>
                </c:pt>
                <c:pt idx="28">
                  <c:v>5.51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2.png"/><Relationship Id="rId24" Type="http://schemas.openxmlformats.org/officeDocument/2006/relationships/tags" Target="../tags/tag9.xml"/><Relationship Id="rId23" Type="http://schemas.openxmlformats.org/officeDocument/2006/relationships/image" Target="../media/image11.png"/><Relationship Id="rId22" Type="http://schemas.openxmlformats.org/officeDocument/2006/relationships/tags" Target="../tags/tag8.xml"/><Relationship Id="rId21" Type="http://schemas.openxmlformats.org/officeDocument/2006/relationships/image" Target="../media/image10.png"/><Relationship Id="rId20" Type="http://schemas.openxmlformats.org/officeDocument/2006/relationships/tags" Target="../tags/tag7.xml"/><Relationship Id="rId2" Type="http://schemas.openxmlformats.org/officeDocument/2006/relationships/chart" Target="../charts/chart4.xml"/><Relationship Id="rId19" Type="http://schemas.openxmlformats.org/officeDocument/2006/relationships/image" Target="../media/image9.svg"/><Relationship Id="rId18" Type="http://schemas.openxmlformats.org/officeDocument/2006/relationships/tags" Target="../tags/tag6.xml"/><Relationship Id="rId17" Type="http://schemas.openxmlformats.org/officeDocument/2006/relationships/image" Target="../media/image8.svg"/><Relationship Id="rId16" Type="http://schemas.openxmlformats.org/officeDocument/2006/relationships/tags" Target="../tags/tag5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4.xml"/><Relationship Id="rId12" Type="http://schemas.openxmlformats.org/officeDocument/2006/relationships/image" Target="../media/image5.svg"/><Relationship Id="rId11" Type="http://schemas.openxmlformats.org/officeDocument/2006/relationships/tags" Target="../tags/tag3.xml"/><Relationship Id="rId10" Type="http://schemas.openxmlformats.org/officeDocument/2006/relationships/image" Target="../media/image4.svg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chart" Target="../charts/chart1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7.xml"/><Relationship Id="rId3" Type="http://schemas.openxmlformats.org/officeDocument/2006/relationships/tags" Target="../tags/tag10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chart" Target="../charts/chart1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chart" Target="../charts/chart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chart" Target="../charts/chart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9" Type="http://schemas.openxmlformats.org/officeDocument/2006/relationships/slideLayout" Target="../slideLayouts/slideLayout1.xml"/><Relationship Id="rId48" Type="http://schemas.openxmlformats.org/officeDocument/2006/relationships/image" Target="../media/image14.png"/><Relationship Id="rId47" Type="http://schemas.openxmlformats.org/officeDocument/2006/relationships/image" Target="../media/image13.png"/><Relationship Id="rId46" Type="http://schemas.openxmlformats.org/officeDocument/2006/relationships/tags" Target="../tags/tag99.xml"/><Relationship Id="rId45" Type="http://schemas.openxmlformats.org/officeDocument/2006/relationships/tags" Target="../tags/tag98.xml"/><Relationship Id="rId44" Type="http://schemas.openxmlformats.org/officeDocument/2006/relationships/tags" Target="../tags/tag97.xml"/><Relationship Id="rId43" Type="http://schemas.openxmlformats.org/officeDocument/2006/relationships/tags" Target="../tags/tag96.xml"/><Relationship Id="rId42" Type="http://schemas.openxmlformats.org/officeDocument/2006/relationships/tags" Target="../tags/tag95.xml"/><Relationship Id="rId41" Type="http://schemas.openxmlformats.org/officeDocument/2006/relationships/tags" Target="../tags/tag94.xml"/><Relationship Id="rId40" Type="http://schemas.openxmlformats.org/officeDocument/2006/relationships/tags" Target="../tags/tag93.xml"/><Relationship Id="rId4" Type="http://schemas.openxmlformats.org/officeDocument/2006/relationships/tags" Target="../tags/tag57.xml"/><Relationship Id="rId39" Type="http://schemas.openxmlformats.org/officeDocument/2006/relationships/tags" Target="../tags/tag92.xml"/><Relationship Id="rId38" Type="http://schemas.openxmlformats.org/officeDocument/2006/relationships/tags" Target="../tags/tag91.xml"/><Relationship Id="rId37" Type="http://schemas.openxmlformats.org/officeDocument/2006/relationships/tags" Target="../tags/tag90.xml"/><Relationship Id="rId36" Type="http://schemas.openxmlformats.org/officeDocument/2006/relationships/tags" Target="../tags/tag89.xml"/><Relationship Id="rId35" Type="http://schemas.openxmlformats.org/officeDocument/2006/relationships/tags" Target="../tags/tag88.xml"/><Relationship Id="rId34" Type="http://schemas.openxmlformats.org/officeDocument/2006/relationships/tags" Target="../tags/tag87.xml"/><Relationship Id="rId33" Type="http://schemas.openxmlformats.org/officeDocument/2006/relationships/tags" Target="../tags/tag86.xml"/><Relationship Id="rId32" Type="http://schemas.openxmlformats.org/officeDocument/2006/relationships/tags" Target="../tags/tag85.xml"/><Relationship Id="rId31" Type="http://schemas.openxmlformats.org/officeDocument/2006/relationships/tags" Target="../tags/tag84.xml"/><Relationship Id="rId30" Type="http://schemas.openxmlformats.org/officeDocument/2006/relationships/tags" Target="../tags/tag83.xml"/><Relationship Id="rId3" Type="http://schemas.openxmlformats.org/officeDocument/2006/relationships/tags" Target="../tags/tag56.xml"/><Relationship Id="rId29" Type="http://schemas.openxmlformats.org/officeDocument/2006/relationships/tags" Target="../tags/tag82.xml"/><Relationship Id="rId28" Type="http://schemas.openxmlformats.org/officeDocument/2006/relationships/tags" Target="../tags/tag81.xml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619M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1205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-494M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55.6%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619M / 剩余缺口 494M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53.5%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523M / 剩余缺口 453M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618.9M、达成率 55.6%（缺口 494M）；永明 522.7M/53.5%。6 月批核 61.9M、7 月已批 46.8M 提速，后续月均约 55M 可达标。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618.9M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1205 件  |  占比 77.7%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123.7M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260 件  |  占比 15.5%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20.0M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 件  |  占比 2.5%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34.2M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 件  |  占比 4.3%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123.7M（260 件）+ 待签 20.0M（55 件）=143.7M 在途待转化（占批核约 23%）。管道快速推进至生效可直接拉升达成率约 13pct。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经代批核 518.5M 独占 83.8% 为唯一主力，且握最大在途未批 106.4M；代理人 75.5M、KA 24.9M 体量小。资源应优先压注经代催核转化，同时定向扩量代理人与 KA。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854430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11123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9" name="Text 95"/>
          <p:cNvSpPr/>
          <p:nvPr/>
        </p:nvSpPr>
        <p:spPr>
          <a:xfrm>
            <a:off x="854430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11123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5" name="Text 101"/>
          <p:cNvSpPr/>
          <p:nvPr/>
        </p:nvSpPr>
        <p:spPr>
          <a:xfrm>
            <a:off x="854430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11123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2" name="Text 108"/>
          <p:cNvSpPr/>
          <p:nvPr/>
        </p:nvSpPr>
        <p:spPr>
          <a:xfrm>
            <a:off x="854430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11123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8" name="Text 114"/>
          <p:cNvSpPr/>
          <p:nvPr/>
        </p:nvSpPr>
        <p:spPr>
          <a:xfrm>
            <a:off x="854430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11123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5" name="Text 121"/>
          <p:cNvSpPr/>
          <p:nvPr/>
        </p:nvSpPr>
        <p:spPr>
          <a:xfrm>
            <a:off x="854430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11123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854430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11123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月批核峰值 143.7M 为全年迄今最高，此后回落至 6 月 61.9M；预约/签单上半年维持 54–86M 高位。剩余缺口 494M，后续月均需约 55M 可达年度目标 1113M。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96185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96185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96185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96185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96185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96185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96185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45" name="Text 90"/>
          <p:cNvSpPr/>
          <p:nvPr/>
        </p:nvSpPr>
        <p:spPr>
          <a:xfrm>
            <a:off x="101855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6" name="Text 96"/>
          <p:cNvSpPr/>
          <p:nvPr/>
        </p:nvSpPr>
        <p:spPr>
          <a:xfrm>
            <a:off x="101855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7" name="Text 102"/>
          <p:cNvSpPr/>
          <p:nvPr/>
        </p:nvSpPr>
        <p:spPr>
          <a:xfrm>
            <a:off x="101855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8" name="Text 109"/>
          <p:cNvSpPr/>
          <p:nvPr/>
        </p:nvSpPr>
        <p:spPr>
          <a:xfrm>
            <a:off x="101855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9" name="Text 115"/>
          <p:cNvSpPr/>
          <p:nvPr/>
        </p:nvSpPr>
        <p:spPr>
          <a:xfrm>
            <a:off x="101855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50" name="Text 122"/>
          <p:cNvSpPr/>
          <p:nvPr/>
        </p:nvSpPr>
        <p:spPr>
          <a:xfrm>
            <a:off x="101855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51" name="Text 128"/>
          <p:cNvSpPr/>
          <p:nvPr/>
        </p:nvSpPr>
        <p:spPr>
          <a:xfrm>
            <a:off x="101855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52" name="Text 90"/>
          <p:cNvSpPr/>
          <p:nvPr/>
        </p:nvSpPr>
        <p:spPr>
          <a:xfrm>
            <a:off x="107525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53" name="Text 96"/>
          <p:cNvSpPr/>
          <p:nvPr/>
        </p:nvSpPr>
        <p:spPr>
          <a:xfrm>
            <a:off x="107525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107525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55" name="Text 109"/>
          <p:cNvSpPr/>
          <p:nvPr/>
        </p:nvSpPr>
        <p:spPr>
          <a:xfrm>
            <a:off x="107525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56" name="Text 115"/>
          <p:cNvSpPr/>
          <p:nvPr/>
        </p:nvSpPr>
        <p:spPr>
          <a:xfrm>
            <a:off x="107525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57" name="Text 122"/>
          <p:cNvSpPr/>
          <p:nvPr/>
        </p:nvSpPr>
        <p:spPr>
          <a:xfrm>
            <a:off x="107525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61.9</a:t>
            </a:r>
            <a:endParaRPr lang="en-US" sz="900" dirty="0"/>
          </a:p>
        </p:txBody>
      </p:sp>
      <p:sp>
        <p:nvSpPr>
          <p:cNvPr id="158" name="Text 128"/>
          <p:cNvSpPr/>
          <p:nvPr/>
        </p:nvSpPr>
        <p:spPr>
          <a:xfrm>
            <a:off x="107525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171件</a:t>
            </a:r>
            <a:endParaRPr lang="en-US" sz="900" dirty="0"/>
          </a:p>
        </p:txBody>
      </p:sp>
      <p:sp>
        <p:nvSpPr>
          <p:cNvPr id="159" name="Text 90"/>
          <p:cNvSpPr/>
          <p:nvPr/>
        </p:nvSpPr>
        <p:spPr>
          <a:xfrm>
            <a:off x="113195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0" name="Text 96"/>
          <p:cNvSpPr/>
          <p:nvPr/>
        </p:nvSpPr>
        <p:spPr>
          <a:xfrm>
            <a:off x="113195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84.2</a:t>
            </a:r>
            <a:endParaRPr lang="en-US" sz="900" dirty="0"/>
          </a:p>
        </p:txBody>
      </p:sp>
      <p:sp>
        <p:nvSpPr>
          <p:cNvPr id="161" name="Text 102"/>
          <p:cNvSpPr/>
          <p:nvPr/>
        </p:nvSpPr>
        <p:spPr>
          <a:xfrm>
            <a:off x="113195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214件</a:t>
            </a:r>
            <a:endParaRPr lang="en-US" sz="900" dirty="0"/>
          </a:p>
        </p:txBody>
      </p:sp>
      <p:sp>
        <p:nvSpPr>
          <p:cNvPr id="162" name="Text 109"/>
          <p:cNvSpPr/>
          <p:nvPr/>
        </p:nvSpPr>
        <p:spPr>
          <a:xfrm>
            <a:off x="113195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69.8</a:t>
            </a:r>
            <a:endParaRPr lang="en-US" sz="900" dirty="0"/>
          </a:p>
        </p:txBody>
      </p:sp>
      <p:sp>
        <p:nvSpPr>
          <p:cNvPr id="163" name="Text 115"/>
          <p:cNvSpPr/>
          <p:nvPr/>
        </p:nvSpPr>
        <p:spPr>
          <a:xfrm>
            <a:off x="113195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176件</a:t>
            </a:r>
            <a:endParaRPr lang="en-US" sz="900" dirty="0"/>
          </a:p>
        </p:txBody>
      </p:sp>
      <p:sp>
        <p:nvSpPr>
          <p:cNvPr id="164" name="Text 122"/>
          <p:cNvSpPr/>
          <p:nvPr/>
        </p:nvSpPr>
        <p:spPr>
          <a:xfrm>
            <a:off x="113195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46.8</a:t>
            </a:r>
            <a:endParaRPr lang="en-US" sz="900" dirty="0"/>
          </a:p>
        </p:txBody>
      </p:sp>
      <p:sp>
        <p:nvSpPr>
          <p:cNvPr id="165" name="Text 128"/>
          <p:cNvSpPr/>
          <p:nvPr/>
        </p:nvSpPr>
        <p:spPr>
          <a:xfrm>
            <a:off x="113195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153件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7 月预约 84.2M 持平、签单 69.9M（环比 -18.5%）回落、批核 46.8M（环比 -24.4%）继续走低；累计达成率升至 55.6%，后端放款放缓是当前瓶颈。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预测区间（8–12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986340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82.3M/月（剩余 494M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618.9M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1–7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55.6% 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494M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44.4% 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82.3M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W29 已批核 618.9M（达成率 55.6%），距目标 1113M 缺口 494M；8–12 月 5 个月需月均约 99M，略高于上半年月均 95M，需维持节奏冲刺。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-0.2%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-18.5%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-15.0%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  <a:endParaRPr lang="zh-CN" sz="1000" dirty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522.7M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1048件  |  达成率53.5%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53.5%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79.1M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未批核158件|  件均50.1万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13.6M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待签35件  |  件均38.9万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永明累计批核 522.7M、达成率 53.5%（缺口 453M）。TOP10 产品签单 137.2M/185 件，卓金 II 系列（3 笔合计 45.9M）为基本盘、件均 61.4 万大单驱动；需保头部供给并补中小额。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26.40M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15.83M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46.6万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12.48M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52.0万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7.43M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41.3万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137.2M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23.08M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14.80M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27.64M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19.66M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42.10M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51.73M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34.19M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10.14M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17.55M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17.65M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35.27M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5.07M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55.6%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619M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494M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1205件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2416" y="1295574"/>
            <a:ext cx="447026" cy="447026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760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48345" y="3764363"/>
            <a:ext cx="587470" cy="587470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66833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612686" y="1880454"/>
            <a:ext cx="531543" cy="531543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2426996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42013" y="4330294"/>
            <a:ext cx="446216" cy="446216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79151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01145" y="5863271"/>
            <a:ext cx="243121" cy="243121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8367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115.6% 唯一超额；永明经代 45.1%、同行经代 83.7% 回升；天领 35.1%（批核 67.8M）仍为最大战略风险；IFA 0%、成事/合伙≤11%，需重点关注。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55.6%  |  剩余缺口 494M  |  需 6 个月完成 44.4%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618.9M + 在途 143.7M =762.6M，距目标 1113M 仍差 350M。BK 批核 231.1M 最大；缺口主压永明经代（缺 187M）与天领，靠放量 + 在途填补。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4535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−231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99834"/>
            <a:ext cx="241200" cy="561033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76954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−153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60868"/>
            <a:ext cx="241200" cy="490008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818108"/>
            <a:ext cx="244475" cy="452447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359522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−124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270556"/>
            <a:ext cx="241300" cy="732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4047676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−20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343812"/>
            <a:ext cx="238760" cy="128127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412093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37988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−134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450876"/>
            <a:ext cx="241200" cy="247893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227996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−68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698770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475890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801614"/>
            <a:ext cx="241300" cy="164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578734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−5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773379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550499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同行经代 7 月预约 47.6M/签单 39.1M 跃居各线首位；BK 批核由 2 月峰 93.9M 落至 7 月 4.5M。各线节奏分化，需差异管理。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262.1M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231.1▌28.6▌2.3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177.6M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153.4▌20.0▌4.2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204.6M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134.0▌57.8▌12.8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80.5M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67.8▌12.0▌0.7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7.7▌1.0▌0.0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同行经代未批 57.8M 绝对额最大催核优先；BK 28.6M、永明经代 20.0M 次之；合伙转介占比 49% 但仅 4.4M。按未批规模推进。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618.9M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1205件  81.2%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81.2%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1205件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762.7M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81.2%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123.7M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260件  16.2%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16.2%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260件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762.7M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16.2%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20.0M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55件   2.6%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762.7M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762.6M：批核 618.9M(81.2%)、未批 123.7M、待签 20.0M。在途 143.7M 转化可推高达成率约 13pct。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批核 231.1M/目标 200M=115.6% 超额。永明经代目标最大(340M)批 153.4M、缺口 187M 最大；天领 67.8M 缺口 112M、同行经代 134/160M 亦缺口显著，冲刺重点。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4.5▌4.3▌0.0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475.0M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1200件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456.0M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1150件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450.6M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1128件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615.8M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1204件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全流程：预约 475.0M→签单 456.0M→递交 450.6M→批核 615.8M。批核高于预约含跨周积压释放；预约→签单留存约 96%，前端获客是天花板，需扩预约入口。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周度脉冲明显：批核 W08 峰 67.0M 为存量放款，签单 W21 峰 32.9M、预约 W29 峰 34.8M（年内最高），W07 低谷。四阶段节奏错位，需平滑执行。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W29（2026）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34.8M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环比+72.7%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28.4M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环比+22.2%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环比+45.0%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123.7M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260件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20.0M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W29 预约 34.8M/89件、签单 28.4M/71件、批核 11.9M/37件。未批 123.7M（260件）为后续批核储量。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174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17.7M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208.7M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44.4M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58.3M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41.7M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10.9M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39.8M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35.5M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5.0M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41.9M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29.7M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28.2M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22.0M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39.1M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484.4M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884件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99.4M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206件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601.0M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1135件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484.4M，占全业务 78.3%。民生银行 189.5M/174 件独占 30.6%，为最核心单一客户及最大集中风险点。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144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412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1205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整体均值 30 天、P90 71 天。BK 件均 115 万但平均 71 天/P90 144 天，唯一超 SLA=60 天，大额件审核慢；天领 20 天最优。需专项提速 BK 积压件。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475.0M/1200件，同行经代领跑 162.6M/449件（占34%）。W29 单周 34.8M 为年内峰值，需保障转化。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签单总量 456.0M/1150 件，同行经代领跑 150.0M/418 件（占 33%）。W21 单周 32.8M 为阶段高点，预约→签单留存约 96%。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批核总量 615.8M/1204件，BK 领跑 228.0M/200件（占37%）。W08 单周 67.0M 为存量放款峰值，高于预约含跨周积压。</a:t>
            </a:r>
            <a:endParaRPr lang="en-US" sz="55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Q  周度预约业绩热力矩阵（APE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W29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24" name="Rectangle 923"/>
          <p:cNvSpPr/>
          <p:nvPr/>
        </p:nvSpPr>
        <p:spPr>
          <a:xfrm>
            <a:off x="868880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86288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86288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7" name="Rectangle 926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9" name="TextBox 928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0" name="Rectangle 929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2" name="TextBox 931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3" name="Rectangle 932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6" name="Rectangle 935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8" name="TextBox 937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9" name="Rectangle 938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2" name="Rectangle 941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5" name="Rectangle 944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8" name="Rectangle 947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1" name="Rectangle 950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4" name="Rectangle 953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7" name="Rectangle 956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311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0" name="Rectangle 959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6" name="Rectangle 965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44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8" name="TextBox 967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70" name="Rectangle 969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3" name="Rectangle 972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6" name="Rectangle 975"/>
          <p:cNvSpPr/>
          <p:nvPr/>
        </p:nvSpPr>
        <p:spPr>
          <a:xfrm>
            <a:off x="2257876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25187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225187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3299623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29362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1" name="TextBox 980"/>
          <p:cNvSpPr txBox="1"/>
          <p:nvPr/>
        </p:nvSpPr>
        <p:spPr>
          <a:xfrm>
            <a:off x="329362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2" name="Rectangle 981"/>
          <p:cNvSpPr/>
          <p:nvPr/>
        </p:nvSpPr>
        <p:spPr>
          <a:xfrm>
            <a:off x="4341370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33537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433537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5035868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502986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7" name="TextBox 986"/>
          <p:cNvSpPr txBox="1"/>
          <p:nvPr/>
        </p:nvSpPr>
        <p:spPr>
          <a:xfrm>
            <a:off x="502986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8" name="Rectangle 987"/>
          <p:cNvSpPr/>
          <p:nvPr/>
        </p:nvSpPr>
        <p:spPr>
          <a:xfrm>
            <a:off x="5730366" y="1285028"/>
            <a:ext cx="335249" cy="250996"/>
          </a:xfrm>
          <a:prstGeom prst="rect">
            <a:avLst/>
          </a:prstGeom>
          <a:solidFill>
            <a:srgbClr val="374151">
              <a:alpha val="261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TextBox 988"/>
          <p:cNvSpPr txBox="1"/>
          <p:nvPr/>
        </p:nvSpPr>
        <p:spPr>
          <a:xfrm>
            <a:off x="572436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90" name="TextBox 989"/>
          <p:cNvSpPr txBox="1"/>
          <p:nvPr/>
        </p:nvSpPr>
        <p:spPr>
          <a:xfrm>
            <a:off x="572436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91" name="TextBox 990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92" name="Rectangle 991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3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4" name="TextBox 993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5" name="Rectangle 994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47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7" name="TextBox 996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4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1" name="Rectangle 1000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3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8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5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7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3" name="Rectangle 1012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4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6" name="Rectangle 1015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68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9" name="Rectangle 1018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35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2" name="Rectangle 1021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75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35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8" name="Rectangle 1027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95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>
              <a:alpha val="6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4" name="Rectangle 1033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6" name="TextBox 1035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7" name="TextBox 1036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38" name="Rectangle 1037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41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1" name="Rectangle 1040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723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4" name="Rectangle 1043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>
              <a:alpha val="321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6" name="TextBox 1045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7" name="Rectangle 1046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419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9" name="TextBox 1048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0" name="Rectangle 1049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479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3" name="Rectangle 1052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425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6" name="Rectangle 1055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604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9" name="Rectangle 1058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410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576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5" name="Rectangle 1064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5598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8" name="Rectangle 1067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482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1" name="Rectangle 1070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580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4" name="Rectangle 1073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527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7" name="Rectangle 1076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66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0" name="Rectangle 1079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TextBox 1080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22.6M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2" name="TextBox 1081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84" name="Rectangle 1083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0" name="Rectangle 1089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3" name="Rectangle 1092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5" name="TextBox 1094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6" name="Rectangle 1095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8" name="TextBox 1097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9" name="Rectangle 1098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2" name="Rectangle 1101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4" name="TextBox 1103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5" name="Rectangle 1104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8" name="Rectangle 1107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0" name="TextBox 1109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1" name="Rectangle 1110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4" name="Rectangle 1113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7" name="Rectangle 1116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0" name="Rectangle 1119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2" name="TextBox 1121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3" name="Rectangle 1122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644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6" name="Rectangle 1125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75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TextBox 1126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8" name="TextBox 1127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9" name="TextBox 1128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30" name="Rectangle 1129"/>
          <p:cNvSpPr/>
          <p:nvPr/>
        </p:nvSpPr>
        <p:spPr>
          <a:xfrm>
            <a:off x="1563378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1557378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2" name="TextBox 1131"/>
          <p:cNvSpPr txBox="1"/>
          <p:nvPr/>
        </p:nvSpPr>
        <p:spPr>
          <a:xfrm>
            <a:off x="1557378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3" name="Rectangle 1132"/>
          <p:cNvSpPr/>
          <p:nvPr/>
        </p:nvSpPr>
        <p:spPr>
          <a:xfrm>
            <a:off x="2257876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225187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225187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6" name="Rectangle 1135"/>
          <p:cNvSpPr/>
          <p:nvPr/>
        </p:nvSpPr>
        <p:spPr>
          <a:xfrm>
            <a:off x="3646872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364087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8" name="TextBox 1137"/>
          <p:cNvSpPr txBox="1"/>
          <p:nvPr/>
        </p:nvSpPr>
        <p:spPr>
          <a:xfrm>
            <a:off x="364087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9" name="Rectangle 1138"/>
          <p:cNvSpPr/>
          <p:nvPr/>
        </p:nvSpPr>
        <p:spPr>
          <a:xfrm>
            <a:off x="4341370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4335370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4335370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2" name="Rectangle 1141"/>
          <p:cNvSpPr/>
          <p:nvPr/>
        </p:nvSpPr>
        <p:spPr>
          <a:xfrm>
            <a:off x="5035868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5029868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4" name="TextBox 1143"/>
          <p:cNvSpPr txBox="1"/>
          <p:nvPr/>
        </p:nvSpPr>
        <p:spPr>
          <a:xfrm>
            <a:off x="5029868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5" name="Rectangle 1144"/>
          <p:cNvSpPr/>
          <p:nvPr/>
        </p:nvSpPr>
        <p:spPr>
          <a:xfrm>
            <a:off x="5730366" y="2337012"/>
            <a:ext cx="335249" cy="250996"/>
          </a:xfrm>
          <a:prstGeom prst="rect">
            <a:avLst/>
          </a:prstGeom>
          <a:solidFill>
            <a:srgbClr val="94A3B8">
              <a:alpha val="250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572436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7" name="TextBox 1146"/>
          <p:cNvSpPr txBox="1"/>
          <p:nvPr/>
        </p:nvSpPr>
        <p:spPr>
          <a:xfrm>
            <a:off x="572436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8" name="TextBox 1147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49" name="Rectangle 1148"/>
          <p:cNvSpPr/>
          <p:nvPr/>
        </p:nvSpPr>
        <p:spPr>
          <a:xfrm>
            <a:off x="1563378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1557378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1557378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2" name="Rectangle 1151"/>
          <p:cNvSpPr/>
          <p:nvPr/>
        </p:nvSpPr>
        <p:spPr>
          <a:xfrm>
            <a:off x="2257876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TextBox 1152"/>
          <p:cNvSpPr txBox="1"/>
          <p:nvPr/>
        </p:nvSpPr>
        <p:spPr>
          <a:xfrm>
            <a:off x="2251876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4" name="TextBox 1153"/>
          <p:cNvSpPr txBox="1"/>
          <p:nvPr/>
        </p:nvSpPr>
        <p:spPr>
          <a:xfrm>
            <a:off x="2251876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5" name="TextBox 1154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156" name="Rectangle 1155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9" name="Rectangle 1158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2" name="Rectangle 1161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4" name="TextBox 1163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8" name="Rectangle 1167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0" name="TextBox 1169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1" name="Rectangle 1170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3" name="TextBox 1172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4" name="Rectangle 1173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6" name="TextBox 1175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7" name="Rectangle 1176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9" name="TextBox 1178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0" name="Rectangle 1179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2" name="TextBox 1181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3" name="Rectangle 1182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5" name="TextBox 1184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6" name="Rectangle 1185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8" name="TextBox 1187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9" name="Rectangle 1188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1" name="TextBox 1190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2" name="Rectangle 1191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4" name="TextBox 1193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5" name="Rectangle 1194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7" name="TextBox 1196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8" name="Rectangle 1197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34.8M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89件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201" name="Rectangle 1200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TextBox 1201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  周度签单业绩热力矩阵（APE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3" name="TextBox 1202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4" name="TextBox 1203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5" name="TextBox 1204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2" name="TextBox 1211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3" name="TextBox 1212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4" name="TextBox 1213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6" name="TextBox 1215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7" name="TextBox 1216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W29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8" name="TextBox 1217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19" name="Rectangle 1218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1" name="TextBox 1220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2" name="Rectangle 1221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4" name="TextBox 1223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5" name="Rectangle 1224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7" name="TextBox 1226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8" name="Rectangle 1227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0" name="TextBox 1229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1" name="Rectangle 1230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3" name="TextBox 1232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4" name="Rectangle 1233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6" name="TextBox 1235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7" name="Rectangle 1236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9" name="TextBox 1238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0" name="Rectangle 1239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2" name="TextBox 1241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3" name="Rectangle 1242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5" name="TextBox 1244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6" name="Rectangle 1245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8" name="TextBox 1247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9" name="Rectangle 1248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1" name="TextBox 1250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2" name="Rectangle 1251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37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4" name="TextBox 1253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5" name="Rectangle 1254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7" name="TextBox 1256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8" name="Rectangle 1257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0" name="TextBox 1259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1" name="Rectangle 1260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307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TextBox 1261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3" name="TextBox 1262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4" name="TextBox 1263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65" name="Rectangle 1264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8" name="Rectangle 1267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0" name="TextBox 1269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1" name="Rectangle 1270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3" name="TextBox 1272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4" name="Rectangle 1273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6" name="TextBox 1275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7" name="Rectangle 1276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9" name="TextBox 1278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0" name="Rectangle 1279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2" name="TextBox 1281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3" name="Rectangle 1282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5" name="TextBox 1284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6" name="Rectangle 1285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8" name="TextBox 1287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9" name="Rectangle 1288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2" name="Rectangle 1291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5" name="Rectangle 1294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7" name="TextBox 1296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8" name="Rectangle 1297"/>
          <p:cNvSpPr/>
          <p:nvPr/>
        </p:nvSpPr>
        <p:spPr>
          <a:xfrm>
            <a:off x="11363293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1135729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1135729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1" name="Rectangle 1300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>
              <a:alpha val="267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3" name="TextBox 1302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05" name="Rectangle 1304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8" name="Rectangle 1307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1" name="Rectangle 1310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4" name="Rectangle 1313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7" name="Rectangle 1316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0" name="Rectangle 1319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3" name="Rectangle 1322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6" name="Rectangle 1325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9" name="Rectangle 1328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1" name="TextBox 1330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2" name="Rectangle 1331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5" name="Rectangle 1334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8" name="Rectangle 1337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0" name="TextBox 1339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1" name="Rectangle 1340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3" name="TextBox 1342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4" name="Rectangle 1343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7" name="Rectangle 1346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>
              <a:alpha val="863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TextBox 1347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9" name="TextBox 1348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51" name="Rectangle 1350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421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4" name="Rectangle 1353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376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7" name="Rectangle 1356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68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0" name="Rectangle 1359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312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3" name="Rectangle 1362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48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6.7M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6" name="Rectangle 1365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453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9" name="Rectangle 1368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69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2" name="Rectangle 1371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>
              <a:alpha val="42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5" name="Rectangle 1374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36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8" name="Rectangle 1377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632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1" name="Rectangle 1380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61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4" name="Rectangle 1383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5434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8.5M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6" name="TextBox 1385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7" name="Rectangle 1386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43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9" name="TextBox 1388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90" name="Rectangle 1389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53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8.2M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92" name="TextBox 1391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93" name="Rectangle 1392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TextBox 1393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21.7M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5" name="TextBox 1394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97" name="Rectangle 1396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0" name="Rectangle 1399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3" name="Rectangle 1402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5" name="TextBox 1404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6" name="Rectangle 1405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9" name="Rectangle 1408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2" name="Rectangle 1411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5" name="Rectangle 1414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8" name="Rectangle 1417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1" name="Rectangle 1420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4" name="Rectangle 1423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7" name="Rectangle 1426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9" name="TextBox 1428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0" name="Rectangle 1429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2" name="TextBox 1431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3" name="Rectangle 1432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5" name="TextBox 1434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6" name="Rectangle 1435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6076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8" name="TextBox 1437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9" name="Rectangle 1438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438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TextBox 1439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2.4M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41" name="TextBox 1440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6849056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684305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684305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6" name="Rectangle 1445"/>
          <p:cNvSpPr/>
          <p:nvPr/>
        </p:nvSpPr>
        <p:spPr>
          <a:xfrm>
            <a:off x="7543554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753755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753755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9" name="Rectangle 1448"/>
          <p:cNvSpPr/>
          <p:nvPr/>
        </p:nvSpPr>
        <p:spPr>
          <a:xfrm>
            <a:off x="8238052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823205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823205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2" name="Rectangle 1451"/>
          <p:cNvSpPr/>
          <p:nvPr/>
        </p:nvSpPr>
        <p:spPr>
          <a:xfrm>
            <a:off x="9627048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9621048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9621048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5" name="Rectangle 1454"/>
          <p:cNvSpPr/>
          <p:nvPr/>
        </p:nvSpPr>
        <p:spPr>
          <a:xfrm>
            <a:off x="10321546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031554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1031554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8" name="Rectangle 1457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1" name="Rectangle 1460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4" name="Rectangle 1463"/>
          <p:cNvSpPr/>
          <p:nvPr/>
        </p:nvSpPr>
        <p:spPr>
          <a:xfrm>
            <a:off x="11710542" y="2337012"/>
            <a:ext cx="335249" cy="250996"/>
          </a:xfrm>
          <a:prstGeom prst="rect">
            <a:avLst/>
          </a:prstGeom>
          <a:solidFill>
            <a:srgbClr val="94A3B8">
              <a:alpha val="250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TextBox 1464"/>
          <p:cNvSpPr txBox="1"/>
          <p:nvPr/>
        </p:nvSpPr>
        <p:spPr>
          <a:xfrm>
            <a:off x="1170454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6" name="TextBox 1465"/>
          <p:cNvSpPr txBox="1"/>
          <p:nvPr/>
        </p:nvSpPr>
        <p:spPr>
          <a:xfrm>
            <a:off x="1170454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7" name="TextBox 1466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68" name="Rectangle 1467"/>
          <p:cNvSpPr/>
          <p:nvPr/>
        </p:nvSpPr>
        <p:spPr>
          <a:xfrm>
            <a:off x="7196305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7190305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0" name="TextBox 1469"/>
          <p:cNvSpPr txBox="1"/>
          <p:nvPr/>
        </p:nvSpPr>
        <p:spPr>
          <a:xfrm>
            <a:off x="7190305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1" name="Rectangle 1470"/>
          <p:cNvSpPr/>
          <p:nvPr/>
        </p:nvSpPr>
        <p:spPr>
          <a:xfrm>
            <a:off x="7890803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7884803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3" name="TextBox 1472"/>
          <p:cNvSpPr txBox="1"/>
          <p:nvPr/>
        </p:nvSpPr>
        <p:spPr>
          <a:xfrm>
            <a:off x="7884803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4" name="Rectangle 1473"/>
          <p:cNvSpPr/>
          <p:nvPr/>
        </p:nvSpPr>
        <p:spPr>
          <a:xfrm>
            <a:off x="8238052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TextBox 1474"/>
          <p:cNvSpPr txBox="1"/>
          <p:nvPr/>
        </p:nvSpPr>
        <p:spPr>
          <a:xfrm>
            <a:off x="8232052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6" name="TextBox 1475"/>
          <p:cNvSpPr txBox="1"/>
          <p:nvPr/>
        </p:nvSpPr>
        <p:spPr>
          <a:xfrm>
            <a:off x="8232052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7" name="TextBox 1476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478" name="Rectangle 1477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1" name="Rectangle 1480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4" name="Rectangle 1483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7" name="Rectangle 1486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0" name="Rectangle 1489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2" name="TextBox 1491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3" name="Rectangle 1492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5" name="TextBox 1494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6" name="Rectangle 1495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32.8M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8" name="TextBox 1497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9" name="Rectangle 1498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1" name="TextBox 1500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2" name="Rectangle 1501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4" name="TextBox 1503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5" name="Rectangle 1504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7" name="TextBox 1506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8" name="Rectangle 1507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0" name="TextBox 1509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1" name="Rectangle 1510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3" name="TextBox 1512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4" name="Rectangle 1513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7" name="Rectangle 1516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0" name="Rectangle 1519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3" name="Rectangle 1522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TextBox 1523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S  周度批核业绩热力矩阵（APE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25" name="TextBox 1524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6" name="TextBox 1525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9" name="TextBox 1528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1" name="TextBox 1530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3" name="TextBox 1532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5" name="TextBox 1534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6" name="TextBox 1535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8" name="TextBox 1537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9" name="TextBox 1538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W29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41" name="Rectangle 1540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4" name="Rectangle 1543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7" name="Rectangle 1546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50" name="Rectangle 1549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3" name="Rectangle 1552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6" name="Rectangle 1555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9" name="Rectangle 1558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1" name="TextBox 1560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2" name="Rectangle 1561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5" name="Rectangle 1564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7" name="TextBox 1566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8" name="Rectangle 1567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0" name="TextBox 1569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1" name="Rectangle 1570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4" name="Rectangle 1573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6" name="TextBox 1575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7" name="Rectangle 1576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9" name="TextBox 1578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0" name="Rectangle 1579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330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2" name="TextBox 1581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3" name="Rectangle 1582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486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5" name="TextBox 1584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6" name="TextBox 1585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87" name="Rectangle 1586"/>
          <p:cNvSpPr/>
          <p:nvPr/>
        </p:nvSpPr>
        <p:spPr>
          <a:xfrm>
            <a:off x="868880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862880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9" name="TextBox 1588"/>
          <p:cNvSpPr txBox="1"/>
          <p:nvPr/>
        </p:nvSpPr>
        <p:spPr>
          <a:xfrm>
            <a:off x="862880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0" name="Rectangle 1589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2" name="TextBox 1591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3" name="Rectangle 1592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6" name="Rectangle 1595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8" name="TextBox 1597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9" name="Rectangle 1598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2" name="Rectangle 1601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TextBox 1602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4" name="TextBox 1603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5" name="Rectangle 1604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TextBox 1605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7" name="TextBox 1606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8" name="Rectangle 1607"/>
          <p:cNvSpPr/>
          <p:nvPr/>
        </p:nvSpPr>
        <p:spPr>
          <a:xfrm>
            <a:off x="4341370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4335370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0" name="TextBox 1609"/>
          <p:cNvSpPr txBox="1"/>
          <p:nvPr/>
        </p:nvSpPr>
        <p:spPr>
          <a:xfrm>
            <a:off x="4335370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1" name="Rectangle 1610"/>
          <p:cNvSpPr/>
          <p:nvPr/>
        </p:nvSpPr>
        <p:spPr>
          <a:xfrm>
            <a:off x="4688619" y="4382928"/>
            <a:ext cx="335249" cy="251296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468261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468261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4" name="Rectangle 1613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TextBox 1614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6" name="TextBox 1615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7" name="TextBox 1616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18" name="Rectangle 1617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0" name="TextBox 1619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1" name="Rectangle 1620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3" name="TextBox 1622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4" name="Rectangle 1623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6" name="TextBox 1625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7" name="Rectangle 1626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9" name="TextBox 1628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0" name="Rectangle 1629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3" name="Rectangle 1632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5" name="TextBox 1634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6" name="Rectangle 1635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8" name="TextBox 1637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9" name="Rectangle 1638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1" name="TextBox 1640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2" name="Rectangle 1641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4" name="TextBox 1643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5" name="Rectangle 1644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7" name="TextBox 1646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8" name="Rectangle 1647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0" name="TextBox 1649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1" name="Rectangle 1650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4" name="Rectangle 1653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6" name="TextBox 1655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7" name="Rectangle 1656"/>
          <p:cNvSpPr/>
          <p:nvPr/>
        </p:nvSpPr>
        <p:spPr>
          <a:xfrm>
            <a:off x="5730366" y="4646224"/>
            <a:ext cx="335249" cy="251296"/>
          </a:xfrm>
          <a:prstGeom prst="rect">
            <a:avLst/>
          </a:prstGeom>
          <a:solidFill>
            <a:srgbClr val="1F3864">
              <a:alpha val="436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72436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9" name="TextBox 1658"/>
          <p:cNvSpPr txBox="1"/>
          <p:nvPr/>
        </p:nvSpPr>
        <p:spPr>
          <a:xfrm>
            <a:off x="572436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61" name="Rectangle 1660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437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3" name="TextBox 1662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4" name="Rectangle 1663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453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6" name="TextBox 1665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7" name="Rectangle 1666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533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0" name="Rectangle 1669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492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2" name="TextBox 1671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3" name="Rectangle 1672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868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6" name="Rectangle 1675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482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9" name="Rectangle 1678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681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2" name="Rectangle 1681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45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4" name="TextBox 1683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5" name="Rectangle 1684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572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7" name="TextBox 1686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8" name="Rectangle 1687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4139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0" name="TextBox 1689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1" name="Rectangle 1690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3" name="TextBox 1692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4" name="Rectangle 1693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>
              <a:alpha val="503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6" name="TextBox 1695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7" name="Rectangle 1696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619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9" name="TextBox 1698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0" name="Rectangle 1699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411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2" name="TextBox 1701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3" name="Rectangle 1702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458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5" name="TextBox 1704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6" name="TextBox 1705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07" name="Rectangle 1706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9" name="TextBox 1708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0" name="Rectangle 1709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2" name="TextBox 1711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3" name="Rectangle 1712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5" name="TextBox 1714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6" name="Rectangle 1715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8" name="TextBox 1717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9" name="Rectangle 1718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2" name="Rectangle 1721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4" name="TextBox 1723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5" name="Rectangle 1724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7" name="TextBox 1726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8" name="Rectangle 1727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1" name="Rectangle 1730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3" name="TextBox 1732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4" name="Rectangle 1733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6" name="TextBox 1735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7" name="Rectangle 1736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9" name="TextBox 1738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0" name="Rectangle 1739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3" name="Rectangle 1742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6" name="Rectangle 1745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506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8" name="TextBox 1747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9" name="Rectangle 1748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374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1" name="TextBox 1750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2" name="TextBox 1751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53" name="Rectangle 1752"/>
          <p:cNvSpPr/>
          <p:nvPr/>
        </p:nvSpPr>
        <p:spPr>
          <a:xfrm>
            <a:off x="868880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TextBox 1753"/>
          <p:cNvSpPr txBox="1"/>
          <p:nvPr/>
        </p:nvSpPr>
        <p:spPr>
          <a:xfrm>
            <a:off x="862880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5" name="TextBox 1754"/>
          <p:cNvSpPr txBox="1"/>
          <p:nvPr/>
        </p:nvSpPr>
        <p:spPr>
          <a:xfrm>
            <a:off x="862880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6" name="Rectangle 1755"/>
          <p:cNvSpPr/>
          <p:nvPr/>
        </p:nvSpPr>
        <p:spPr>
          <a:xfrm>
            <a:off x="1216129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TextBox 1756"/>
          <p:cNvSpPr txBox="1"/>
          <p:nvPr/>
        </p:nvSpPr>
        <p:spPr>
          <a:xfrm>
            <a:off x="1210129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1210129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9" name="Rectangle 1758"/>
          <p:cNvSpPr/>
          <p:nvPr/>
        </p:nvSpPr>
        <p:spPr>
          <a:xfrm>
            <a:off x="1910627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1904627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1" name="TextBox 1760"/>
          <p:cNvSpPr txBox="1"/>
          <p:nvPr/>
        </p:nvSpPr>
        <p:spPr>
          <a:xfrm>
            <a:off x="1904627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2" name="Rectangle 1761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4" name="TextBox 1763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5" name="Rectangle 1764"/>
          <p:cNvSpPr/>
          <p:nvPr/>
        </p:nvSpPr>
        <p:spPr>
          <a:xfrm>
            <a:off x="2952374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2946374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7" name="TextBox 1766"/>
          <p:cNvSpPr txBox="1"/>
          <p:nvPr/>
        </p:nvSpPr>
        <p:spPr>
          <a:xfrm>
            <a:off x="2946374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8" name="Rectangle 1767"/>
          <p:cNvSpPr/>
          <p:nvPr/>
        </p:nvSpPr>
        <p:spPr>
          <a:xfrm>
            <a:off x="4688619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4682619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0" name="TextBox 1769"/>
          <p:cNvSpPr txBox="1"/>
          <p:nvPr/>
        </p:nvSpPr>
        <p:spPr>
          <a:xfrm>
            <a:off x="4682619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1" name="Rectangle 1770"/>
          <p:cNvSpPr/>
          <p:nvPr/>
        </p:nvSpPr>
        <p:spPr>
          <a:xfrm>
            <a:off x="5383117" y="5436112"/>
            <a:ext cx="335249" cy="251296"/>
          </a:xfrm>
          <a:prstGeom prst="rect">
            <a:avLst/>
          </a:prstGeom>
          <a:solidFill>
            <a:srgbClr val="94A3B8">
              <a:alpha val="430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5377117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5377117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4" name="TextBox 1773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75" name="Rectangle 1774"/>
          <p:cNvSpPr/>
          <p:nvPr/>
        </p:nvSpPr>
        <p:spPr>
          <a:xfrm>
            <a:off x="2257876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TextBox 1775"/>
          <p:cNvSpPr txBox="1"/>
          <p:nvPr/>
        </p:nvSpPr>
        <p:spPr>
          <a:xfrm>
            <a:off x="2251876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7" name="TextBox 1776"/>
          <p:cNvSpPr txBox="1"/>
          <p:nvPr/>
        </p:nvSpPr>
        <p:spPr>
          <a:xfrm>
            <a:off x="2251876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8" name="Rectangle 1777"/>
          <p:cNvSpPr/>
          <p:nvPr/>
        </p:nvSpPr>
        <p:spPr>
          <a:xfrm>
            <a:off x="2605125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TextBox 1778"/>
          <p:cNvSpPr txBox="1"/>
          <p:nvPr/>
        </p:nvSpPr>
        <p:spPr>
          <a:xfrm>
            <a:off x="2599125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0" name="TextBox 1779"/>
          <p:cNvSpPr txBox="1"/>
          <p:nvPr/>
        </p:nvSpPr>
        <p:spPr>
          <a:xfrm>
            <a:off x="2599125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1" name="Rectangle 1780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3" name="TextBox 1782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4" name="TextBox 1783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785" name="Rectangle 1784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TextBox 1785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7" name="TextBox 1786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8" name="Rectangle 1787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TextBox 1788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0" name="TextBox 1789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1" name="Rectangle 1790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TextBox 1791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4" name="Rectangle 1793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7" name="Rectangle 1796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0" name="Rectangle 1799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TextBox 1800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2" name="TextBox 1801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3" name="Rectangle 1802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5" name="TextBox 1804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6" name="Rectangle 1805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TextBox 1806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8" name="TextBox 1807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9" name="Rectangle 1808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1" name="TextBox 1810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2" name="Rectangle 1811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TextBox 1812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4" name="TextBox 1813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5" name="Rectangle 1814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TextBox 1815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7" name="TextBox 1816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8" name="Rectangle 1817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TextBox 1818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0" name="TextBox 1819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1" name="Rectangle 1820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TextBox 1821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3" name="TextBox 1822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4" name="Rectangle 1823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8.2M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6" name="TextBox 1825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7" name="Rectangle 1826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9" name="TextBox 1828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姜通批核 124.6M + 战略合作 39.8M 合计占推荐人 TOP6 的 75.1%，但模式迥异：姜通件均≈36万为大单驱动，战略合作走量为流量驱动。头部集中，需差异化对接。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 批核 13.3M/批核率 100% 件质量最高；姜通在途未批 54.3M、批核率 65% 需优先排查；白博文未批 7.3M 待跟。头部推荐人质量分化，持续催核提速。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187件  |  件均41.6万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44件  |  件均38.5万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899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44.35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96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10.77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26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3.20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58.32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39.78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6.86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3.35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49.99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35.49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102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4.97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1.40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41.86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28.22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1.63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29.09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22.04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39.14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1.52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20.66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4.94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1.44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11.06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4.47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0.49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1.52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1.99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287.38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731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77.81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187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16.96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44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382.15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962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同行W29预约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27.78M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68件| 件均40.9W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同行W29签单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24.09M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57件| 件均42.3W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同行W29批核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5.51M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25件| 件均22.0W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64172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64172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W29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391617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13.41M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16.88M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1.35M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5.11M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3.29M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4.13M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1.01M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0.58M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万城保险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0.20M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0.49M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0.20M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龙腾财富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27.78M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24.09M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5.51M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W29 同行预约 27.78M（年内峰值）/68件、签单 24.09M/57件、批核 5.51M/25件。前端高预约待转化，批核清淡需盯后续放款。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W01–W29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61.06M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164件 | 件均37.2W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49.19M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135件 | 件均36.4W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36.16M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118件 | 件均30.6W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64172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62775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3983355"/>
          <a:ext cx="7303770" cy="327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40.20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43.43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39.03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37.43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59.93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58.66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38.07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61.06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49.19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36.16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292.27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819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275.62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777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287.38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731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52335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52399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52526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7 月同行预约 61.06M 创年内新高（环比 +1.9%），但签单 49.19M 环比 -16.2% 回落，预约-签单缺口扩大，大量前端件待结，需紧盯 8 月转化与放款。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231.1M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201件 | 达成率115.6%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 |件均75.3W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2.34M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 | 件均58W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14.82M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24件| 件均62W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12.48M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20件| 件均62W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29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5.07M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 | 件均63W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" name="Shape 19"/>
          <p:cNvSpPr/>
          <p:nvPr>
            <p:custDataLst>
              <p:tags r:id="rId3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" name="Shape 20"/>
          <p:cNvSpPr/>
          <p:nvPr>
            <p:custDataLst>
              <p:tags r:id="rId3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4" name="Text 21"/>
          <p:cNvSpPr/>
          <p:nvPr>
            <p:custDataLst>
              <p:tags r:id="rId3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W29预约</a:t>
            </a:r>
            <a:endParaRPr lang="en-US" sz="800" dirty="0"/>
          </a:p>
        </p:txBody>
      </p:sp>
      <p:sp>
        <p:nvSpPr>
          <p:cNvPr id="5" name="Text 22"/>
          <p:cNvSpPr/>
          <p:nvPr>
            <p:custDataLst>
              <p:tags r:id="rId3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 panose="020F0502020204030204"/>
              </a:rPr>
              <a:t>5.85M</a:t>
            </a:r>
            <a:endParaRPr lang="en-US" sz="1800" dirty="0"/>
          </a:p>
        </p:txBody>
      </p:sp>
      <p:sp>
        <p:nvSpPr>
          <p:cNvPr id="37" name="Text 23"/>
          <p:cNvSpPr/>
          <p:nvPr>
            <p:custDataLst>
              <p:tags r:id="rId3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10件 | 件均58.5W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8" name="Shape 24"/>
          <p:cNvSpPr/>
          <p:nvPr>
            <p:custDataLst>
              <p:tags r:id="rId3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25"/>
          <p:cNvSpPr/>
          <p:nvPr>
            <p:custDataLst>
              <p:tags r:id="rId3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40" name="Text 26"/>
          <p:cNvSpPr/>
          <p:nvPr>
            <p:custDataLst>
              <p:tags r:id="rId3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W29签单</a:t>
            </a:r>
            <a:endParaRPr lang="en-US" sz="800" dirty="0"/>
          </a:p>
        </p:txBody>
      </p:sp>
      <p:sp>
        <p:nvSpPr>
          <p:cNvPr id="41" name="Text 27"/>
          <p:cNvSpPr/>
          <p:nvPr>
            <p:custDataLst>
              <p:tags r:id="rId3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 panose="020F0502020204030204"/>
              </a:rPr>
              <a:t>3.51M</a:t>
            </a:r>
            <a:endParaRPr lang="en-US" sz="1800" dirty="0"/>
          </a:p>
        </p:txBody>
      </p:sp>
      <p:sp>
        <p:nvSpPr>
          <p:cNvPr id="42" name="Text 28"/>
          <p:cNvSpPr/>
          <p:nvPr>
            <p:custDataLst>
              <p:tags r:id="rId4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6件 | 件均58.5W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3" name="Shape 29"/>
          <p:cNvSpPr/>
          <p:nvPr>
            <p:custDataLst>
              <p:tags r:id="rId4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30"/>
          <p:cNvSpPr/>
          <p:nvPr>
            <p:custDataLst>
              <p:tags r:id="rId4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5" name="Text 31"/>
          <p:cNvSpPr/>
          <p:nvPr>
            <p:custDataLst>
              <p:tags r:id="rId4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W29批核</a:t>
            </a:r>
            <a:endParaRPr lang="en-US" sz="800" dirty="0"/>
          </a:p>
        </p:txBody>
      </p:sp>
      <p:sp>
        <p:nvSpPr>
          <p:cNvPr id="46" name="Text 32"/>
          <p:cNvSpPr/>
          <p:nvPr>
            <p:custDataLst>
              <p:tags r:id="rId4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 panose="020F0502020204030204"/>
              </a:rPr>
              <a:t>3.51M</a:t>
            </a:r>
            <a:endParaRPr lang="en-US" sz="1800" dirty="0"/>
          </a:p>
        </p:txBody>
      </p:sp>
      <p:sp>
        <p:nvSpPr>
          <p:cNvPr id="47" name="Text 33"/>
          <p:cNvSpPr/>
          <p:nvPr>
            <p:custDataLst>
              <p:tags r:id="rId4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5件 | 件均70.2W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W29 银行 KA 本周业绩详情（M）</a:t>
            </a:r>
            <a:endParaRPr lang="en-US" sz="950" dirty="0"/>
          </a:p>
        </p:txBody>
      </p:sp>
      <p:graphicFrame>
        <p:nvGraphicFramePr>
          <p:cNvPr id="52" name="Table 1"/>
          <p:cNvGraphicFramePr>
            <a:graphicFrameLocks noGrp="1"/>
          </p:cNvGraphicFramePr>
          <p:nvPr>
            <p:custDataLst>
              <p:tags r:id="rId4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1.95M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1.56M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0.78M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1.56M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5.85M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3.51M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3.51M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1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4" name="Picture 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9695" y="4943475"/>
            <a:ext cx="12000230" cy="1774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75.5M</a:t>
            </a:r>
            <a:endParaRPr sz="2200" b="1">
              <a:solidFill>
                <a:srgbClr val="1B4F7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234件 | 件均32.3W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12.9M</a:t>
            </a:r>
            <a:endParaRPr sz="2200" b="1">
              <a:solidFill>
                <a:srgbClr val="117A6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28件 | 件均46.2W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0.74M</a:t>
            </a:r>
            <a:endParaRPr sz="2200" b="1">
              <a:solidFill>
                <a:srgbClr val="0079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6件 | 件均12.3W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000" y="120912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123912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天领业务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147912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2966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1695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6778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1196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8048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230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03912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506912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530912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263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772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97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869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38046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346046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349046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W29 本周快报 | 代理人业务（天领+成事家办）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377046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0.39M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0.39M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1.56M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0.45M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0.34M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1.30M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0.08M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0.08M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1.18M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0.84M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2.86M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24.9M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39件 | 件均63.9W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4.35M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7件 | 件均62.1W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  <a:endParaRPr sz="2200" b="1">
              <a:solidFill>
                <a:srgbClr val="8B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1件 | 件均0.2W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526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451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435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W29 本周快报 | KA业务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0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12986</Words>
  <Application>WPS 演示</Application>
  <PresentationFormat>On-screen Show (16:9)</PresentationFormat>
  <Paragraphs>4760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Carrie</cp:lastModifiedBy>
  <cp:revision>70</cp:revision>
  <dcterms:created xsi:type="dcterms:W3CDTF">2026-03-26T15:42:00Z</dcterms:created>
  <dcterms:modified xsi:type="dcterms:W3CDTF">2026-07-24T16:20:30Z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2052-12.1.0.21915</vt:lpwstr>
  </property>
</Properties>
</file>