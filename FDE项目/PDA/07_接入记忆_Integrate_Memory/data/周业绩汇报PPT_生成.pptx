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4" r:id="rId13"/>
    <p:sldId id="275" r:id="rId14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9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0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1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2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3.xlsx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518.51989428</c:v>
                </c:pt>
                <c:pt idx="1">
                  <c:v>75.5038628</c:v>
                </c:pt>
                <c:pt idx="2">
                  <c:v>24.915511249999998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106.43145127</c:v>
                </c:pt>
                <c:pt idx="1">
                  <c:v>12.932357200000002</c:v>
                </c:pt>
                <c:pt idx="2">
                  <c:v>4.350332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19.2953662</c:v>
                </c:pt>
                <c:pt idx="1">
                  <c:v>0.7354151999999999</c:v>
                </c:pt>
                <c:pt idx="2">
                  <c:v>0.002367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Sheet1!$A$2:$A$16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61.7</c:v>
                </c:pt>
                <c:pt idx="8">
                  <c:v>144.6</c:v>
                </c:pt>
                <c:pt idx="9">
                  <c:v>79.9</c:v>
                </c:pt>
                <c:pt idx="10">
                  <c:v>185.5</c:v>
                </c:pt>
                <c:pt idx="11">
                  <c:v>141.9</c:v>
                </c:pt>
                <c:pt idx="12">
                  <c:v>53.9</c:v>
                </c:pt>
                <c:pt idx="13">
                  <c:v>56.4</c:v>
                </c:pt>
                <c:pt idx="14">
                  <c:v>81.5</c:v>
                </c:pt>
                <c:pt idx="15">
                  <c:v>67.4</c:v>
                </c:pt>
                <c:pt idx="16">
                  <c:v>81.9</c:v>
                </c:pt>
                <c:pt idx="17">
                  <c:v>84.4</c:v>
                </c:pt>
                <c:pt idx="18">
                  <c:v>84.2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Sheet1!$A$2:$A$16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36.0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67.0</c:v>
                </c:pt>
                <c:pt idx="8">
                  <c:v>145.0</c:v>
                </c:pt>
                <c:pt idx="9">
                  <c:v>80.2</c:v>
                </c:pt>
                <c:pt idx="10">
                  <c:v>176.2</c:v>
                </c:pt>
                <c:pt idx="11">
                  <c:v>147.6</c:v>
                </c:pt>
                <c:pt idx="12">
                  <c:v>47.9</c:v>
                </c:pt>
                <c:pt idx="13">
                  <c:v>61.1</c:v>
                </c:pt>
                <c:pt idx="14">
                  <c:v>82.1</c:v>
                </c:pt>
                <c:pt idx="15">
                  <c:v>62.1</c:v>
                </c:pt>
                <c:pt idx="16">
                  <c:v>86.1</c:v>
                </c:pt>
                <c:pt idx="17">
                  <c:v>85.7</c:v>
                </c:pt>
                <c:pt idx="18">
                  <c:v>69.9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Sheet1!$A$2:$A$16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77.2</c:v>
                </c:pt>
                <c:pt idx="6">
                  <c:v>102.7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116.8</c:v>
                </c:pt>
                <c:pt idx="13">
                  <c:v>143.7</c:v>
                </c:pt>
                <c:pt idx="14">
                  <c:v>85.8</c:v>
                </c:pt>
                <c:pt idx="15">
                  <c:v>91.2</c:v>
                </c:pt>
                <c:pt idx="16">
                  <c:v>72.8</c:v>
                </c:pt>
                <c:pt idx="17">
                  <c:v>61.9</c:v>
                </c:pt>
                <c:pt idx="18">
                  <c:v>46.8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116.8</c:v>
                </c:pt>
                <c:pt idx="1">
                  <c:v>143.7</c:v>
                </c:pt>
                <c:pt idx="2">
                  <c:v>85.8</c:v>
                </c:pt>
                <c:pt idx="3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4">
                  <c:v>80</c:v>
                </c:pt>
                <c:pt idx="5">
                  <c:v>88</c:v>
                </c:pt>
                <c:pt idx="6">
                  <c:v>95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96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53.9M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> / 113</a:t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>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225062590592"/>
                      <c:h val="0.228730822873082"/>
                    </c:manualLayout>
                  </c15:layout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56.1M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> </a:t>
                    </a:r>
                    <a:r>
                      <a:rPr>
                        <a:solidFill>
                          <a:schemeClr val="tx1"/>
                        </a:solidFill>
                      </a:rPr>
                      <a:t>/ 1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>07</a:t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>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9482145210173"/>
                      <c:h val="0.209669920966992"/>
                    </c:manualLayout>
                  </c15:layout>
                </c:ext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>80</a:t>
                    </a:r>
                    <a:r>
                      <a:rPr>
                        <a:solidFill>
                          <a:schemeClr val="tx1"/>
                        </a:solidFill>
                      </a:rPr>
                      <a:t>.0M / 1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>99</a:t>
                    </a:r>
                    <a:r>
                      <a:rPr>
                        <a:solidFill>
                          <a:schemeClr val="tx1"/>
                        </a:solidFill>
                      </a:rPr>
                      <a:t>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2291083566573"/>
                      <c:h val="0.235181644359465"/>
                    </c:manualLayout>
                  </c15:layout>
                </c:ext>
              </c:extLst>
            </c:dLbl>
            <c:dLbl>
              <c:idx val="3"/>
              <c:layout>
                <c:manualLayout>
                  <c:x val="0"/>
                  <c:y val="0.00764818355640535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0.8M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>/6</a:t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>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4"/>
                <c:pt idx="0">
                  <c:v>53.9</c:v>
                </c:pt>
                <c:pt idx="1">
                  <c:v>56.1</c:v>
                </c:pt>
                <c:pt idx="2">
                  <c:v>80</c:v>
                </c:pt>
                <c:pt idx="3">
                  <c:v>0.8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>
                <c:manualLayout>
                  <c:x val="0.00618828176431863"/>
                  <c:y val="0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47.9M / 11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>5</a:t>
                    </a:r>
                    <a:r>
                      <a:rPr>
                        <a:solidFill>
                          <a:schemeClr val="tx1"/>
                        </a:solidFill>
                      </a:rPr>
                      <a:t>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2567478604345"/>
                      <c:h val="0.163817663817664"/>
                    </c:manualLayout>
                  </c15:layout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60.8M / 11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>8</a:t>
                    </a:r>
                    <a:r>
                      <a:rPr>
                        <a:solidFill>
                          <a:schemeClr val="tx1"/>
                        </a:solidFill>
                      </a:rPr>
                      <a:t>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2541145490454"/>
                      <c:h val="0.233618233618234"/>
                    </c:manualLayout>
                  </c15:layout>
                </c:ext>
              </c:extLst>
            </c:dLbl>
            <c:dLbl>
              <c:idx val="2"/>
              <c:layout>
                <c:manualLayout>
                  <c:x val="0"/>
                  <c:y val="-0.006993006993006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>80</a:t>
                    </a:r>
                    <a:r>
                      <a:rPr>
                        <a:solidFill>
                          <a:schemeClr val="tx1"/>
                        </a:solidFill>
                      </a:rPr>
                      <a:t>.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>6</a:t>
                    </a:r>
                    <a:r>
                      <a:rPr>
                        <a:solidFill>
                          <a:schemeClr val="tx1"/>
                        </a:solidFill>
                      </a:rPr>
                      <a:t>M / 1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>95</a:t>
                    </a:r>
                    <a:r>
                      <a:rPr>
                        <a:solidFill>
                          <a:schemeClr val="tx1"/>
                        </a:solidFill>
                      </a:rPr>
                      <a:t>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80250164582"/>
                      <c:h val="0.336182336182336"/>
                    </c:manualLayout>
                  </c15:layout>
                </c:ext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3.1M</a:t>
                    </a:r>
                    <a:r>
                      <a:rPr lang="en-US" altLang="zh-CN"/>
                      <a:t>/10</a:t>
                    </a:r>
                    <a:r>
                      <a:rPr altLang="en-US"/>
                      <a:t>件</a:t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4"/>
                <c:pt idx="0">
                  <c:v>47.9</c:v>
                </c:pt>
                <c:pt idx="1">
                  <c:v>60.8</c:v>
                </c:pt>
                <c:pt idx="2">
                  <c:v>80.6</c:v>
                </c:pt>
                <c:pt idx="3">
                  <c:v>3.1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116.8M /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> 99</a:t>
                    </a:r>
                    <a:r>
                      <a:rPr>
                        <a:solidFill>
                          <a:schemeClr val="tx1"/>
                        </a:solidFill>
                      </a:rPr>
                      <a:t>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7724485624745"/>
                      <c:h val="0.226970560303894"/>
                    </c:manualLayout>
                  </c15:layout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143.7M / 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>180</a:t>
                    </a:r>
                    <a:r>
                      <a:rPr>
                        <a:solidFill>
                          <a:schemeClr val="tx1"/>
                        </a:solidFill>
                      </a:rPr>
                      <a:t>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9465867284371"/>
                      <c:h val="0.336182336182336"/>
                    </c:manualLayout>
                  </c15:layout>
                </c:ext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>85</a:t>
                    </a:r>
                    <a:r>
                      <a:rPr>
                        <a:solidFill>
                          <a:schemeClr val="tx1"/>
                        </a:solidFill>
                      </a:rPr>
                      <a:t>.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>9</a:t>
                    </a:r>
                    <a:r>
                      <a:rPr>
                        <a:solidFill>
                          <a:schemeClr val="tx1"/>
                        </a:solidFill>
                      </a:rPr>
                      <a:t>M / 1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>39</a:t>
                    </a:r>
                    <a:r>
                      <a:rPr>
                        <a:solidFill>
                          <a:schemeClr val="tx1"/>
                        </a:solidFill>
                      </a:rPr>
                      <a:t>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2546668483445"/>
                      <c:h val="0.336182336182336"/>
                    </c:manualLayout>
                  </c15:layout>
                </c:ext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4.1M</a:t>
                    </a:r>
                    <a:r>
                      <a:rPr lang="en-US" altLang="zh-CN"/>
                      <a:t>/11</a:t>
                    </a:r>
                    <a:r>
                      <a:rPr altLang="en-US"/>
                      <a:t>件</a:t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4"/>
                <c:pt idx="0">
                  <c:v>116.8</c:v>
                </c:pt>
                <c:pt idx="1">
                  <c:v>143.7</c:v>
                </c:pt>
                <c:pt idx="2">
                  <c:v>85.9</c:v>
                </c:pt>
                <c:pt idx="3">
                  <c:v>4.1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dLbl>
              <c:idx val="1"/>
              <c:layout>
                <c:manualLayout>
                  <c:x val="-0.0363401035444046"/>
                  <c:y val="-0.0634057971014493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 c:formatCode="d/mmm">
                  <c:v>26-Apr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44.6</c:v>
                </c:pt>
                <c:pt idx="1">
                  <c:v>35</c:v>
                </c:pt>
                <c:pt idx="2">
                  <c:v>75.4</c:v>
                </c:pt>
                <c:pt idx="3">
                  <c:v>0.7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layout>
                <c:manualLayout>
                  <c:x val="0"/>
                  <c:y val="0.0582729468599034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0597371565113501"/>
                  <c:y val="0.053743961352657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81700517722023"/>
                  <c:y val="0.0389492753623188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-0.0152706552706553"/>
                  <c:y val="0.00456204379562044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 c:formatCode="d/mmm">
                  <c:v>26-Apr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38.8</c:v>
                </c:pt>
                <c:pt idx="1">
                  <c:v>39.4</c:v>
                </c:pt>
                <c:pt idx="2">
                  <c:v>76</c:v>
                </c:pt>
                <c:pt idx="3">
                  <c:v>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1"/>
              <c:layout>
                <c:manualLayout>
                  <c:x val="-0.016178813221824"/>
                  <c:y val="-0.0392512077294686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222769812823576"/>
                  <c:y val="-0.0489130434782609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.00170940170940171"/>
                  <c:y val="-0.0541362530413625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 c:formatCode="d/mmm">
                  <c:v>26-Apr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86.2</c:v>
                </c:pt>
                <c:pt idx="1">
                  <c:v>124.1</c:v>
                </c:pt>
                <c:pt idx="2">
                  <c:v>82.63</c:v>
                </c:pt>
                <c:pt idx="3">
                  <c:v>4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Sheet1!$B$1:$D$1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Sheet1!$B2:$D2</c:f>
              <c:numCache>
                <c:formatCode>0.0</c:formatCode>
                <c:ptCount val="4"/>
                <c:pt idx="0">
                  <c:v>6.804</c:v>
                </c:pt>
                <c:pt idx="1">
                  <c:v>10.355</c:v>
                </c:pt>
                <c:pt idx="2">
                  <c:v>11.974</c:v>
                </c:pt>
                <c:pt idx="3">
                  <c:v>0.66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Sheet1!$B$1:$D$1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Sheet1!$B3:$D3</c:f>
              <c:numCache>
                <c:formatCode>0.0</c:formatCode>
                <c:ptCount val="4"/>
                <c:pt idx="0">
                  <c:v>4.958</c:v>
                </c:pt>
                <c:pt idx="1">
                  <c:v>12.123</c:v>
                </c:pt>
                <c:pt idx="2">
                  <c:v>7.09</c:v>
                </c:pt>
                <c:pt idx="3">
                  <c:v>0.66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Sheet1!$A$1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Sheet1!$B$1:$D$1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Sheet1!$B4:$D4</c:f>
              <c:numCache>
                <c:formatCode>0.0</c:formatCode>
                <c:ptCount val="4"/>
                <c:pt idx="0">
                  <c:v>6.762</c:v>
                </c:pt>
                <c:pt idx="1">
                  <c:v>10.518</c:v>
                </c:pt>
                <c:pt idx="2">
                  <c:v>5.652</c:v>
                </c:pt>
                <c:pt idx="3">
                  <c:v>0.08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Sheet1!$B$1:$D$1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Sheet1!$B2:$D2</c:f>
              <c:numCache>
                <c:formatCode>0.0</c:formatCode>
                <c:ptCount val="4"/>
                <c:pt idx="0">
                  <c:v>1.023</c:v>
                </c:pt>
                <c:pt idx="1">
                  <c:v>0.39</c:v>
                </c:pt>
                <c:pt idx="2">
                  <c:v>0.819</c:v>
                </c:pt>
                <c:pt idx="3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Sheet1!$B$1:$D$1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Sheet1!$B3:$D3</c:f>
              <c:numCache>
                <c:formatCode>0.0</c:formatCode>
                <c:ptCount val="4"/>
                <c:pt idx="0">
                  <c:v>1.023</c:v>
                </c:pt>
                <c:pt idx="1">
                  <c:v>0.39</c:v>
                </c:pt>
                <c:pt idx="2">
                  <c:v>0.234</c:v>
                </c:pt>
                <c:pt idx="3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Sheet1!$A$1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Sheet1!$B$1:$D$1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Sheet1!$B4:$D4</c:f>
              <c:numCache>
                <c:formatCode>0.0</c:formatCode>
                <c:ptCount val="4"/>
                <c:pt idx="0">
                  <c:v>1.345</c:v>
                </c:pt>
                <c:pt idx="1">
                  <c:v>0.39</c:v>
                </c:pt>
                <c:pt idx="2">
                  <c:v>0.468</c:v>
                </c:pt>
                <c:pt idx="3">
                  <c:v>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Sheet1!$B$1:$D$1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Sheet1!$B2:$D2</c:f>
              <c:numCache>
                <c:formatCode>0.0</c:formatCode>
                <c:ptCount val="4"/>
                <c:pt idx="0">
                  <c:v>14.252</c:v>
                </c:pt>
                <c:pt idx="1">
                  <c:v>7.363</c:v>
                </c:pt>
                <c:pt idx="2">
                  <c:v>14.82</c:v>
                </c:pt>
                <c:pt idx="3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Sheet1!$B$1:$D$1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Sheet1!$B3:$D3</c:f>
              <c:numCache>
                <c:formatCode>0.0</c:formatCode>
                <c:ptCount val="4"/>
                <c:pt idx="0">
                  <c:v>17.528</c:v>
                </c:pt>
                <c:pt idx="1">
                  <c:v>8.377</c:v>
                </c:pt>
                <c:pt idx="2">
                  <c:v>12.09</c:v>
                </c:pt>
                <c:pt idx="3">
                  <c:v>1.56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Sheet1!$A$1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Sheet1!$B$1:$D$1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Sheet1!$B4:$D4</c:f>
              <c:numCache>
                <c:formatCode>0.0</c:formatCode>
                <c:ptCount val="4"/>
                <c:pt idx="0">
                  <c:v>18.26</c:v>
                </c:pt>
                <c:pt idx="1">
                  <c:v>93.94</c:v>
                </c:pt>
                <c:pt idx="2">
                  <c:v>56.906</c:v>
                </c:pt>
                <c:pt idx="3">
                  <c:v>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Sheet1!$B$1:$D$1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Sheet1!$B2:$D2</c:f>
              <c:numCache>
                <c:formatCode>0.0</c:formatCode>
                <c:ptCount val="4"/>
                <c:pt idx="0">
                  <c:v>6.176</c:v>
                </c:pt>
                <c:pt idx="1">
                  <c:v>2.445</c:v>
                </c:pt>
                <c:pt idx="2">
                  <c:v>6.436</c:v>
                </c:pt>
                <c:pt idx="3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Sheet1!$B$1:$D$1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Sheet1!$B3:$D3</c:f>
              <c:numCache>
                <c:formatCode>0.0</c:formatCode>
                <c:ptCount val="4"/>
                <c:pt idx="0">
                  <c:v>2.588</c:v>
                </c:pt>
                <c:pt idx="1">
                  <c:v>5.799</c:v>
                </c:pt>
                <c:pt idx="2">
                  <c:v>5.787</c:v>
                </c:pt>
                <c:pt idx="3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Sheet1!$A$1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Sheet1!$B$1:$D$1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Sheet1!$B4:$D4</c:f>
              <c:numCache>
                <c:formatCode>0.0</c:formatCode>
                <c:ptCount val="4"/>
                <c:pt idx="0">
                  <c:v>41.794</c:v>
                </c:pt>
                <c:pt idx="1">
                  <c:v>5.672</c:v>
                </c:pt>
                <c:pt idx="2">
                  <c:v>1.018</c:v>
                </c:pt>
                <c:pt idx="3">
                  <c:v>0.82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Sheet1!$B$1:$D$1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Sheet1!$B2:$D2</c:f>
              <c:numCache>
                <c:formatCode>0.0</c:formatCode>
                <c:ptCount val="4"/>
                <c:pt idx="0">
                  <c:v>18.804</c:v>
                </c:pt>
                <c:pt idx="1">
                  <c:v>22.192</c:v>
                </c:pt>
                <c:pt idx="2">
                  <c:v>32.582</c:v>
                </c:pt>
                <c:pt idx="3">
                  <c:v>0.11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Sheet1!$B$1:$D$1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Sheet1!$B3:$D3</c:f>
              <c:numCache>
                <c:formatCode>0.0</c:formatCode>
                <c:ptCount val="4"/>
                <c:pt idx="0">
                  <c:v>15.538</c:v>
                </c:pt>
                <c:pt idx="1">
                  <c:v>20.145</c:v>
                </c:pt>
                <c:pt idx="2">
                  <c:v>33.629</c:v>
                </c:pt>
                <c:pt idx="3">
                  <c:v>0.86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Sheet1!$A$1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Sheet1!$B$1:$D$1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Sheet1!$B4:$D4</c:f>
              <c:numCache>
                <c:formatCode>0.0</c:formatCode>
                <c:ptCount val="4"/>
                <c:pt idx="0">
                  <c:v>45.963</c:v>
                </c:pt>
                <c:pt idx="1">
                  <c:v>20.312</c:v>
                </c:pt>
                <c:pt idx="2">
                  <c:v>10.447</c:v>
                </c:pt>
                <c:pt idx="3">
                  <c:v>2.68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Sheet1!$B$1:$D$1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Sheet1!$B2:$D2</c:f>
              <c:numCache>
                <c:formatCode>0.0</c:formatCode>
                <c:ptCount val="4"/>
                <c:pt idx="0">
                  <c:v>0.437</c:v>
                </c:pt>
                <c:pt idx="1">
                  <c:v>0.158</c:v>
                </c:pt>
                <c:pt idx="2">
                  <c:v>1.964</c:v>
                </c:pt>
                <c:pt idx="3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Sheet1!$B$1:$D$1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Sheet1!$B3:$D3</c:f>
              <c:numCache>
                <c:formatCode>0.0</c:formatCode>
                <c:ptCount val="4"/>
                <c:pt idx="0">
                  <c:v>0.09</c:v>
                </c:pt>
                <c:pt idx="1">
                  <c:v>0.515</c:v>
                </c:pt>
                <c:pt idx="2">
                  <c:v>1.966</c:v>
                </c:pt>
                <c:pt idx="3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Sheet1!$A$1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Sheet1!$B$1:$D$1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Sheet1!$B4:$D4</c:f>
              <c:numCache>
                <c:formatCode>0.0</c:formatCode>
                <c:ptCount val="4"/>
                <c:pt idx="0">
                  <c:v>0.58</c:v>
                </c:pt>
                <c:pt idx="1">
                  <c:v>0.897</c:v>
                </c:pt>
                <c:pt idx="2">
                  <c:v>0.127</c:v>
                </c:pt>
                <c:pt idx="3">
                  <c:v>0.47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Sheet1!$B$1:$D$1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Sheet1!$B2:$D2</c:f>
              <c:numCache>
                <c:formatCode>0.0</c:formatCode>
                <c:ptCount val="4"/>
                <c:pt idx="0">
                  <c:v>2.39</c:v>
                </c:pt>
                <c:pt idx="1">
                  <c:v>12.109</c:v>
                </c:pt>
                <c:pt idx="2">
                  <c:v>3.4</c:v>
                </c:pt>
                <c:pt idx="3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Sheet1!$B$1:$D$1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Sheet1!$B3:$D3</c:f>
              <c:numCache>
                <c:formatCode>0.0</c:formatCode>
                <c:ptCount val="4"/>
                <c:pt idx="0">
                  <c:v>2.39</c:v>
                </c:pt>
                <c:pt idx="1">
                  <c:v>12.109</c:v>
                </c:pt>
                <c:pt idx="2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Sheet1!$A$1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Sheet1!$B$1:$D$1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Sheet1!$B4:$D4</c:f>
              <c:numCache>
                <c:formatCode>0.0</c:formatCode>
                <c:ptCount val="4"/>
                <c:pt idx="0">
                  <c:v>2.078</c:v>
                </c:pt>
                <c:pt idx="1">
                  <c:v>12</c:v>
                </c:pt>
                <c:pt idx="2">
                  <c:v>0.109</c:v>
                </c:pt>
                <c:pt idx="3">
                  <c:v>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dLbl>
              <c:idx val="0"/>
              <c:layout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1200" b="0" i="0" u="none" strike="noStrike" kern="1200" baseline="0">
                      <a:solidFill>
                        <a:srgbClr val="000000"/>
                      </a:solid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1200" b="0" i="0" u="none" strike="noStrike" kern="1200" baseline="0">
                      <a:solidFill>
                        <a:srgbClr val="000000"/>
                      </a:solid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1200" b="0" i="0" u="none" strike="noStrike" kern="1200" baseline="0">
                      <a:solidFill>
                        <a:srgbClr val="000000"/>
                      </a:solid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350.4</c:v>
                </c:pt>
                <c:pt idx="1">
                  <c:v>167.9</c:v>
                </c:pt>
                <c:pt idx="2">
                  <c:v>3.9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8"/>
                <c:pt idx="0">
                  <c:v>永明经代</c:v>
                </c:pt>
                <c:pt idx="1">
                  <c:v>天领业务</c:v>
                </c:pt>
                <c:pt idx="2">
                  <c:v>BK业务</c:v>
                </c:pt>
                <c:pt idx="3">
                  <c:v>合伙转介</c:v>
                </c:pt>
                <c:pt idx="4">
                  <c:v>成事家办</c:v>
                </c:pt>
                <c:pt idx="5">
                  <c:v>同行经代</c:v>
                </c:pt>
                <c:pt idx="6">
                  <c:v>ICLUB</c:v>
                </c:pt>
                <c:pt idx="7">
                  <c:v>IFA业务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86.1</c:v>
                </c:pt>
                <c:pt idx="1">
                  <c:v>23.7</c:v>
                </c:pt>
                <c:pt idx="2">
                  <c:v>170.9</c:v>
                </c:pt>
                <c:pt idx="3">
                  <c:v>2.3</c:v>
                </c:pt>
                <c:pt idx="4">
                  <c:v>2.2</c:v>
                </c:pt>
                <c:pt idx="5">
                  <c:v>50.8</c:v>
                </c:pt>
                <c:pt idx="6">
                  <c:v>14.6</c:v>
                </c:pt>
                <c:pt idx="7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8"/>
                <c:pt idx="0">
                  <c:v>永明经代</c:v>
                </c:pt>
                <c:pt idx="1">
                  <c:v>天领业务</c:v>
                </c:pt>
                <c:pt idx="2">
                  <c:v>BK业务</c:v>
                </c:pt>
                <c:pt idx="3">
                  <c:v>合伙转介</c:v>
                </c:pt>
                <c:pt idx="4">
                  <c:v>成事家办</c:v>
                </c:pt>
                <c:pt idx="5">
                  <c:v>同行经代</c:v>
                </c:pt>
                <c:pt idx="6">
                  <c:v>ICLUB</c:v>
                </c:pt>
                <c:pt idx="7">
                  <c:v>IFA业务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43.1</c:v>
                </c:pt>
                <c:pt idx="1">
                  <c:v>15.3</c:v>
                </c:pt>
                <c:pt idx="2">
                  <c:v>81.5</c:v>
                </c:pt>
                <c:pt idx="3">
                  <c:v>3.3</c:v>
                </c:pt>
                <c:pt idx="4">
                  <c:v>1.1</c:v>
                </c:pt>
                <c:pt idx="5">
                  <c:v>21.4</c:v>
                </c:pt>
                <c:pt idx="6">
                  <c:v>1.8</c:v>
                </c:pt>
                <c:pt idx="7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8"/>
                <c:pt idx="0">
                  <c:v>永明经代</c:v>
                </c:pt>
                <c:pt idx="1">
                  <c:v>天领业务</c:v>
                </c:pt>
                <c:pt idx="2">
                  <c:v>BK业务</c:v>
                </c:pt>
                <c:pt idx="3">
                  <c:v>合伙转介</c:v>
                </c:pt>
                <c:pt idx="4">
                  <c:v>成事家办</c:v>
                </c:pt>
                <c:pt idx="5">
                  <c:v>同行经代</c:v>
                </c:pt>
                <c:pt idx="6">
                  <c:v>ICLUB</c:v>
                </c:pt>
                <c:pt idx="7">
                  <c:v>IFA业务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1.5</c:v>
                </c:pt>
                <c:pt idx="1">
                  <c:v>5</c:v>
                </c:pt>
                <c:pt idx="2">
                  <c:v>0.78</c:v>
                </c:pt>
                <c:pt idx="3">
                  <c:v>0</c:v>
                </c:pt>
                <c:pt idx="4">
                  <c:v>0.6</c:v>
                </c:pt>
                <c:pt idx="5">
                  <c:v>1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8"/>
                <c:pt idx="0">
                  <c:v>永明经代</c:v>
                </c:pt>
                <c:pt idx="1">
                  <c:v>天领业务</c:v>
                </c:pt>
                <c:pt idx="2">
                  <c:v>BK业务</c:v>
                </c:pt>
                <c:pt idx="3">
                  <c:v>合伙转介</c:v>
                </c:pt>
                <c:pt idx="4">
                  <c:v>成事家办</c:v>
                </c:pt>
                <c:pt idx="5">
                  <c:v>同行经代</c:v>
                </c:pt>
                <c:pt idx="6">
                  <c:v>ICLUB</c:v>
                </c:pt>
                <c:pt idx="7">
                  <c:v>IFA业务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215.7</c:v>
                </c:pt>
                <c:pt idx="1">
                  <c:v>154.9</c:v>
                </c:pt>
                <c:pt idx="2">
                  <c:v>-53.2</c:v>
                </c:pt>
                <c:pt idx="3">
                  <c:v>67.4</c:v>
                </c:pt>
                <c:pt idx="4">
                  <c:v>66.1</c:v>
                </c:pt>
                <c:pt idx="5">
                  <c:v>88.3</c:v>
                </c:pt>
                <c:pt idx="6">
                  <c:v>34</c:v>
                </c:pt>
                <c:pt idx="7">
                  <c:v>25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3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3"/>
                <c:pt idx="0">
                  <c:v>6.5</c:v>
                </c:pt>
                <c:pt idx="1">
                  <c:v>14</c:v>
                </c:pt>
                <c:pt idx="2">
                  <c:v>18.7</c:v>
                </c:pt>
                <c:pt idx="3">
                  <c:v>10.2</c:v>
                </c:pt>
                <c:pt idx="4">
                  <c:v>29.1</c:v>
                </c:pt>
                <c:pt idx="5">
                  <c:v>16.4</c:v>
                </c:pt>
                <c:pt idx="6">
                  <c:v>2.7</c:v>
                </c:pt>
                <c:pt idx="7">
                  <c:v>6.8</c:v>
                </c:pt>
                <c:pt idx="8">
                  <c:v>5.9</c:v>
                </c:pt>
                <c:pt idx="9">
                  <c:v>20.6</c:v>
                </c:pt>
                <c:pt idx="10">
                  <c:v>19.6</c:v>
                </c:pt>
                <c:pt idx="11">
                  <c:v>25.9</c:v>
                </c:pt>
                <c:pt idx="12">
                  <c:v>6.01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3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3"/>
                <c:pt idx="0">
                  <c:v>2.6</c:v>
                </c:pt>
                <c:pt idx="1">
                  <c:v>10.2</c:v>
                </c:pt>
                <c:pt idx="2">
                  <c:v>14.6</c:v>
                </c:pt>
                <c:pt idx="3">
                  <c:v>11.8</c:v>
                </c:pt>
                <c:pt idx="4">
                  <c:v>32.3</c:v>
                </c:pt>
                <c:pt idx="5">
                  <c:v>14.4</c:v>
                </c:pt>
                <c:pt idx="6">
                  <c:v>4.9</c:v>
                </c:pt>
                <c:pt idx="7">
                  <c:v>7.8</c:v>
                </c:pt>
                <c:pt idx="8">
                  <c:v>4.8</c:v>
                </c:pt>
                <c:pt idx="9">
                  <c:v>11.4</c:v>
                </c:pt>
                <c:pt idx="10">
                  <c:v>21.4</c:v>
                </c:pt>
                <c:pt idx="11">
                  <c:v>23.2</c:v>
                </c:pt>
                <c:pt idx="12">
                  <c:v>17.47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3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3"/>
                <c:pt idx="0">
                  <c:v>10</c:v>
                </c:pt>
                <c:pt idx="1">
                  <c:v>7.9</c:v>
                </c:pt>
                <c:pt idx="2">
                  <c:v>11.3</c:v>
                </c:pt>
                <c:pt idx="3">
                  <c:v>13.5</c:v>
                </c:pt>
                <c:pt idx="4">
                  <c:v>17.3</c:v>
                </c:pt>
                <c:pt idx="5">
                  <c:v>15</c:v>
                </c:pt>
                <c:pt idx="6">
                  <c:v>0</c:v>
                </c:pt>
                <c:pt idx="7">
                  <c:v>6.3</c:v>
                </c:pt>
                <c:pt idx="8">
                  <c:v>10.8</c:v>
                </c:pt>
                <c:pt idx="9">
                  <c:v>10.1</c:v>
                </c:pt>
                <c:pt idx="10">
                  <c:v>12.3</c:v>
                </c:pt>
                <c:pt idx="11">
                  <c:v>7.2</c:v>
                </c:pt>
                <c:pt idx="12">
                  <c:v>39.7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3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3"/>
                <c:pt idx="0">
                  <c:v>18</c:v>
                </c:pt>
                <c:pt idx="1">
                  <c:v>46.3</c:v>
                </c:pt>
                <c:pt idx="2">
                  <c:v>29.2</c:v>
                </c:pt>
                <c:pt idx="3">
                  <c:v>20.1</c:v>
                </c:pt>
                <c:pt idx="4">
                  <c:v>30</c:v>
                </c:pt>
                <c:pt idx="5">
                  <c:v>39.5</c:v>
                </c:pt>
                <c:pt idx="6">
                  <c:v>7.3</c:v>
                </c:pt>
                <c:pt idx="7">
                  <c:v>67</c:v>
                </c:pt>
                <c:pt idx="8">
                  <c:v>15.8</c:v>
                </c:pt>
                <c:pt idx="9">
                  <c:v>11.7</c:v>
                </c:pt>
                <c:pt idx="10">
                  <c:v>40.9</c:v>
                </c:pt>
                <c:pt idx="11">
                  <c:v>6.3</c:v>
                </c:pt>
                <c:pt idx="12">
                  <c:v>13.51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批核APE(万)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Mark</c:v>
                </c:pt>
                <c:pt idx="2">
                  <c:v>战略合作</c:v>
                </c:pt>
                <c:pt idx="3">
                  <c:v>高瑶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53.6</c:v>
                </c:pt>
                <c:pt idx="1">
                  <c:v>42.86</c:v>
                </c:pt>
                <c:pt idx="2">
                  <c:v>23.5</c:v>
                </c:pt>
                <c:pt idx="3">
                  <c:v>9.36</c:v>
                </c:pt>
                <c:pt idx="4">
                  <c:v>5.58</c:v>
                </c:pt>
                <c:pt idx="5">
                  <c:v>1.88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未批核APE(万)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750" b="0" i="0" u="none" strike="noStrike" kern="1200" baseline="0">
                        <a:solidFill>
                          <a:schemeClr val="tx1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lang="en-US" altLang="zh-CN">
                        <a:solidFill>
                          <a:schemeClr val="tx1"/>
                        </a:solidFill>
                      </a:rPr>
                      <a:t>32.2</a:t>
                    </a:r>
                    <a:r>
                      <a:rPr>
                        <a:solidFill>
                          <a:schemeClr val="tx1"/>
                        </a:solidFill>
                      </a:rPr>
                      <a:t>.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Mark</c:v>
                </c:pt>
                <c:pt idx="2">
                  <c:v>战略合作</c:v>
                </c:pt>
                <c:pt idx="3">
                  <c:v>高瑶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32.2</c:v>
                </c:pt>
                <c:pt idx="1">
                  <c:v>14.52</c:v>
                </c:pt>
                <c:pt idx="2">
                  <c:v>6.82</c:v>
                </c:pt>
                <c:pt idx="3">
                  <c:v>8.93</c:v>
                </c:pt>
                <c:pt idx="4">
                  <c:v>1.93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待签APE(万)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Mark</c:v>
                </c:pt>
                <c:pt idx="2">
                  <c:v>战略合作</c:v>
                </c:pt>
                <c:pt idx="3">
                  <c:v>高瑶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</c:v>
                </c:pt>
                <c:pt idx="1">
                  <c:v>0</c:v>
                </c:pt>
                <c:pt idx="2">
                  <c:v>0</c:v>
                </c:pt>
                <c:pt idx="3">
                  <c:v>1.36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批核APE(万)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EGA</c:v>
                </c:pt>
                <c:pt idx="1">
                  <c:v>唯思</c:v>
                </c:pt>
                <c:pt idx="2">
                  <c:v>紫荆保险</c:v>
                </c:pt>
                <c:pt idx="3">
                  <c:v>堡盛国际</c:v>
                </c:pt>
                <c:pt idx="4">
                  <c:v>宏鑫资产</c:v>
                </c:pt>
                <c:pt idx="5">
                  <c:v>企鹅保险</c:v>
                </c:pt>
                <c:pt idx="6">
                  <c:v>万森保险</c:v>
                </c:pt>
                <c:pt idx="7">
                  <c:v>天誉国际</c:v>
                </c:pt>
                <c:pt idx="8">
                  <c:v>中天家办</c:v>
                </c:pt>
                <c:pt idx="9">
                  <c:v>晋誉财富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2724</c:v>
                </c:pt>
                <c:pt idx="1">
                  <c:v>2124</c:v>
                </c:pt>
                <c:pt idx="2">
                  <c:v>1766</c:v>
                </c:pt>
                <c:pt idx="3">
                  <c:v>1688</c:v>
                </c:pt>
                <c:pt idx="4">
                  <c:v>1248</c:v>
                </c:pt>
                <c:pt idx="5">
                  <c:v>862</c:v>
                </c:pt>
                <c:pt idx="6">
                  <c:v>797</c:v>
                </c:pt>
                <c:pt idx="7">
                  <c:v>216</c:v>
                </c:pt>
                <c:pt idx="8">
                  <c:v>201</c:v>
                </c:pt>
                <c:pt idx="9">
                  <c:v>188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未批核APE(万)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EGA</c:v>
                </c:pt>
                <c:pt idx="1">
                  <c:v>唯思</c:v>
                </c:pt>
                <c:pt idx="2">
                  <c:v>紫荆保险</c:v>
                </c:pt>
                <c:pt idx="3">
                  <c:v>堡盛国际</c:v>
                </c:pt>
                <c:pt idx="4">
                  <c:v>宏鑫资产</c:v>
                </c:pt>
                <c:pt idx="5">
                  <c:v>企鹅保险</c:v>
                </c:pt>
                <c:pt idx="6">
                  <c:v>万森保险</c:v>
                </c:pt>
                <c:pt idx="7">
                  <c:v>天誉国际</c:v>
                </c:pt>
                <c:pt idx="8">
                  <c:v>中天家办</c:v>
                </c:pt>
                <c:pt idx="9">
                  <c:v>晋誉财富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234</c:v>
                </c:pt>
                <c:pt idx="1">
                  <c:v>816</c:v>
                </c:pt>
                <c:pt idx="2">
                  <c:v>1045</c:v>
                </c:pt>
                <c:pt idx="3">
                  <c:v>569</c:v>
                </c:pt>
                <c:pt idx="5">
                  <c:v>487</c:v>
                </c:pt>
                <c:pt idx="6">
                  <c:v>1031</c:v>
                </c:pt>
                <c:pt idx="7">
                  <c:v>598</c:v>
                </c:pt>
                <c:pt idx="8">
                  <c:v>119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待签APE(万)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EGA</c:v>
                </c:pt>
                <c:pt idx="1">
                  <c:v>唯思</c:v>
                </c:pt>
                <c:pt idx="2">
                  <c:v>紫荆保险</c:v>
                </c:pt>
                <c:pt idx="3">
                  <c:v>堡盛国际</c:v>
                </c:pt>
                <c:pt idx="4">
                  <c:v>宏鑫资产</c:v>
                </c:pt>
                <c:pt idx="5">
                  <c:v>企鹅保险</c:v>
                </c:pt>
                <c:pt idx="6">
                  <c:v>万森保险</c:v>
                </c:pt>
                <c:pt idx="7">
                  <c:v>天誉国际</c:v>
                </c:pt>
                <c:pt idx="8">
                  <c:v>中天家办</c:v>
                </c:pt>
                <c:pt idx="9">
                  <c:v>晋誉财富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48</c:v>
                </c:pt>
                <c:pt idx="1">
                  <c:v>56</c:v>
                </c:pt>
                <c:pt idx="2">
                  <c:v>95</c:v>
                </c:pt>
                <c:pt idx="3">
                  <c:v>68</c:v>
                </c:pt>
                <c:pt idx="5">
                  <c:v>124</c:v>
                </c:pt>
                <c:pt idx="7">
                  <c:v>144</c:v>
                </c:pt>
                <c:pt idx="8">
                  <c:v>12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3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3"/>
                <c:pt idx="0">
                  <c:v>3.15</c:v>
                </c:pt>
                <c:pt idx="1">
                  <c:v>6.39</c:v>
                </c:pt>
                <c:pt idx="2">
                  <c:v>9.86</c:v>
                </c:pt>
                <c:pt idx="3">
                  <c:v>5.58</c:v>
                </c:pt>
                <c:pt idx="4">
                  <c:v>6.97</c:v>
                </c:pt>
                <c:pt idx="5">
                  <c:v>9.18</c:v>
                </c:pt>
                <c:pt idx="6">
                  <c:v>2.11</c:v>
                </c:pt>
                <c:pt idx="7">
                  <c:v>6.38</c:v>
                </c:pt>
                <c:pt idx="8">
                  <c:v>3.39</c:v>
                </c:pt>
                <c:pt idx="9">
                  <c:v>12.3</c:v>
                </c:pt>
                <c:pt idx="10">
                  <c:v>11.16</c:v>
                </c:pt>
                <c:pt idx="11">
                  <c:v>15.27</c:v>
                </c:pt>
                <c:pt idx="12">
                  <c:v>3.58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3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3"/>
                <c:pt idx="0">
                  <c:v>1.17</c:v>
                </c:pt>
                <c:pt idx="1">
                  <c:v>3.68</c:v>
                </c:pt>
                <c:pt idx="2">
                  <c:v>6.9</c:v>
                </c:pt>
                <c:pt idx="3">
                  <c:v>6.23</c:v>
                </c:pt>
                <c:pt idx="4">
                  <c:v>12.16</c:v>
                </c:pt>
                <c:pt idx="5">
                  <c:v>5.88</c:v>
                </c:pt>
                <c:pt idx="6">
                  <c:v>3.82</c:v>
                </c:pt>
                <c:pt idx="7">
                  <c:v>4.09</c:v>
                </c:pt>
                <c:pt idx="8">
                  <c:v>2.65</c:v>
                </c:pt>
                <c:pt idx="9">
                  <c:v>8.54</c:v>
                </c:pt>
                <c:pt idx="10">
                  <c:v>10.94</c:v>
                </c:pt>
                <c:pt idx="11">
                  <c:v>20.39</c:v>
                </c:pt>
                <c:pt idx="12">
                  <c:v>7.55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3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3"/>
                <c:pt idx="0">
                  <c:v>13.66</c:v>
                </c:pt>
                <c:pt idx="1">
                  <c:v>40.4</c:v>
                </c:pt>
                <c:pt idx="2">
                  <c:v>17.31</c:v>
                </c:pt>
                <c:pt idx="3">
                  <c:v>16.39</c:v>
                </c:pt>
                <c:pt idx="4">
                  <c:v>8.47</c:v>
                </c:pt>
                <c:pt idx="5">
                  <c:v>5.19</c:v>
                </c:pt>
                <c:pt idx="6">
                  <c:v>5.3</c:v>
                </c:pt>
                <c:pt idx="7">
                  <c:v>7.02</c:v>
                </c:pt>
                <c:pt idx="8">
                  <c:v>3.17</c:v>
                </c:pt>
                <c:pt idx="9">
                  <c:v>4.99</c:v>
                </c:pt>
                <c:pt idx="10">
                  <c:v>2.85</c:v>
                </c:pt>
                <c:pt idx="11">
                  <c:v>2.01</c:v>
                </c:pt>
                <c:pt idx="12">
                  <c:v>10.05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2861522057844"/>
          <c:y val="0.101338432122371"/>
          <c:w val="0.919392243102759"/>
          <c:h val="0.52399617590822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922B21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6.86M/11件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3.9M/6件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10.53M/19件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-0.0365187258429961"/>
                  <c:y val="-0.0458891013384321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6.86</c:v>
                </c:pt>
                <c:pt idx="1">
                  <c:v>3.9</c:v>
                </c:pt>
                <c:pt idx="2">
                  <c:v>10.53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E8A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7.39M/7件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4.29M/3件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453518592562976"/>
                  <c:y val="-0.0564053537284895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7.39</c:v>
                </c:pt>
                <c:pt idx="1">
                  <c:v>3.46</c:v>
                </c:pt>
                <c:pt idx="2">
                  <c:v>4.29</c:v>
                </c:pt>
                <c:pt idx="3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97005763-4f22-4efc-bf15-1e3cf181811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4644911060586"/>
          <c:y val="0.0476398601398601"/>
          <c:w val="0.919111943292764"/>
          <c:h val="0.7304195804195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6.24M/10件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4.91M/8件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8.19M/14件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3.51M/6件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6.24</c:v>
                </c:pt>
                <c:pt idx="1">
                  <c:v>4.91</c:v>
                </c:pt>
                <c:pt idx="2">
                  <c:v>8.19</c:v>
                </c:pt>
                <c:pt idx="3">
                  <c:v>3.51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F5D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11.29M/7件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5.07M/4件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0.78M/1件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11.29</c:v>
                </c:pt>
                <c:pt idx="1">
                  <c:v>3.46</c:v>
                </c:pt>
                <c:pt idx="2">
                  <c:v>5.07</c:v>
                </c:pt>
                <c:pt idx="3">
                  <c:v>0.78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991f72a-4d5a-403a-a640-30fd215da8a0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600"/>
      </a:pPr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12.8M/23件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84.79M/61件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44.52M/37件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1.79M/3件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12.8</c:v>
                </c:pt>
                <c:pt idx="1">
                  <c:v>84.79</c:v>
                </c:pt>
                <c:pt idx="2">
                  <c:v>44.52</c:v>
                </c:pt>
                <c:pt idx="3">
                  <c:v>1.79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82C89A"/>
            </a:solidFill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9.15M/6件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14.18M/5件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0199893390191898"/>
                  <c:y val="-0.091004277695757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0.78M/1件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5.46</c:v>
                </c:pt>
                <c:pt idx="1">
                  <c:v>9.15</c:v>
                </c:pt>
                <c:pt idx="2">
                  <c:v>14.18</c:v>
                </c:pt>
                <c:pt idx="3">
                  <c:v>0.78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f6b1759-8741-4a5a-8d20-0511a974491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80619488062"/>
          <c:y val="0.05"/>
          <c:w val="0.837631748763175"/>
          <c:h val="0.65935064935064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Sheet1!$B$2:$B$3</c:f>
              <c:numCache>
                <c:formatCode>0.00_ </c:formatCode>
                <c:ptCount val="2"/>
                <c:pt idx="0">
                  <c:v>142.1082</c:v>
                </c:pt>
                <c:pt idx="1" c:formatCode="_ * #,##0.00_ ;_ * \-#,##0.00_ ;_ * &quot;-&quot;??.00_ ;_ @_ ">
                  <c:v>28.79136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Sheet1!$C$2:$C$3</c:f>
              <c:numCache>
                <c:formatCode>0.00_ </c:formatCode>
                <c:ptCount val="2"/>
                <c:pt idx="0">
                  <c:v>63.54924342</c:v>
                </c:pt>
                <c:pt idx="1" c:formatCode="_ * #,##0.00_ ;_ * \-#,##0.00_ ;_ * &quot;-&quot;??.00_ ;_ @_ ">
                  <c:v>17.94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Sheet1!$D$2:$D$3</c:f>
              <c:numCache>
                <c:formatCode>0.00_ </c:formatCode>
                <c:ptCount val="2"/>
                <c:pt idx="0">
                  <c:v>0.78</c:v>
                </c:pt>
                <c:pt idx="1" c:formatCode="General">
                  <c:v>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322614801604993"/>
          <c:y val="0.876466275659824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Lbls>
            <c:dLbl>
              <c:idx val="0"/>
              <c:layout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1200" b="0" i="0" u="none" strike="noStrike" kern="1200" baseline="0">
                      <a:solidFill>
                        <a:srgbClr val="000000"/>
                      </a:solid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1200" b="0" i="0" u="none" strike="noStrike" kern="1200" baseline="0">
                      <a:solidFill>
                        <a:srgbClr val="000000"/>
                      </a:solid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已批核</c:v>
                </c:pt>
                <c:pt idx="1">
                  <c:v>目标剩余</c:v>
                </c:pt>
              </c:strCache>
            </c:strRef>
          </c:cat>
          <c:val>
            <c:numRef>
              <c:f>Sheet1!$B$2:$B$3</c:f>
              <c:numCache>
                <c:formatCode>_ * #,##0_ ;_ * \-#,##0_ ;_ * "-"??_ ;_ @_ </c:formatCode>
                <c:ptCount val="2"/>
                <c:pt idx="0">
                  <c:v>170.9</c:v>
                </c:pt>
                <c:pt idx="1">
                  <c:v>29.1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银行预约(M)</c:v>
                </c:pt>
              </c:strCache>
            </c:strRef>
          </c:tx>
          <c:spPr>
            <a:ln w="25400" cap="flat" cmpd="sng" algn="ctr">
              <a:solidFill>
                <a:srgbClr val="9B233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B2335"/>
              </a:solidFill>
              <a:ln w="9525" cap="flat" cmpd="sng" algn="ctr">
                <a:solidFill>
                  <a:srgbClr val="9B2335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3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3"/>
                <c:pt idx="0">
                  <c:v>2.34</c:v>
                </c:pt>
                <c:pt idx="1">
                  <c:v>4.08</c:v>
                </c:pt>
                <c:pt idx="2">
                  <c:v>6.03</c:v>
                </c:pt>
                <c:pt idx="3">
                  <c:v>1.79</c:v>
                </c:pt>
                <c:pt idx="4">
                  <c:v>4.29</c:v>
                </c:pt>
                <c:pt idx="5">
                  <c:v>3.07</c:v>
                </c:pt>
                <c:pt idx="6">
                  <c:v>0</c:v>
                </c:pt>
                <c:pt idx="7">
                  <c:v>0</c:v>
                </c:pt>
                <c:pt idx="8">
                  <c:v>2.34</c:v>
                </c:pt>
                <c:pt idx="9">
                  <c:v>6.24</c:v>
                </c:pt>
                <c:pt idx="10">
                  <c:v>4.29</c:v>
                </c:pt>
                <c:pt idx="11">
                  <c:v>1.95</c:v>
                </c:pt>
                <c:pt idx="12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银行签单(M)</c:v>
                </c:pt>
              </c:strCache>
            </c:strRef>
          </c:tx>
          <c:spPr>
            <a:ln w="25400" cap="flat" cmpd="sng" algn="ctr">
              <a:solidFill>
                <a:srgbClr val="6B273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B2737"/>
              </a:solidFill>
              <a:ln w="9525" cap="flat" cmpd="sng" algn="ctr">
                <a:solidFill>
                  <a:srgbClr val="6B2737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3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3"/>
                <c:pt idx="0">
                  <c:v>0.78</c:v>
                </c:pt>
                <c:pt idx="1">
                  <c:v>3.69</c:v>
                </c:pt>
                <c:pt idx="2">
                  <c:v>5.64</c:v>
                </c:pt>
                <c:pt idx="3">
                  <c:v>2.73</c:v>
                </c:pt>
                <c:pt idx="4">
                  <c:v>2.18</c:v>
                </c:pt>
                <c:pt idx="5">
                  <c:v>5.8</c:v>
                </c:pt>
                <c:pt idx="6">
                  <c:v>0.39</c:v>
                </c:pt>
                <c:pt idx="7">
                  <c:v>0</c:v>
                </c:pt>
                <c:pt idx="8">
                  <c:v>1.95</c:v>
                </c:pt>
                <c:pt idx="9">
                  <c:v>1.95</c:v>
                </c:pt>
                <c:pt idx="10">
                  <c:v>5.46</c:v>
                </c:pt>
                <c:pt idx="11">
                  <c:v>2.73</c:v>
                </c:pt>
                <c:pt idx="12">
                  <c:v>3.51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银行批核(M)</c:v>
                </c:pt>
              </c:strCache>
            </c:strRef>
          </c:tx>
          <c:spPr>
            <a:ln w="25400" cap="flat" cmpd="sng" algn="ctr">
              <a:solidFill>
                <a:srgbClr val="6C348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C3483"/>
              </a:solidFill>
              <a:ln w="9525" cap="flat" cmpd="sng" algn="ctr">
                <a:solidFill>
                  <a:srgbClr val="6C3483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3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3"/>
                <c:pt idx="0">
                  <c:v>1.95</c:v>
                </c:pt>
                <c:pt idx="1">
                  <c:v>3.36</c:v>
                </c:pt>
                <c:pt idx="2">
                  <c:v>8.03</c:v>
                </c:pt>
                <c:pt idx="3">
                  <c:v>1.79</c:v>
                </c:pt>
                <c:pt idx="4">
                  <c:v>17.16</c:v>
                </c:pt>
                <c:pt idx="5">
                  <c:v>27.95</c:v>
                </c:pt>
                <c:pt idx="6">
                  <c:v>1.95</c:v>
                </c:pt>
                <c:pt idx="7">
                  <c:v>46.88</c:v>
                </c:pt>
                <c:pt idx="8">
                  <c:v>10.42</c:v>
                </c:pt>
                <c:pt idx="9">
                  <c:v>4.68</c:v>
                </c:pt>
                <c:pt idx="10">
                  <c:v>35.96</c:v>
                </c:pt>
                <c:pt idx="11">
                  <c:v>5.85</c:v>
                </c:pt>
                <c:pt idx="12">
                  <c:v>1.79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8d0edca-b3ca-4875-b8a4-188427696a7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批核APE(万)</c:v>
                </c:pt>
              </c:strCache>
            </c:strRef>
          </c:tx>
          <c:spPr>
            <a:solidFill>
              <a:srgbClr val="6B2737"/>
            </a:solidFill>
            <a:ln>
              <a:noFill/>
            </a:ln>
            <a:effectLst/>
            <a:sp3d>
              <a:extrusionClr>
                <a:srgbClr val="FFFFFF"/>
              </a:extrusionClr>
              <a:contourClr>
                <a:srgbClr val="FFFFFF"/>
              </a:contourClr>
            </a:sp3d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cap="none" spc="0" normalizeH="0" baseline="0">
                    <a:solidFill>
                      <a:schemeClr val="bg1"/>
                    </a:solidFill>
                    <a:uFill>
                      <a:solidFill>
                        <a:schemeClr val="tx1"/>
                      </a:solidFill>
                    </a:u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Sheet1!$A$2:$A$18</c:f>
              <c:strCache>
                <c:ptCount val="17"/>
                <c:pt idx="0">
                  <c:v>民生广州</c:v>
                </c:pt>
                <c:pt idx="1">
                  <c:v>平安香港</c:v>
                </c:pt>
                <c:pt idx="2">
                  <c:v>民生上海</c:v>
                </c:pt>
                <c:pt idx="3">
                  <c:v>民生南京</c:v>
                </c:pt>
                <c:pt idx="4">
                  <c:v>民生深圳</c:v>
                </c:pt>
                <c:pt idx="5">
                  <c:v>民生北京</c:v>
                </c:pt>
                <c:pt idx="6">
                  <c:v>民生杭州</c:v>
                </c:pt>
                <c:pt idx="7">
                  <c:v>民生重庆</c:v>
                </c:pt>
                <c:pt idx="8">
                  <c:v>民生嘉兴</c:v>
                </c:pt>
                <c:pt idx="9">
                  <c:v>民生温州</c:v>
                </c:pt>
                <c:pt idx="10">
                  <c:v>民生香港</c:v>
                </c:pt>
                <c:pt idx="11">
                  <c:v>民生贵阳</c:v>
                </c:pt>
                <c:pt idx="12">
                  <c:v>民生合肥</c:v>
                </c:pt>
                <c:pt idx="13">
                  <c:v>民生泉州</c:v>
                </c:pt>
                <c:pt idx="14">
                  <c:v>民生厦门</c:v>
                </c:pt>
                <c:pt idx="15">
                  <c:v>民生沈阳</c:v>
                </c:pt>
                <c:pt idx="16">
                  <c:v>民生武汉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29.25</c:v>
                </c:pt>
                <c:pt idx="1">
                  <c:v>28.79136</c:v>
                </c:pt>
                <c:pt idx="2">
                  <c:v>26.4108</c:v>
                </c:pt>
                <c:pt idx="3">
                  <c:v>21.801</c:v>
                </c:pt>
                <c:pt idx="4">
                  <c:v>18.72</c:v>
                </c:pt>
                <c:pt idx="5">
                  <c:v>15.5844</c:v>
                </c:pt>
                <c:pt idx="6">
                  <c:v>7.02</c:v>
                </c:pt>
                <c:pt idx="7">
                  <c:v>5.46</c:v>
                </c:pt>
                <c:pt idx="8">
                  <c:v>3.12</c:v>
                </c:pt>
                <c:pt idx="9">
                  <c:v>2.808</c:v>
                </c:pt>
                <c:pt idx="10">
                  <c:v>2.184</c:v>
                </c:pt>
                <c:pt idx="11">
                  <c:v>1.95</c:v>
                </c:pt>
                <c:pt idx="12">
                  <c:v>1.56</c:v>
                </c:pt>
                <c:pt idx="13">
                  <c:v>1.56</c:v>
                </c:pt>
                <c:pt idx="14">
                  <c:v>1.56</c:v>
                </c:pt>
                <c:pt idx="15">
                  <c:v>1.56</c:v>
                </c:pt>
                <c:pt idx="16">
                  <c:v>1.56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0" spcFirstLastPara="0" vertOverflow="ellipsis" vert="wordArtVertRtl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Reversed" id="22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tags" Target="../tags/tag1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tags" Target="../tags/tag2.xml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tags" Target="../tags/tag3.xml"/><Relationship Id="rId12" Type="http://schemas.openxmlformats.org/officeDocument/2006/relationships/image" Target="../media/image5.svg"/><Relationship Id="rId13" Type="http://schemas.openxmlformats.org/officeDocument/2006/relationships/tags" Target="../tags/tag4.xml"/><Relationship Id="rId14" Type="http://schemas.openxmlformats.org/officeDocument/2006/relationships/image" Target="../media/image6.png"/><Relationship Id="rId15" Type="http://schemas.openxmlformats.org/officeDocument/2006/relationships/image" Target="../media/image7.svg"/><Relationship Id="rId16" Type="http://schemas.openxmlformats.org/officeDocument/2006/relationships/tags" Target="../tags/tag5.xml"/><Relationship Id="rId17" Type="http://schemas.openxmlformats.org/officeDocument/2006/relationships/image" Target="../media/image8.svg"/><Relationship Id="rId18" Type="http://schemas.openxmlformats.org/officeDocument/2006/relationships/tags" Target="../tags/tag6.xml"/><Relationship Id="rId19" Type="http://schemas.openxmlformats.org/officeDocument/2006/relationships/image" Target="../media/image9.svg"/><Relationship Id="rId20" Type="http://schemas.openxmlformats.org/officeDocument/2006/relationships/tags" Target="../tags/tag7.xml"/><Relationship Id="rId21" Type="http://schemas.openxmlformats.org/officeDocument/2006/relationships/image" Target="../media/image10.png"/><Relationship Id="rId22" Type="http://schemas.openxmlformats.org/officeDocument/2006/relationships/tags" Target="../tags/tag8.xml"/><Relationship Id="rId23" Type="http://schemas.openxmlformats.org/officeDocument/2006/relationships/image" Target="../media/image11.png"/><Relationship Id="rId24" Type="http://schemas.openxmlformats.org/officeDocument/2006/relationships/tags" Target="../tags/tag9.xml"/><Relationship Id="rId25" Type="http://schemas.openxmlformats.org/officeDocument/2006/relationships/image" Target="../media/image12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chart" Target="../charts/chart1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tags" Target="../tags/tag27.xml"/><Relationship Id="rId21" Type="http://schemas.openxmlformats.org/officeDocument/2006/relationships/tags" Target="../tags/tag28.xml"/><Relationship Id="rId22" Type="http://schemas.openxmlformats.org/officeDocument/2006/relationships/tags" Target="../tags/tag29.xml"/><Relationship Id="rId23" Type="http://schemas.openxmlformats.org/officeDocument/2006/relationships/tags" Target="../tags/tag30.xml"/><Relationship Id="rId24" Type="http://schemas.openxmlformats.org/officeDocument/2006/relationships/tags" Target="../tags/tag31.xml"/><Relationship Id="rId25" Type="http://schemas.openxmlformats.org/officeDocument/2006/relationships/tags" Target="../tags/tag32.xml"/><Relationship Id="rId26" Type="http://schemas.openxmlformats.org/officeDocument/2006/relationships/tags" Target="../tags/tag33.xml"/><Relationship Id="rId27" Type="http://schemas.openxmlformats.org/officeDocument/2006/relationships/tags" Target="../tags/tag34.xml"/><Relationship Id="rId28" Type="http://schemas.openxmlformats.org/officeDocument/2006/relationships/tags" Target="../tags/tag35.xml"/><Relationship Id="rId29" Type="http://schemas.openxmlformats.org/officeDocument/2006/relationships/tags" Target="../tags/tag36.xml"/><Relationship Id="rId30" Type="http://schemas.openxmlformats.org/officeDocument/2006/relationships/tags" Target="../tags/tag37.xml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Relationship Id="rId10" Type="http://schemas.openxmlformats.org/officeDocument/2006/relationships/tags" Target="../tags/tag46.xml"/><Relationship Id="rId11" Type="http://schemas.openxmlformats.org/officeDocument/2006/relationships/tags" Target="../tags/tag47.xml"/><Relationship Id="rId12" Type="http://schemas.openxmlformats.org/officeDocument/2006/relationships/tags" Target="../tags/tag48.xml"/><Relationship Id="rId13" Type="http://schemas.openxmlformats.org/officeDocument/2006/relationships/tags" Target="../tags/tag49.xml"/><Relationship Id="rId14" Type="http://schemas.openxmlformats.org/officeDocument/2006/relationships/tags" Target="../tags/tag50.xml"/><Relationship Id="rId15" Type="http://schemas.openxmlformats.org/officeDocument/2006/relationships/tags" Target="../tags/tag51.xml"/><Relationship Id="rId16" Type="http://schemas.openxmlformats.org/officeDocument/2006/relationships/tags" Target="../tags/tag52.xml"/><Relationship Id="rId17" Type="http://schemas.openxmlformats.org/officeDocument/2006/relationships/tags" Target="../tags/tag53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21.xml"/><Relationship Id="rId2" Type="http://schemas.openxmlformats.org/officeDocument/2006/relationships/chart" Target="../charts/chart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Relationship Id="rId5" Type="http://schemas.openxmlformats.org/officeDocument/2006/relationships/chart" Target="../charts/chart25.xml"/><Relationship Id="rId6" Type="http://schemas.openxmlformats.org/officeDocument/2006/relationships/tags" Target="../tags/tag54.xml"/><Relationship Id="rId7" Type="http://schemas.openxmlformats.org/officeDocument/2006/relationships/tags" Target="../tags/tag55.xml"/><Relationship Id="rId8" Type="http://schemas.openxmlformats.org/officeDocument/2006/relationships/tags" Target="../tags/tag56.xml"/><Relationship Id="rId9" Type="http://schemas.openxmlformats.org/officeDocument/2006/relationships/tags" Target="../tags/tag57.xml"/><Relationship Id="rId10" Type="http://schemas.openxmlformats.org/officeDocument/2006/relationships/tags" Target="../tags/tag58.xml"/><Relationship Id="rId11" Type="http://schemas.openxmlformats.org/officeDocument/2006/relationships/tags" Target="../tags/tag59.xml"/><Relationship Id="rId12" Type="http://schemas.openxmlformats.org/officeDocument/2006/relationships/tags" Target="../tags/tag60.xml"/><Relationship Id="rId13" Type="http://schemas.openxmlformats.org/officeDocument/2006/relationships/tags" Target="../tags/tag61.xml"/><Relationship Id="rId14" Type="http://schemas.openxmlformats.org/officeDocument/2006/relationships/tags" Target="../tags/tag62.xml"/><Relationship Id="rId15" Type="http://schemas.openxmlformats.org/officeDocument/2006/relationships/tags" Target="../tags/tag63.xml"/><Relationship Id="rId16" Type="http://schemas.openxmlformats.org/officeDocument/2006/relationships/tags" Target="../tags/tag64.xml"/><Relationship Id="rId17" Type="http://schemas.openxmlformats.org/officeDocument/2006/relationships/tags" Target="../tags/tag65.xml"/><Relationship Id="rId18" Type="http://schemas.openxmlformats.org/officeDocument/2006/relationships/tags" Target="../tags/tag66.xml"/><Relationship Id="rId19" Type="http://schemas.openxmlformats.org/officeDocument/2006/relationships/tags" Target="../tags/tag67.xml"/><Relationship Id="rId20" Type="http://schemas.openxmlformats.org/officeDocument/2006/relationships/tags" Target="../tags/tag68.xml"/><Relationship Id="rId21" Type="http://schemas.openxmlformats.org/officeDocument/2006/relationships/tags" Target="../tags/tag69.xml"/><Relationship Id="rId22" Type="http://schemas.openxmlformats.org/officeDocument/2006/relationships/tags" Target="../tags/tag70.xml"/><Relationship Id="rId23" Type="http://schemas.openxmlformats.org/officeDocument/2006/relationships/tags" Target="../tags/tag71.xml"/><Relationship Id="rId24" Type="http://schemas.openxmlformats.org/officeDocument/2006/relationships/tags" Target="../tags/tag72.xml"/><Relationship Id="rId25" Type="http://schemas.openxmlformats.org/officeDocument/2006/relationships/tags" Target="../tags/tag73.xml"/><Relationship Id="rId26" Type="http://schemas.openxmlformats.org/officeDocument/2006/relationships/tags" Target="../tags/tag74.xml"/><Relationship Id="rId27" Type="http://schemas.openxmlformats.org/officeDocument/2006/relationships/tags" Target="../tags/tag75.xml"/><Relationship Id="rId28" Type="http://schemas.openxmlformats.org/officeDocument/2006/relationships/tags" Target="../tags/tag76.xml"/><Relationship Id="rId29" Type="http://schemas.openxmlformats.org/officeDocument/2006/relationships/tags" Target="../tags/tag77.xml"/><Relationship Id="rId30" Type="http://schemas.openxmlformats.org/officeDocument/2006/relationships/tags" Target="../tags/tag78.xml"/><Relationship Id="rId31" Type="http://schemas.openxmlformats.org/officeDocument/2006/relationships/tags" Target="../tags/tag79.xml"/><Relationship Id="rId32" Type="http://schemas.openxmlformats.org/officeDocument/2006/relationships/tags" Target="../tags/tag80.xml"/><Relationship Id="rId33" Type="http://schemas.openxmlformats.org/officeDocument/2006/relationships/tags" Target="../tags/tag81.xml"/><Relationship Id="rId34" Type="http://schemas.openxmlformats.org/officeDocument/2006/relationships/tags" Target="../tags/tag82.xml"/><Relationship Id="rId35" Type="http://schemas.openxmlformats.org/officeDocument/2006/relationships/tags" Target="../tags/tag83.xml"/><Relationship Id="rId36" Type="http://schemas.openxmlformats.org/officeDocument/2006/relationships/tags" Target="../tags/tag84.xml"/><Relationship Id="rId37" Type="http://schemas.openxmlformats.org/officeDocument/2006/relationships/tags" Target="../tags/tag85.xml"/><Relationship Id="rId38" Type="http://schemas.openxmlformats.org/officeDocument/2006/relationships/tags" Target="../tags/tag86.xml"/><Relationship Id="rId39" Type="http://schemas.openxmlformats.org/officeDocument/2006/relationships/tags" Target="../tags/tag87.xml"/><Relationship Id="rId40" Type="http://schemas.openxmlformats.org/officeDocument/2006/relationships/slideLayout" Target="../slideLayouts/slideLayout1.xml"/><Relationship Id="rId41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6.xml"/><Relationship Id="rId2" Type="http://schemas.openxmlformats.org/officeDocument/2006/relationships/chart" Target="../charts/chart27.xml"/><Relationship Id="rId3" Type="http://schemas.openxmlformats.org/officeDocument/2006/relationships/tags" Target="../tags/tag88.xml"/><Relationship Id="rId4" Type="http://schemas.openxmlformats.org/officeDocument/2006/relationships/tags" Target="../tags/tag89.xml"/><Relationship Id="rId5" Type="http://schemas.openxmlformats.org/officeDocument/2006/relationships/tags" Target="../tags/tag90.xml"/><Relationship Id="rId6" Type="http://schemas.openxmlformats.org/officeDocument/2006/relationships/tags" Target="../tags/tag91.xml"/><Relationship Id="rId7" Type="http://schemas.openxmlformats.org/officeDocument/2006/relationships/tags" Target="../tags/tag92.xml"/><Relationship Id="rId8" Type="http://schemas.openxmlformats.org/officeDocument/2006/relationships/tags" Target="../tags/tag93.xml"/><Relationship Id="rId9" Type="http://schemas.openxmlformats.org/officeDocument/2006/relationships/tags" Target="../tags/tag94.xml"/><Relationship Id="rId10" Type="http://schemas.openxmlformats.org/officeDocument/2006/relationships/tags" Target="../tags/tag95.xml"/><Relationship Id="rId11" Type="http://schemas.openxmlformats.org/officeDocument/2006/relationships/tags" Target="../tags/tag96.xml"/><Relationship Id="rId12" Type="http://schemas.openxmlformats.org/officeDocument/2006/relationships/tags" Target="../tags/tag97.xml"/><Relationship Id="rId13" Type="http://schemas.openxmlformats.org/officeDocument/2006/relationships/tags" Target="../tags/tag98.xml"/><Relationship Id="rId14" Type="http://schemas.openxmlformats.org/officeDocument/2006/relationships/tags" Target="../tags/tag99.xml"/><Relationship Id="rId15" Type="http://schemas.openxmlformats.org/officeDocument/2006/relationships/tags" Target="../tags/tag100.xml"/><Relationship Id="rId16" Type="http://schemas.openxmlformats.org/officeDocument/2006/relationships/tags" Target="../tags/tag101.xml"/><Relationship Id="rId17" Type="http://schemas.openxmlformats.org/officeDocument/2006/relationships/tags" Target="../tags/tag102.xml"/><Relationship Id="rId18" Type="http://schemas.openxmlformats.org/officeDocument/2006/relationships/tags" Target="../tags/tag103.xml"/><Relationship Id="rId19" Type="http://schemas.openxmlformats.org/officeDocument/2006/relationships/tags" Target="../tags/tag104.xml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生成日期：2026-04-04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55.6%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619M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1,205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-494M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55.6%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619M / 剩余缺口 494M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53.5%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523M / 剩余缺口453M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APE 达 354.5M（含4月初4.1M），达成率 31.8%，全年目标 1,113M 缺口约 758M。3 月预约件数环比 +86.0%（199 件），4 月初已预约6件/0.8M，前端动能持续，Q2 转化批核可期。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618.9M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1,205 件  |  占比 77.7%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123.7M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260 件  |  占比 15.5%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20.0M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55 件  |  占比 2.5%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34.2M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97 件  |  占比 4.3%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未批核（167.9M，242 件）与待签（3.9M，12 件）合计 171.8M 在管道中，占批核 APE 的 49%。未批核融资占比 16.7% 为最大风险敞口，若能快速推进至生效，可直接拉升达成率逾 15 个百分点。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经代业务批核 307.7M 占全渠道 87.8%，是唯一业绩主力；未批核 145.9M 融资率较高，是最大转化机会。代理人（批核 25.9M）与 KA（批核 16.9M）体量极小，需明确各渠道扩量优先级</a:t>
            </a: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6557825" y="3977640"/>
            <a:ext cx="1324303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6557825" y="3995928"/>
            <a:ext cx="1324303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2" name="Text 88"/>
          <p:cNvSpPr/>
          <p:nvPr/>
        </p:nvSpPr>
        <p:spPr>
          <a:xfrm>
            <a:off x="8487918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750" b="1">
                <a:solidFill>
                  <a:srgbClr val="FFFFFF"/>
                </a:solidFill>
                <a:latin typeface="Calibri"/>
              </a:rPr>
              <a:t>26-Jan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9054846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750" b="1">
                <a:solidFill>
                  <a:srgbClr val="FFFFFF"/>
                </a:solidFill>
                <a:latin typeface="Calibri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62177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750" b="1">
                <a:solidFill>
                  <a:srgbClr val="FFFFFF"/>
                </a:solidFill>
                <a:latin typeface="Calibri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8" name="Text 94"/>
          <p:cNvSpPr/>
          <p:nvPr/>
        </p:nvSpPr>
        <p:spPr>
          <a:xfrm>
            <a:off x="8487918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1F3864"/>
                </a:solidFill>
                <a:latin typeface="Calibri"/>
              </a:rPr>
              <a:t>53.9</a:t>
            </a:r>
            <a:endParaRPr lang="en-US" sz="900" dirty="0"/>
          </a:p>
        </p:txBody>
      </p:sp>
      <p:sp>
        <p:nvSpPr>
          <p:cNvPr id="99" name="Text 95"/>
          <p:cNvSpPr/>
          <p:nvPr/>
        </p:nvSpPr>
        <p:spPr>
          <a:xfrm>
            <a:off x="9054846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1F3864"/>
                </a:solidFill>
                <a:latin typeface="Calibri"/>
              </a:rPr>
              <a:t>56.4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62177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1F3864"/>
                </a:solidFill>
                <a:latin typeface="Calibri"/>
              </a:rPr>
              <a:t>81.5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4" name="Text 100"/>
          <p:cNvSpPr/>
          <p:nvPr/>
        </p:nvSpPr>
        <p:spPr>
          <a:xfrm>
            <a:off x="8487918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374151"/>
                </a:solidFill>
                <a:latin typeface="Calibri"/>
              </a:rPr>
              <a:t>132件</a:t>
            </a:r>
            <a:endParaRPr lang="en-US" sz="900" dirty="0"/>
          </a:p>
        </p:txBody>
      </p:sp>
      <p:sp>
        <p:nvSpPr>
          <p:cNvPr id="105" name="Text 101"/>
          <p:cNvSpPr/>
          <p:nvPr/>
        </p:nvSpPr>
        <p:spPr>
          <a:xfrm>
            <a:off x="9054846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374151"/>
                </a:solidFill>
                <a:latin typeface="Calibri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62177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374151"/>
                </a:solidFill>
                <a:latin typeface="Calibri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1" name="Text 107"/>
          <p:cNvSpPr/>
          <p:nvPr/>
        </p:nvSpPr>
        <p:spPr>
          <a:xfrm>
            <a:off x="8487918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00796B"/>
                </a:solidFill>
                <a:latin typeface="Calibri"/>
              </a:rPr>
              <a:t>47.9</a:t>
            </a:r>
            <a:endParaRPr lang="en-US" sz="900" dirty="0"/>
          </a:p>
        </p:txBody>
      </p:sp>
      <p:sp>
        <p:nvSpPr>
          <p:cNvPr id="112" name="Text 108"/>
          <p:cNvSpPr/>
          <p:nvPr/>
        </p:nvSpPr>
        <p:spPr>
          <a:xfrm>
            <a:off x="9054846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00796B"/>
                </a:solidFill>
                <a:latin typeface="Calibri"/>
              </a:rPr>
              <a:t>61.1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62177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00796B"/>
                </a:solidFill>
                <a:latin typeface="Calibri"/>
              </a:rPr>
              <a:t>82.1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7" name="Text 113"/>
          <p:cNvSpPr/>
          <p:nvPr/>
        </p:nvSpPr>
        <p:spPr>
          <a:xfrm>
            <a:off x="8487918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374151"/>
                </a:solidFill>
                <a:latin typeface="Calibri"/>
              </a:rPr>
              <a:t>114件</a:t>
            </a:r>
            <a:endParaRPr lang="en-US" sz="900" dirty="0"/>
          </a:p>
        </p:txBody>
      </p:sp>
      <p:sp>
        <p:nvSpPr>
          <p:cNvPr id="118" name="Text 114"/>
          <p:cNvSpPr/>
          <p:nvPr/>
        </p:nvSpPr>
        <p:spPr>
          <a:xfrm>
            <a:off x="9054846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374151"/>
                </a:solidFill>
                <a:latin typeface="Calibri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62177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374151"/>
                </a:solidFill>
                <a:latin typeface="Calibri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4" name="Text 120"/>
          <p:cNvSpPr/>
          <p:nvPr/>
        </p:nvSpPr>
        <p:spPr>
          <a:xfrm>
            <a:off x="8487918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1A7A3F"/>
                </a:solidFill>
                <a:latin typeface="Calibri"/>
              </a:rPr>
              <a:t>116.8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9054846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1A7A3F"/>
                </a:solidFill>
                <a:latin typeface="Calibri"/>
              </a:rPr>
              <a:t>143.7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62177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1A7A3F"/>
                </a:solidFill>
                <a:latin typeface="Calibri"/>
              </a:rPr>
              <a:t>85.8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0" name="Text 126"/>
          <p:cNvSpPr/>
          <p:nvPr/>
        </p:nvSpPr>
        <p:spPr>
          <a:xfrm>
            <a:off x="8487918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374151"/>
                </a:solidFill>
                <a:latin typeface="Calibri"/>
              </a:rPr>
              <a:t>203件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9054846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374151"/>
                </a:solidFill>
                <a:latin typeface="Calibri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62177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374151"/>
                </a:solidFill>
                <a:latin typeface="Calibri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2025年具明显季节性高峰（6月/9月/11月）。2026年Q1批核存量驱动（1-2月超100M），3月预约/签单同步走强（均达80M+），前端动能复苏。4月初（W13）预约0.8M/签单3.1M/批核4.1M，节后正常启动，Q2批核可期。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4" name="Text 90"/>
          <p:cNvSpPr/>
          <p:nvPr/>
        </p:nvSpPr>
        <p:spPr>
          <a:xfrm>
            <a:off x="10188702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750" b="1">
                <a:solidFill>
                  <a:srgbClr val="FFFFFF"/>
                </a:solidFill>
                <a:latin typeface="Calibri"/>
              </a:rPr>
              <a:t>26-Apr</a:t>
            </a:r>
            <a:endParaRPr lang="en-US" sz="750" dirty="0"/>
          </a:p>
        </p:txBody>
      </p:sp>
      <p:sp>
        <p:nvSpPr>
          <p:cNvPr id="100" name="Text 96"/>
          <p:cNvSpPr/>
          <p:nvPr/>
        </p:nvSpPr>
        <p:spPr>
          <a:xfrm>
            <a:off x="10188702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1F3864"/>
                </a:solidFill>
                <a:latin typeface="Calibri"/>
              </a:rPr>
              <a:t>67.4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10188702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374151"/>
                </a:solidFill>
                <a:latin typeface="Calibri"/>
              </a:rPr>
              <a:t>173件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10188702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00796B"/>
                </a:solidFill>
                <a:latin typeface="Calibri"/>
              </a:rPr>
              <a:t>62.1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10188702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374151"/>
                </a:solidFill>
                <a:latin typeface="Calibri"/>
              </a:rPr>
              <a:t>162件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10188702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1A7A3F"/>
                </a:solidFill>
                <a:latin typeface="Calibri"/>
              </a:rPr>
              <a:t>91.2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10188702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374151"/>
                </a:solidFill>
                <a:latin typeface="Calibri"/>
              </a:rPr>
              <a:t>192件</a:t>
            </a:r>
            <a:endParaRPr lang="en-US" sz="900" dirty="0"/>
          </a:p>
        </p:txBody>
      </p:sp>
      <p:sp>
        <p:nvSpPr>
          <p:cNvPr id="94" name="Text 90"/>
          <p:cNvSpPr/>
          <p:nvPr/>
        </p:nvSpPr>
        <p:spPr>
          <a:xfrm>
            <a:off x="10755630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750" b="1">
                <a:solidFill>
                  <a:srgbClr val="FFFFFF"/>
                </a:solidFill>
                <a:latin typeface="Calibri"/>
              </a:rPr>
              <a:t>26-May</a:t>
            </a:r>
            <a:endParaRPr lang="en-US" sz="750" dirty="0"/>
          </a:p>
        </p:txBody>
      </p:sp>
      <p:sp>
        <p:nvSpPr>
          <p:cNvPr id="100" name="Text 96"/>
          <p:cNvSpPr/>
          <p:nvPr/>
        </p:nvSpPr>
        <p:spPr>
          <a:xfrm>
            <a:off x="10755630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1F3864"/>
                </a:solidFill>
                <a:latin typeface="Calibri"/>
              </a:rPr>
              <a:t>81.9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10755630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374151"/>
                </a:solidFill>
                <a:latin typeface="Calibri"/>
              </a:rPr>
              <a:t>223件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10755630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00796B"/>
                </a:solidFill>
                <a:latin typeface="Calibri"/>
              </a:rPr>
              <a:t>86.1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10755630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374151"/>
                </a:solidFill>
                <a:latin typeface="Calibri"/>
              </a:rPr>
              <a:t>225件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10755630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1A7A3F"/>
                </a:solidFill>
                <a:latin typeface="Calibri"/>
              </a:rPr>
              <a:t>72.8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10755630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374151"/>
                </a:solidFill>
                <a:latin typeface="Calibri"/>
              </a:rPr>
              <a:t>163件</a:t>
            </a:r>
            <a:endParaRPr lang="en-US" sz="900" dirty="0"/>
          </a:p>
        </p:txBody>
      </p:sp>
      <p:sp>
        <p:nvSpPr>
          <p:cNvPr id="94" name="Text 90"/>
          <p:cNvSpPr/>
          <p:nvPr/>
        </p:nvSpPr>
        <p:spPr>
          <a:xfrm>
            <a:off x="11322558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750" b="1">
                <a:solidFill>
                  <a:srgbClr val="FFFFFF"/>
                </a:solidFill>
                <a:latin typeface="Calibri"/>
              </a:rPr>
              <a:t>26-Jun</a:t>
            </a:r>
            <a:endParaRPr lang="en-US" sz="750" dirty="0"/>
          </a:p>
        </p:txBody>
      </p:sp>
      <p:sp>
        <p:nvSpPr>
          <p:cNvPr id="100" name="Text 96"/>
          <p:cNvSpPr/>
          <p:nvPr/>
        </p:nvSpPr>
        <p:spPr>
          <a:xfrm>
            <a:off x="11322558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1F3864"/>
                </a:solidFill>
                <a:latin typeface="Calibri"/>
              </a:rPr>
              <a:t>84.4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11322558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374151"/>
                </a:solidFill>
                <a:latin typeface="Calibri"/>
              </a:rPr>
              <a:t>231件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11322558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00796B"/>
                </a:solidFill>
                <a:latin typeface="Calibri"/>
              </a:rPr>
              <a:t>85.7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11322558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374151"/>
                </a:solidFill>
                <a:latin typeface="Calibri"/>
              </a:rPr>
              <a:t>239件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11322558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1A7A3F"/>
                </a:solidFill>
                <a:latin typeface="Calibri"/>
              </a:rPr>
              <a:t>61.9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11322558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374151"/>
                </a:solidFill>
                <a:latin typeface="Calibri"/>
              </a:rPr>
              <a:t>171件</a:t>
            </a:r>
            <a:endParaRPr lang="en-US" sz="900" dirty="0"/>
          </a:p>
        </p:txBody>
      </p:sp>
      <p:sp>
        <p:nvSpPr>
          <p:cNvPr id="94" name="Text 90"/>
          <p:cNvSpPr/>
          <p:nvPr/>
        </p:nvSpPr>
        <p:spPr>
          <a:xfrm>
            <a:off x="11889486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750" b="1">
                <a:solidFill>
                  <a:srgbClr val="FFFFFF"/>
                </a:solidFill>
                <a:latin typeface="Calibri"/>
              </a:rPr>
              <a:t>26-Jul</a:t>
            </a:r>
            <a:endParaRPr lang="en-US" sz="750" dirty="0"/>
          </a:p>
        </p:txBody>
      </p:sp>
      <p:sp>
        <p:nvSpPr>
          <p:cNvPr id="100" name="Text 96"/>
          <p:cNvSpPr/>
          <p:nvPr/>
        </p:nvSpPr>
        <p:spPr>
          <a:xfrm>
            <a:off x="11889486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1F3864"/>
                </a:solidFill>
                <a:latin typeface="Calibri"/>
              </a:rPr>
              <a:t>84.2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11889486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374151"/>
                </a:solidFill>
                <a:latin typeface="Calibri"/>
              </a:rPr>
              <a:t>214件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11889486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00796B"/>
                </a:solidFill>
                <a:latin typeface="Calibri"/>
              </a:rPr>
              <a:t>69.9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11889486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374151"/>
                </a:solidFill>
                <a:latin typeface="Calibri"/>
              </a:rPr>
              <a:t>176件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11889486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1A7A3F"/>
                </a:solidFill>
                <a:latin typeface="Calibri"/>
              </a:rPr>
              <a:t>46.8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11889486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>
                <a:solidFill>
                  <a:srgbClr val="374151"/>
                </a:solidFill>
                <a:latin typeface="Calibri"/>
              </a:rPr>
              <a:t>153件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 2026</a:t>
            </a:r>
            <a:r>
              <a:rPr lang="zh-CN" altLang="en-US" sz="750" dirty="0"/>
              <a:t>年</a:t>
            </a:r>
            <a:r>
              <a:rPr lang="en-US" altLang="zh-CN" sz="750" dirty="0"/>
              <a:t>3</a:t>
            </a:r>
            <a:r>
              <a:rPr lang="zh-CN" altLang="en-US" sz="750" dirty="0"/>
              <a:t>月的预约件数从</a:t>
            </a:r>
            <a:r>
              <a:rPr lang="en-US" altLang="zh-CN" sz="750" dirty="0"/>
              <a:t>2</a:t>
            </a:r>
            <a:r>
              <a:rPr lang="zh-CN" altLang="en-US" sz="750" dirty="0"/>
              <a:t>月的</a:t>
            </a:r>
            <a:r>
              <a:rPr lang="en-US" altLang="zh-CN" sz="750" dirty="0"/>
              <a:t>107</a:t>
            </a:r>
            <a:r>
              <a:rPr lang="zh-CN" altLang="en-US" sz="750" dirty="0"/>
              <a:t>件猛增至</a:t>
            </a:r>
            <a:r>
              <a:rPr lang="en-US" altLang="zh-CN" sz="750" dirty="0"/>
              <a:t>199</a:t>
            </a:r>
            <a:r>
              <a:rPr lang="zh-CN" altLang="en-US" sz="750" dirty="0"/>
              <a:t>件（环比增长</a:t>
            </a:r>
            <a:r>
              <a:rPr lang="en-US" altLang="zh-CN" sz="750" dirty="0"/>
              <a:t>30.1%</a:t>
            </a:r>
            <a:r>
              <a:rPr lang="zh-CN" altLang="en-US" sz="750" dirty="0"/>
              <a:t>），</a:t>
            </a:r>
            <a:r>
              <a:rPr lang="en-US" altLang="zh-CN" sz="750" dirty="0"/>
              <a:t>3</a:t>
            </a:r>
            <a:r>
              <a:rPr lang="zh-CN" altLang="en-US" sz="750" dirty="0"/>
              <a:t>月市场活跃度大幅回升，属于典型的</a:t>
            </a:r>
            <a:r>
              <a:rPr lang="en-US" altLang="zh-CN" sz="750" dirty="0"/>
              <a:t>“</a:t>
            </a:r>
            <a:r>
              <a:rPr lang="zh-CN" altLang="en-US" sz="750" dirty="0"/>
              <a:t>小阳春</a:t>
            </a:r>
            <a:r>
              <a:rPr lang="en-US" altLang="zh-CN" sz="750" dirty="0"/>
              <a:t>”</a:t>
            </a:r>
            <a:r>
              <a:rPr lang="zh-CN" altLang="en-US" sz="750" dirty="0"/>
              <a:t>行情。需要关注的是，</a:t>
            </a:r>
            <a:r>
              <a:rPr lang="en-US" altLang="zh-CN" sz="750" dirty="0"/>
              <a:t>3</a:t>
            </a:r>
            <a:r>
              <a:rPr lang="zh-CN" altLang="en-US" sz="750" dirty="0"/>
              <a:t>月件均</a:t>
            </a:r>
            <a:r>
              <a:rPr lang="en-US" altLang="zh-CN" sz="750" dirty="0"/>
              <a:t>APE</a:t>
            </a:r>
            <a:r>
              <a:rPr lang="zh-CN" altLang="en-US" sz="750" dirty="0"/>
              <a:t>（</a:t>
            </a:r>
            <a:r>
              <a:rPr lang="en-US" altLang="zh-CN" sz="750" dirty="0"/>
              <a:t>40.2</a:t>
            </a:r>
            <a:r>
              <a:rPr lang="zh-CN" altLang="en-US" sz="750" dirty="0"/>
              <a:t>万）低于</a:t>
            </a:r>
            <a:r>
              <a:rPr lang="en-US" altLang="zh-CN" sz="750" dirty="0"/>
              <a:t>2</a:t>
            </a:r>
            <a:r>
              <a:rPr lang="zh-CN" altLang="en-US" sz="750" dirty="0"/>
              <a:t>月（</a:t>
            </a:r>
            <a:r>
              <a:rPr lang="en-US" altLang="zh-CN" sz="750" dirty="0"/>
              <a:t>52.4</a:t>
            </a:r>
            <a:r>
              <a:rPr lang="zh-CN" altLang="en-US" sz="750" dirty="0"/>
              <a:t>万），说明</a:t>
            </a:r>
            <a:r>
              <a:rPr lang="en-US" altLang="zh-CN" sz="750" dirty="0"/>
              <a:t>3</a:t>
            </a:r>
            <a:r>
              <a:rPr lang="zh-CN" altLang="en-US" sz="750" dirty="0"/>
              <a:t>月的大规模增量主要由中小型保单驱动。</a:t>
            </a:r>
            <a:r>
              <a:rPr lang="en-US" altLang="zh-CN" sz="750" dirty="0"/>
              <a:t>1-2</a:t>
            </a:r>
            <a:r>
              <a:rPr lang="zh-CN" altLang="en-US" sz="750" dirty="0"/>
              <a:t>月的高额批核主要是消耗</a:t>
            </a:r>
            <a:r>
              <a:rPr lang="en-US" altLang="zh-CN" sz="750" dirty="0"/>
              <a:t>2025</a:t>
            </a:r>
            <a:r>
              <a:rPr lang="zh-CN" altLang="en-US" sz="750" dirty="0"/>
              <a:t>年底及</a:t>
            </a:r>
            <a:r>
              <a:rPr lang="en-US" altLang="zh-CN" sz="750" dirty="0"/>
              <a:t>2026</a:t>
            </a:r>
            <a:r>
              <a:rPr lang="zh-CN" altLang="en-US" sz="750" dirty="0"/>
              <a:t>年初的积压件。</a:t>
            </a:r>
            <a:r>
              <a:rPr lang="en-US" altLang="zh-CN" sz="750" dirty="0"/>
              <a:t>3</a:t>
            </a:r>
            <a:r>
              <a:rPr lang="zh-CN" altLang="en-US" sz="750" dirty="0"/>
              <a:t>月的批核下滑预示着批核时效可能变长，或者存在大量</a:t>
            </a:r>
            <a:r>
              <a:rPr lang="en-US" altLang="zh-CN" sz="750" dirty="0"/>
              <a:t>3</a:t>
            </a:r>
            <a:r>
              <a:rPr lang="zh-CN" altLang="en-US" sz="750" dirty="0"/>
              <a:t>月签单件尚未走完流程。</a:t>
            </a:r>
            <a:endParaRPr lang="zh-CN" altLang="en-US" sz="750" dirty="0"/>
          </a:p>
          <a:p>
            <a:pPr marL="0" indent="0">
              <a:buNone/>
            </a:pP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8067040" y="1137285"/>
            <a:ext cx="399923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7866380" y="1197610"/>
            <a:ext cx="391160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</p:sp>
      <p:sp>
        <p:nvSpPr>
          <p:cNvPr id="70" name="Text 66"/>
          <p:cNvSpPr/>
          <p:nvPr/>
        </p:nvSpPr>
        <p:spPr>
          <a:xfrm>
            <a:off x="8313420" y="2645410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84.8M/月（剩余 763M ÷ 9mo）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354.5M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1–4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31.5% 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达成率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763M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68.1% 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目标剩余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84.8M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含4月初达 354.5M（达成率 31.8%），完成全年目标 1,113M 还需约 763M（剩余8个月月均需 95.3M）。4月 W13 批核 13.5M 节后回暖；若 4–12 月维持 80–100M 节奏，全年可达标。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4392930" y="1038225"/>
            <a:ext cx="1205230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▼ 环比 −99.0%</a:t>
            </a:r>
            <a:endParaRPr lang="zh-CN" sz="1000" dirty="0">
              <a:solidFill>
                <a:srgbClr val="922B2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349625" y="1534795"/>
            <a:ext cx="1145540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b="0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▲ 环比 +4.1%</a:t>
            </a:r>
            <a:endParaRPr lang="zh-CN" sz="1000" b="0" dirty="0">
              <a:solidFill>
                <a:srgbClr val="922B2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104" name="Label_QD"/>
          <p:cNvSpPr/>
          <p:nvPr/>
        </p:nvSpPr>
        <p:spPr>
          <a:xfrm>
            <a:off x="190500" y="2350770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4450715" y="2971165"/>
            <a:ext cx="1146175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▼ 环比 −96.2%</a:t>
            </a:r>
            <a:endParaRPr lang="zh-CN" sz="1000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108" name="Ann_QD"/>
          <p:cNvSpPr/>
          <p:nvPr/>
        </p:nvSpPr>
        <p:spPr>
          <a:xfrm>
            <a:off x="3520440" y="3525520"/>
            <a:ext cx="1151255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b="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▲ 环比 +27.0%</a:t>
            </a:r>
            <a:endParaRPr lang="zh-CN" sz="1000" b="0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760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500245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2872740" y="4720590"/>
            <a:ext cx="1263650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▼ 环比 −95.2%</a:t>
            </a:r>
            <a:endParaRPr lang="zh-CN" sz="1000" b="0" dirty="0">
              <a:solidFill>
                <a:srgbClr val="1A6B3A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117" name="Ann_PH"/>
          <p:cNvSpPr/>
          <p:nvPr/>
        </p:nvSpPr>
        <p:spPr>
          <a:xfrm>
            <a:off x="4264025" y="5303520"/>
            <a:ext cx="1276985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▲ 环比 +23.1%</a:t>
            </a:r>
            <a:endParaRPr lang="zh-CN" sz="1000" b="0" dirty="0">
              <a:solidFill>
                <a:srgbClr val="1A6B3A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4424680" y="1374775"/>
            <a:ext cx="1066800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</a:t>
            </a:r>
            <a:r>
              <a:rPr lang="zh-CN" sz="1000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▲</a:t>
            </a:r>
            <a:r>
              <a:rPr lang="zh-CN" sz="1000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环比 </a:t>
            </a:r>
            <a:r>
              <a:rPr lang="en-US" altLang="zh-CN" sz="1000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42.5</a:t>
            </a:r>
            <a:r>
              <a:rPr lang="zh-CN" sz="1000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%</a:t>
            </a:r>
            <a:endParaRPr lang="zh-CN" sz="1000" dirty="0">
              <a:solidFill>
                <a:srgbClr val="922B2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4478020" y="3302000"/>
            <a:ext cx="106299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b="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▲ 环比 +</a:t>
            </a:r>
            <a:r>
              <a:rPr lang="en-US" altLang="zh-CN" sz="1000" b="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32.5</a:t>
            </a:r>
            <a:r>
              <a:rPr lang="zh-CN" sz="1000" b="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%</a:t>
            </a:r>
            <a:endParaRPr lang="zh-CN" sz="1000" b="0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11" name="Ann_PH"/>
          <p:cNvSpPr/>
          <p:nvPr/>
        </p:nvSpPr>
        <p:spPr>
          <a:xfrm>
            <a:off x="4227830" y="4941570"/>
            <a:ext cx="1263650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▼ 环比 −</a:t>
            </a:r>
            <a:r>
              <a:rPr lang="en-US" altLang="zh-CN" sz="1000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40</a:t>
            </a:r>
            <a:r>
              <a:rPr lang="zh-CN" sz="1000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.</a:t>
            </a:r>
            <a:r>
              <a:rPr lang="en-US" altLang="zh-CN" sz="1000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3</a:t>
            </a:r>
            <a:r>
              <a:rPr lang="zh-CN" sz="1000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%</a:t>
            </a:r>
            <a:endParaRPr lang="zh-CN" sz="1000" b="0" dirty="0">
              <a:solidFill>
                <a:srgbClr val="1A6B3A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296.9M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504件  |  达成率30.4%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30.4%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976M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|  缺口679M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163.6M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未批核235件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 件均69.7万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3.9M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待签9件  |  件均43.3万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批核APE（绿线）2月冲高至143.7M后3月骤降至72.4M，为存量积压集中释放所致。预约持续上升（+30.3%），签单3月环比下滑，前端动能正在积蓄但转化仍有时滞</a:t>
            </a: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万年青星河尊享保险计划II（2年）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45.64M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41.5万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万年青星河尊享保险计划II（5年）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26.52M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18.8万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万年青卓金保险计划II（5年）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13.84M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10.14M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202.8万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万年青星河传承保险计划II（5年）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9.97M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36.9万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9.36M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117.0万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7.49M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5.82M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4.68M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117.0万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万年青卓金保险计划</a:t>
            </a: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II（5年）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3.90M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48.0万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343件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137.3M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万年青星河尊享保险计划II（2年）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万年青星河尊享保险计划II（2年）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145.7万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44.1万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万年青星河尊享保险计划II（5年）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Jan-26 批核APE（M）</a:t>
            </a:r>
            <a:endParaRPr lang="en-US" sz="700" dirty="0"/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Feb-26 批核APE（M）</a:t>
            </a:r>
            <a:endParaRPr lang="en-US" sz="700" dirty="0"/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Mar-26 批核APE（M）</a:t>
            </a:r>
            <a:endParaRPr lang="en-US" sz="700" dirty="0"/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45.86M</a:t>
            </a:r>
            <a:endParaRPr lang="en-US" sz="850" dirty="0"/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14.90M</a:t>
            </a:r>
            <a:endParaRPr lang="en-US" sz="850" dirty="0"/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13.68M</a:t>
            </a:r>
            <a:endParaRPr lang="en-US" sz="850" dirty="0"/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36.34M</a:t>
            </a:r>
            <a:endParaRPr lang="en-US" sz="850" dirty="0"/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10.31M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21.65M</a:t>
            </a:r>
            <a:endParaRPr lang="en-US" sz="850" dirty="0"/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15.15M</a:t>
            </a:r>
            <a:endParaRPr lang="en-US" sz="850" dirty="0"/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8.65M</a:t>
            </a:r>
            <a:endParaRPr lang="en-US" sz="850" dirty="0"/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12.82M</a:t>
            </a:r>
            <a:endParaRPr lang="en-US" sz="850" dirty="0"/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6.05M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0.40M</a:t>
            </a:r>
            <a:endParaRPr lang="en-US" sz="850" dirty="0"/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0.08M</a:t>
            </a:r>
            <a:endParaRPr lang="en-US" sz="850" dirty="0"/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/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0.01M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67.92M</a:t>
            </a:r>
            <a:endParaRPr lang="en-US" sz="850" dirty="0"/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30.12M</a:t>
            </a:r>
            <a:endParaRPr lang="en-US" sz="850" dirty="0"/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22.33M</a:t>
            </a:r>
            <a:endParaRPr lang="en-US" sz="850" dirty="0"/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63.20M</a:t>
            </a:r>
            <a:endParaRPr lang="en-US" sz="850" dirty="0"/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16.38M</a:t>
            </a:r>
            <a:endParaRPr lang="en-US" sz="850" dirty="0"/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18.26M</a:t>
            </a:r>
            <a:endParaRPr lang="en-US" sz="850" dirty="0"/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93.94M</a:t>
            </a:r>
            <a:endParaRPr lang="en-US" sz="850" dirty="0"/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58.70M</a:t>
            </a:r>
            <a:endParaRPr lang="en-US" sz="850" dirty="0"/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64.49M</a:t>
            </a:r>
            <a:endParaRPr lang="en-US" sz="850" dirty="0"/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6.79M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58.70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Apr26 批核APE（M）</a:t>
            </a:r>
            <a:endParaRPr lang="en-US" sz="700" dirty="0"/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26.21M</a:t>
            </a:r>
            <a:endParaRPr lang="en-US" sz="850" dirty="0"/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11.18M</a:t>
            </a:r>
            <a:endParaRPr lang="en-US" sz="850" dirty="0"/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/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37.88M</a:t>
            </a:r>
            <a:endParaRPr lang="en-US" sz="850" dirty="0"/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16.61M</a:t>
            </a:r>
            <a:endParaRPr lang="en-US" sz="850" dirty="0"/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/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/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/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12.82M</a:t>
            </a:r>
            <a:endParaRPr lang="en-US" sz="850" dirty="0"/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6.05M</a:t>
            </a:r>
            <a:endParaRPr lang="en-US" sz="850" dirty="0"/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11.18M</a:t>
            </a:r>
            <a:endParaRPr lang="en-US" sz="850" dirty="0"/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7700645" y="1009015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31.5%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350M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763M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533件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22699" y="1442741"/>
            <a:ext cx="406459" cy="406459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2429159" y="1554531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/>
          </a:p>
        </p:txBody>
      </p:sp>
      <p:sp>
        <p:nvSpPr>
          <p:cNvPr id="70" name="Shape 67"/>
          <p:cNvSpPr/>
          <p:nvPr/>
        </p:nvSpPr>
        <p:spPr>
          <a:xfrm>
            <a:off x="3200185" y="4678034"/>
            <a:ext cx="483791" cy="483791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3200107" y="457131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经</a:t>
            </a: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</a:t>
            </a:r>
            <a:endParaRPr lang="en-US" sz="650" dirty="0"/>
          </a:p>
        </p:txBody>
      </p:sp>
      <p:sp>
        <p:nvSpPr>
          <p:cNvPr id="72" name="Shape 69"/>
          <p:cNvSpPr/>
          <p:nvPr/>
        </p:nvSpPr>
        <p:spPr>
          <a:xfrm>
            <a:off x="1726716" y="4353559"/>
            <a:ext cx="303481" cy="303481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1686560" y="4189730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经</a:t>
            </a:r>
            <a:r>
              <a:rPr 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</a:t>
            </a:r>
            <a:endParaRPr lang="en-US" sz="650" dirty="0"/>
          </a:p>
        </p:txBody>
      </p:sp>
      <p:sp>
        <p:nvSpPr>
          <p:cNvPr id="74" name="Shape 71"/>
          <p:cNvSpPr/>
          <p:nvPr/>
        </p:nvSpPr>
        <p:spPr>
          <a:xfrm>
            <a:off x="2003333" y="5334315"/>
            <a:ext cx="323576" cy="323576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2326909" y="5404663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en-US" sz="650" dirty="0"/>
          </a:p>
        </p:txBody>
      </p:sp>
      <p:sp>
        <p:nvSpPr>
          <p:cNvPr id="76" name="Shape 73"/>
          <p:cNvSpPr/>
          <p:nvPr/>
        </p:nvSpPr>
        <p:spPr>
          <a:xfrm>
            <a:off x="853421" y="4579982"/>
            <a:ext cx="173723" cy="17372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1027144" y="457540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650" dirty="0"/>
          </a:p>
        </p:txBody>
      </p:sp>
      <p:sp>
        <p:nvSpPr>
          <p:cNvPr id="78" name="Shape 75"/>
          <p:cNvSpPr/>
          <p:nvPr/>
        </p:nvSpPr>
        <p:spPr>
          <a:xfrm>
            <a:off x="1002592" y="5875913"/>
            <a:ext cx="188105" cy="188105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1190698" y="5860745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650" dirty="0"/>
          </a:p>
        </p:txBody>
      </p:sp>
      <p:sp>
        <p:nvSpPr>
          <p:cNvPr id="80" name="Shape 77"/>
          <p:cNvSpPr/>
          <p:nvPr/>
        </p:nvSpPr>
        <p:spPr>
          <a:xfrm>
            <a:off x="1028653" y="5924376"/>
            <a:ext cx="188105" cy="188105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1216758" y="596254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650" dirty="0"/>
          </a:p>
        </p:txBody>
      </p:sp>
      <p:sp>
        <p:nvSpPr>
          <p:cNvPr id="82" name="Shape 79"/>
          <p:cNvSpPr/>
          <p:nvPr/>
        </p:nvSpPr>
        <p:spPr>
          <a:xfrm>
            <a:off x="650875" y="6082030"/>
            <a:ext cx="109728" cy="109728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760603" y="604545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</a:t>
            </a:r>
            <a:endParaRPr lang="en-US" sz="650" dirty="0"/>
          </a:p>
        </p:txBody>
      </p:sp>
      <p:sp>
        <p:nvSpPr>
          <p:cNvPr id="84" name="Shape 81"/>
          <p:cNvSpPr/>
          <p:nvPr/>
        </p:nvSpPr>
        <p:spPr>
          <a:xfrm>
            <a:off x="109855" y="6300470"/>
            <a:ext cx="3776345" cy="39624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114935" y="6297295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（右上绿区）是唯一超越基准的「大目标达标」渠道（达成率85.4%）。永明经代（右下红区）规模最大但达成率仅25.3%，是最大战略风险点。ICLUB、同行经代处于「小目标待激活」区，成事/合伙/IFA几乎无效能输出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31.5%  |  剩余缺口 763M  |  需 9 个月完成 68.5%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BK贡献最大批核（170.9M），但仍距目标29M。全部已批核+在途（522M）仍距目标591M。如未批核（167.9M）和待签（3.9M）能快速推进，可直接减少缺口约31%，是最快的短期行动杠杆。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</p:sp>
      <p:sp>
        <p:nvSpPr>
          <p:cNvPr id="146" name="Shape 102"/>
          <p:cNvSpPr/>
          <p:nvPr/>
        </p:nvSpPr>
        <p:spPr>
          <a:xfrm>
            <a:off x="4563110" y="1554480"/>
            <a:ext cx="241200" cy="61023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47" name="Text 103"/>
          <p:cNvSpPr/>
          <p:nvPr/>
        </p:nvSpPr>
        <p:spPr>
          <a:xfrm>
            <a:off x="4480433" y="1391859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−170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2164080"/>
            <a:ext cx="241200" cy="28067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</p:sp>
      <p:sp>
        <p:nvSpPr>
          <p:cNvPr id="151" name="Text 107"/>
          <p:cNvSpPr/>
          <p:nvPr/>
        </p:nvSpPr>
        <p:spPr>
          <a:xfrm>
            <a:off x="4785106" y="2007352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−86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2444750"/>
            <a:ext cx="241200" cy="178435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</p:sp>
      <p:sp>
        <p:nvSpPr>
          <p:cNvPr id="155" name="Shape 114"/>
          <p:cNvSpPr/>
          <p:nvPr/>
        </p:nvSpPr>
        <p:spPr>
          <a:xfrm>
            <a:off x="6605905" y="2787015"/>
            <a:ext cx="244475" cy="610235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</p:sp>
      <p:sp>
        <p:nvSpPr>
          <p:cNvPr id="156" name="Text 115"/>
          <p:cNvSpPr/>
          <p:nvPr/>
        </p:nvSpPr>
        <p:spPr>
          <a:xfrm>
            <a:off x="6517767" y="2627579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−167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3395980"/>
            <a:ext cx="241300" cy="540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3273425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−4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3463290"/>
            <a:ext cx="238760" cy="2162175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3" name="Text 122"/>
          <p:cNvSpPr/>
          <p:nvPr/>
        </p:nvSpPr>
        <p:spPr>
          <a:xfrm>
            <a:off x="7118223" y="4426671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592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2347595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−51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2627630"/>
            <a:ext cx="241200" cy="76200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</p:sp>
      <p:sp>
        <p:nvSpPr>
          <p:cNvPr id="171" name="Text_314"/>
          <p:cNvSpPr/>
          <p:nvPr/>
        </p:nvSpPr>
        <p:spPr>
          <a:xfrm>
            <a:off x="5525135" y="2457450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-</a:t>
            </a:r>
            <a:r>
              <a:rPr lang="en-US" altLang="zh-CN" sz="750" b="1" dirty="0">
                <a:solidFill>
                  <a:srgbClr val="5295C3"/>
                </a:solidFill>
                <a:cs typeface="+mn-lt"/>
              </a:rPr>
              <a:t>23</a:t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2708910"/>
            <a:ext cx="241300" cy="76200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</p:sp>
      <p:sp>
        <p:nvSpPr>
          <p:cNvPr id="173" name="Text_314"/>
          <p:cNvSpPr/>
          <p:nvPr/>
        </p:nvSpPr>
        <p:spPr>
          <a:xfrm>
            <a:off x="5805805" y="2548890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-</a:t>
            </a:r>
            <a:r>
              <a:rPr lang="en-US" altLang="zh-CN" sz="750" b="1" dirty="0">
                <a:solidFill>
                  <a:srgbClr val="7030A0"/>
                </a:solidFill>
                <a:cs typeface="+mn-lt"/>
              </a:rPr>
              <a:t>14</a:t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2792730"/>
            <a:ext cx="241300" cy="36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</p:sp>
      <p:sp>
        <p:nvSpPr>
          <p:cNvPr id="178" name="Text_314"/>
          <p:cNvSpPr/>
          <p:nvPr/>
        </p:nvSpPr>
        <p:spPr>
          <a:xfrm>
            <a:off x="6356985" y="2668270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-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2</a:t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2795270"/>
            <a:ext cx="241300" cy="3600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</p:sp>
      <p:sp>
        <p:nvSpPr>
          <p:cNvPr id="183" name="Text_314"/>
          <p:cNvSpPr/>
          <p:nvPr/>
        </p:nvSpPr>
        <p:spPr>
          <a:xfrm>
            <a:off x="6128385" y="2637790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-</a:t>
            </a:r>
            <a:r>
              <a:rPr lang="en-US" sz="750" b="1" dirty="0">
                <a:solidFill>
                  <a:srgbClr val="C00000"/>
                </a:solidFill>
                <a:cs typeface="+mn-lt"/>
              </a:rPr>
              <a:t>2</a:t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业务线月度三线趋势 — 预约 / 签单 / 批核（APE in M，Jan–Mar 2026）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永明经代：预约↑持续放量，3月达32.6M，前端动能最强；</a:t>
            </a:r>
            <a:r>
              <a:rPr lang="en-US" alt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BK</a:t>
            </a:r>
            <a:r>
              <a:rPr lang="zh-CN" altLang="en-US" sz="5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sym typeface="+mn-ea"/>
              </a:rPr>
              <a:t>业务：</a:t>
            </a: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批核</a:t>
            </a:r>
            <a:r>
              <a:rPr lang="en-US" alt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2</a:t>
            </a:r>
            <a:r>
              <a:rPr lang="zh-CN" altLang="en-US" sz="5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sym typeface="+mn-ea"/>
              </a:rPr>
              <a:t>月</a:t>
            </a: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峰93.9M为存量集中放款，</a:t>
            </a:r>
            <a:r>
              <a:rPr lang="en-US" alt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3</a:t>
            </a:r>
            <a:r>
              <a:rPr lang="zh-CN" altLang="en-US" sz="5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sym typeface="+mn-ea"/>
              </a:rPr>
              <a:t>月</a:t>
            </a: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仍56.9M；同行经代：批核</a:t>
            </a:r>
            <a:r>
              <a:rPr lang="en-US" alt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1</a:t>
            </a:r>
            <a:r>
              <a:rPr lang="zh-CN" altLang="en-US" sz="5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sym typeface="+mn-ea"/>
              </a:rPr>
              <a:t>月</a:t>
            </a: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爆发41.8M后断崖收缩，须警惕转化断层；</a:t>
            </a:r>
            <a:r>
              <a:rPr lang="en-US" alt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ICLUB</a:t>
            </a:r>
            <a:r>
              <a:rPr lang="zh-CN" altLang="en-US" sz="5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sym typeface="+mn-ea"/>
              </a:rPr>
              <a:t>：</a:t>
            </a: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三线均在</a:t>
            </a:r>
            <a:r>
              <a:rPr lang="en-US" alt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2</a:t>
            </a:r>
            <a:r>
              <a:rPr lang="zh-CN" altLang="en-US" sz="5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sym typeface="+mn-ea"/>
              </a:rPr>
              <a:t>月</a:t>
            </a: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形成双峰，脉冲式大单渠道</a:t>
            </a:r>
            <a:endParaRPr lang="en-US" sz="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375660"/>
            <a:ext cx="746125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4436618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9720" y="443661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461949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253.2M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445490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79880" y="4454906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16456" y="4509770"/>
            <a:ext cx="98259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4454906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53916" y="4509770"/>
            <a:ext cx="44865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4454906"/>
            <a:ext cx="31789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98368" y="450062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170.9▌81.5▌0.8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662422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9720" y="56624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8453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124.3M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6807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79880" y="5680710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616456" y="5735574"/>
            <a:ext cx="9213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680710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92692" y="5735574"/>
            <a:ext cx="43974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680710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198368" y="57264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86.1▌43.1▌1.5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581021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9720" y="2581021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763901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71.7M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599309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579880" y="2599309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616456" y="2654173"/>
            <a:ext cx="10170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599309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88406" y="2654173"/>
            <a:ext cx="3499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599309"/>
            <a:ext cx="95963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198368" y="2645029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50.8▌21.4▌0.0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5058410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9720" y="5058410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5241290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38.1M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507669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579880" y="5076698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616456" y="5131562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5076698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95912" y="5131562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5076698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98368" y="512241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23.7▌15.3▌1.6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982724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99720" y="1982724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2165604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18.0M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200101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579880" y="2001012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616456" y="2055876"/>
            <a:ext cx="147583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2001012"/>
            <a:ext cx="4207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98368" y="204673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14.6▌1.8▌0.0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3164078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99720" y="316407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334695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3.9M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318236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579880" y="3182366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616456" y="3237230"/>
            <a:ext cx="99683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3182366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668155" y="3237230"/>
            <a:ext cx="35625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3182366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198368" y="322808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2.2▌1.1▌0.6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BK未批核占比高达32%，金额达80.9M，催核优先级最高。合伙转介未批核反超批核（69% vs 29%），漏斗倒置。ICLUB批核占97%，管道几乎清空，需新件补充。IFA全程归零。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350.4M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533件  65.1%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7333488" y="1821942"/>
            <a:ext cx="839785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67.1%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533件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522.2M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67.1%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167.9M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  31.4%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8906256" y="1821942"/>
            <a:ext cx="382768" cy="14630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32.2%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242件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522.2M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32.2%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3.9M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12件   0.7%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>
            <a:off x="10479024" y="1821942"/>
            <a:ext cx="57607" cy="14630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0.7%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522.2M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0.7%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902077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4608576" y="2902077"/>
            <a:ext cx="7461504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管道总值522.2M中，批核占67.1%（350.4M）。剩余171.8M（未批167.9M+待签3.9M）若转化可直接推高达成率15%+。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362706"/>
            <a:ext cx="7461504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BK业务批核170.9M逼近目标（200M），达成率85.4%。永明经代目标最大（340M）但实际仅86.1M，是最大绝对缺口（253.9M）。合伙转介与IFA批核几乎为零，战略价值存疑。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808222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4" name="Text 71"/>
          <p:cNvSpPr/>
          <p:nvPr/>
        </p:nvSpPr>
        <p:spPr>
          <a:xfrm>
            <a:off x="299720" y="38082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9911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5.6M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8265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47" name="Shape 74"/>
          <p:cNvSpPr/>
          <p:nvPr/>
        </p:nvSpPr>
        <p:spPr>
          <a:xfrm>
            <a:off x="1579880" y="3826510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48" name="Text 75"/>
          <p:cNvSpPr/>
          <p:nvPr/>
        </p:nvSpPr>
        <p:spPr>
          <a:xfrm>
            <a:off x="1616456" y="3881374"/>
            <a:ext cx="40433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826510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</p:sp>
      <p:sp>
        <p:nvSpPr>
          <p:cNvPr id="150" name="Text 77"/>
          <p:cNvSpPr/>
          <p:nvPr/>
        </p:nvSpPr>
        <p:spPr>
          <a:xfrm>
            <a:off x="2075658" y="3881374"/>
            <a:ext cx="103861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826510"/>
            <a:ext cx="2009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52" name="Text 79"/>
          <p:cNvSpPr/>
          <p:nvPr/>
        </p:nvSpPr>
        <p:spPr>
          <a:xfrm>
            <a:off x="3198368" y="38722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2.3▌3.3▌0.0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447546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155" name="Text 81"/>
          <p:cNvSpPr/>
          <p:nvPr/>
        </p:nvSpPr>
        <p:spPr>
          <a:xfrm>
            <a:off x="299720" y="1447546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630426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46583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58" name="Text 84"/>
          <p:cNvSpPr/>
          <p:nvPr/>
        </p:nvSpPr>
        <p:spPr>
          <a:xfrm>
            <a:off x="3198368" y="151155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184.1M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429件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181.2M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422件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164.5M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347.3M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532件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(347.3M)高于预约(184.1M)，反映跨周积压存量消化效应。递交→批核转化率达211%，为典型「存量清仓」节奏。W07全线断崖（预约仅2.7M，递交归零），是执行管理最大异常点。W12预约28.1M创Q1单周新高，前端动能显著回升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W05签单爆发（32.3M）主因ICLUB大单；W07全线归零为执行断层；W08批核激增（67M）为存量集中消化；W12预约/签单均达28M+，前端同步发力，为Q2批核奠定良好基础。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W13（2026）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6.0M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环比−78.7%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17.5M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环比−38.0%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13.5M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历史最低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167.9M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242件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3.9M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W13（4月初）预约6.0M/22件，为节后正常低位；签单17.5M/40件仍强劲，递交39.7M/90件创单周新高——大量3月签单件正集中递交；批核13.5M/45件恢复正常。未批核167.9M（242件）是Q2批核的核心转化库存。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民生银行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142.1M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63.5M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55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206.6M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178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平安银行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17.2M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0.8M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46.7M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EGA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27.2M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2.3M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0.5M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30.1M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唯思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21.2M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8.2M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0.6M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紫荆保险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17.7M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55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10.5M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0.9M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堡盛国际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16.9M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5.7M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0.7M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17.5M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个人转介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14.2M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0.5M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宏鑫资产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12.5M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12.5M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天领重庆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11.5M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1.7M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企鹅保险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8.6M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4.9M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1.2M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58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298.9M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364件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114.2M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151件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10.9M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424.1M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541件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KA累计批核298.9M（占全业务332.1M的90.0%），高度集中。民生银行以140.3M批核独占42.2%，是最核心的单一客户，亦是最大集中风险。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3"/>
          <p:cNvSpPr/>
          <p:nvPr/>
        </p:nvSpPr>
        <p:spPr>
          <a:xfrm>
            <a:off x="91440" y="3657600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30225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" y="3657600"/>
            <a:ext cx="5943600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369417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  批核业绩热力矩阵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）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163056" y="365760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2" name="Shape 190"/>
          <p:cNvSpPr/>
          <p:nvPr/>
        </p:nvSpPr>
        <p:spPr>
          <a:xfrm>
            <a:off x="6163056" y="3657600"/>
            <a:ext cx="588873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254496" y="369417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 签批时效综合分析 — 业务线时效 &amp; 分档分布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6254750" y="3959225"/>
            <a:ext cx="5659755" cy="254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6351270" y="3996055"/>
            <a:ext cx="469900" cy="139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业务线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6" name="Text 194"/>
          <p:cNvSpPr/>
          <p:nvPr/>
        </p:nvSpPr>
        <p:spPr>
          <a:xfrm>
            <a:off x="7059360" y="3996055"/>
            <a:ext cx="6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7687770" y="3996055"/>
            <a:ext cx="95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件均APE(万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)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857093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平均时效(天)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946952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P90时效(天)</a:t>
            </a:r>
            <a:endParaRPr lang="en-US" sz="800" dirty="0"/>
          </a:p>
        </p:txBody>
      </p:sp>
      <p:sp>
        <p:nvSpPr>
          <p:cNvPr id="700" name="Text 698"/>
          <p:cNvSpPr/>
          <p:nvPr/>
        </p:nvSpPr>
        <p:spPr>
          <a:xfrm>
            <a:off x="10303340" y="3996055"/>
            <a:ext cx="66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中位时效(天)</a:t>
            </a:r>
            <a:endParaRPr lang="en-US" sz="800" dirty="0"/>
          </a:p>
        </p:txBody>
      </p:sp>
      <p:sp>
        <p:nvSpPr>
          <p:cNvPr id="701" name="Text 699"/>
          <p:cNvSpPr/>
          <p:nvPr/>
        </p:nvSpPr>
        <p:spPr>
          <a:xfrm>
            <a:off x="11234420" y="3987800"/>
            <a:ext cx="631825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最大时效(天)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6254750" y="4178935"/>
            <a:ext cx="5659755" cy="299720"/>
          </a:xfrm>
          <a:prstGeom prst="rect">
            <a:avLst/>
          </a:prstGeom>
          <a:solidFill>
            <a:srgbClr val="FEF2F2"/>
          </a:solidFill>
          <a:ln w="7620">
            <a:solidFill>
              <a:srgbClr val="C0392B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6254750" y="4178935"/>
            <a:ext cx="76200" cy="299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6327775" y="422465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203" name="Text 201"/>
          <p:cNvSpPr/>
          <p:nvPr/>
        </p:nvSpPr>
        <p:spPr>
          <a:xfrm>
            <a:off x="7110160" y="422465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134</a:t>
            </a:r>
            <a:endParaRPr lang="en-US" sz="850" dirty="0"/>
          </a:p>
        </p:txBody>
      </p:sp>
      <p:sp>
        <p:nvSpPr>
          <p:cNvPr id="204" name="Text 202"/>
          <p:cNvSpPr/>
          <p:nvPr/>
        </p:nvSpPr>
        <p:spPr>
          <a:xfrm>
            <a:off x="7821120" y="422465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127</a:t>
            </a:r>
            <a:endParaRPr lang="en-US" sz="850" dirty="0"/>
          </a:p>
        </p:txBody>
      </p:sp>
      <p:sp>
        <p:nvSpPr>
          <p:cNvPr id="205" name="Text 203"/>
          <p:cNvSpPr/>
          <p:nvPr/>
        </p:nvSpPr>
        <p:spPr>
          <a:xfrm>
            <a:off x="876778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73</a:t>
            </a:r>
            <a:endParaRPr lang="en-US" sz="850" dirty="0"/>
          </a:p>
        </p:txBody>
      </p:sp>
      <p:sp>
        <p:nvSpPr>
          <p:cNvPr id="206" name="Text 204"/>
          <p:cNvSpPr/>
          <p:nvPr/>
        </p:nvSpPr>
        <p:spPr>
          <a:xfrm>
            <a:off x="960160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122</a:t>
            </a:r>
            <a:endParaRPr lang="en-US" sz="850" dirty="0"/>
          </a:p>
        </p:txBody>
      </p:sp>
      <p:sp>
        <p:nvSpPr>
          <p:cNvPr id="702" name="Text 700"/>
          <p:cNvSpPr/>
          <p:nvPr/>
        </p:nvSpPr>
        <p:spPr>
          <a:xfrm>
            <a:off x="10516700" y="422465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</a:t>
            </a:r>
            <a:endParaRPr lang="en-US" sz="850" dirty="0"/>
          </a:p>
        </p:txBody>
      </p:sp>
      <p:sp>
        <p:nvSpPr>
          <p:cNvPr id="703" name="Text 701"/>
          <p:cNvSpPr/>
          <p:nvPr/>
        </p:nvSpPr>
        <p:spPr>
          <a:xfrm>
            <a:off x="11431170" y="422465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189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6254750" y="4434840"/>
            <a:ext cx="5659755" cy="2997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6254750" y="4434840"/>
            <a:ext cx="76200" cy="29972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6327775" y="44805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0" name="Text 208"/>
          <p:cNvSpPr/>
          <p:nvPr/>
        </p:nvSpPr>
        <p:spPr>
          <a:xfrm>
            <a:off x="7110160" y="44805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</a:t>
            </a:r>
            <a:endParaRPr lang="en-US" sz="850" dirty="0"/>
          </a:p>
        </p:txBody>
      </p:sp>
      <p:sp>
        <p:nvSpPr>
          <p:cNvPr id="211" name="Text 209"/>
          <p:cNvSpPr/>
          <p:nvPr/>
        </p:nvSpPr>
        <p:spPr>
          <a:xfrm>
            <a:off x="7821120" y="44805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</a:t>
            </a:r>
            <a:endParaRPr lang="en-US" sz="850" dirty="0"/>
          </a:p>
        </p:txBody>
      </p:sp>
      <p:sp>
        <p:nvSpPr>
          <p:cNvPr id="212" name="Text 210"/>
          <p:cNvSpPr/>
          <p:nvPr/>
        </p:nvSpPr>
        <p:spPr>
          <a:xfrm>
            <a:off x="876778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850" dirty="0"/>
          </a:p>
        </p:txBody>
      </p:sp>
      <p:sp>
        <p:nvSpPr>
          <p:cNvPr id="213" name="Text 211"/>
          <p:cNvSpPr/>
          <p:nvPr/>
        </p:nvSpPr>
        <p:spPr>
          <a:xfrm>
            <a:off x="960160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</a:t>
            </a:r>
            <a:endParaRPr lang="en-US" sz="850" dirty="0"/>
          </a:p>
        </p:txBody>
      </p:sp>
      <p:sp>
        <p:nvSpPr>
          <p:cNvPr id="704" name="Text 702"/>
          <p:cNvSpPr/>
          <p:nvPr/>
        </p:nvSpPr>
        <p:spPr>
          <a:xfrm>
            <a:off x="10516700" y="44805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05" name="Text 703"/>
          <p:cNvSpPr/>
          <p:nvPr/>
        </p:nvSpPr>
        <p:spPr>
          <a:xfrm>
            <a:off x="11431170" y="44805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</a:t>
            </a:r>
            <a:endParaRPr lang="en-US" sz="850" dirty="0"/>
          </a:p>
        </p:txBody>
      </p:sp>
      <p:sp>
        <p:nvSpPr>
          <p:cNvPr id="214" name="Shape 212"/>
          <p:cNvSpPr/>
          <p:nvPr/>
        </p:nvSpPr>
        <p:spPr>
          <a:xfrm>
            <a:off x="6254750" y="4690745"/>
            <a:ext cx="5659755" cy="29972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6254750" y="4690745"/>
            <a:ext cx="76200" cy="29972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6327775" y="473646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17" name="Text 215"/>
          <p:cNvSpPr/>
          <p:nvPr/>
        </p:nvSpPr>
        <p:spPr>
          <a:xfrm>
            <a:off x="7110160" y="473646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850" dirty="0"/>
          </a:p>
        </p:txBody>
      </p:sp>
      <p:sp>
        <p:nvSpPr>
          <p:cNvPr id="218" name="Text 216"/>
          <p:cNvSpPr/>
          <p:nvPr/>
        </p:nvSpPr>
        <p:spPr>
          <a:xfrm>
            <a:off x="7821120" y="473646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</a:t>
            </a:r>
            <a:endParaRPr lang="en-US" sz="850" dirty="0"/>
          </a:p>
        </p:txBody>
      </p:sp>
      <p:sp>
        <p:nvSpPr>
          <p:cNvPr id="219" name="Text 217"/>
          <p:cNvSpPr/>
          <p:nvPr/>
        </p:nvSpPr>
        <p:spPr>
          <a:xfrm>
            <a:off x="876778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</a:t>
            </a:r>
            <a:endParaRPr lang="en-US" sz="850" dirty="0"/>
          </a:p>
        </p:txBody>
      </p:sp>
      <p:sp>
        <p:nvSpPr>
          <p:cNvPr id="220" name="Text 218"/>
          <p:cNvSpPr/>
          <p:nvPr/>
        </p:nvSpPr>
        <p:spPr>
          <a:xfrm>
            <a:off x="960160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</a:t>
            </a:r>
            <a:endParaRPr lang="en-US" sz="850" dirty="0"/>
          </a:p>
        </p:txBody>
      </p:sp>
      <p:sp>
        <p:nvSpPr>
          <p:cNvPr id="706" name="Text 704"/>
          <p:cNvSpPr/>
          <p:nvPr/>
        </p:nvSpPr>
        <p:spPr>
          <a:xfrm>
            <a:off x="10516700" y="473646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50" dirty="0"/>
          </a:p>
        </p:txBody>
      </p:sp>
      <p:sp>
        <p:nvSpPr>
          <p:cNvPr id="707" name="Text 705"/>
          <p:cNvSpPr/>
          <p:nvPr/>
        </p:nvSpPr>
        <p:spPr>
          <a:xfrm>
            <a:off x="11431170" y="473646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50" dirty="0"/>
          </a:p>
        </p:txBody>
      </p:sp>
      <p:sp>
        <p:nvSpPr>
          <p:cNvPr id="221" name="Shape 219"/>
          <p:cNvSpPr/>
          <p:nvPr/>
        </p:nvSpPr>
        <p:spPr>
          <a:xfrm>
            <a:off x="6254750" y="4946650"/>
            <a:ext cx="5659755" cy="2997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254750" y="4946650"/>
            <a:ext cx="76200" cy="29972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6327775" y="499237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224" name="Text 222"/>
          <p:cNvSpPr/>
          <p:nvPr/>
        </p:nvSpPr>
        <p:spPr>
          <a:xfrm>
            <a:off x="7110160" y="499237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225" name="Text 223"/>
          <p:cNvSpPr/>
          <p:nvPr/>
        </p:nvSpPr>
        <p:spPr>
          <a:xfrm>
            <a:off x="7821120" y="499237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</a:t>
            </a:r>
            <a:endParaRPr lang="en-US" sz="850" dirty="0"/>
          </a:p>
        </p:txBody>
      </p:sp>
      <p:sp>
        <p:nvSpPr>
          <p:cNvPr id="226" name="Text 224"/>
          <p:cNvSpPr/>
          <p:nvPr/>
        </p:nvSpPr>
        <p:spPr>
          <a:xfrm>
            <a:off x="876778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850" dirty="0"/>
          </a:p>
        </p:txBody>
      </p:sp>
      <p:sp>
        <p:nvSpPr>
          <p:cNvPr id="227" name="Text 225"/>
          <p:cNvSpPr/>
          <p:nvPr/>
        </p:nvSpPr>
        <p:spPr>
          <a:xfrm>
            <a:off x="960160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</a:t>
            </a:r>
            <a:endParaRPr lang="en-US" sz="850" dirty="0"/>
          </a:p>
        </p:txBody>
      </p:sp>
      <p:sp>
        <p:nvSpPr>
          <p:cNvPr id="708" name="Text 706"/>
          <p:cNvSpPr/>
          <p:nvPr/>
        </p:nvSpPr>
        <p:spPr>
          <a:xfrm>
            <a:off x="10516700" y="499237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</a:t>
            </a:r>
            <a:endParaRPr lang="en-US" sz="850" dirty="0"/>
          </a:p>
        </p:txBody>
      </p:sp>
      <p:sp>
        <p:nvSpPr>
          <p:cNvPr id="709" name="Text 707"/>
          <p:cNvSpPr/>
          <p:nvPr/>
        </p:nvSpPr>
        <p:spPr>
          <a:xfrm>
            <a:off x="11431170" y="499237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6254750" y="5203190"/>
            <a:ext cx="5659755" cy="29972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6254750" y="5203190"/>
            <a:ext cx="76200" cy="29972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6327775" y="524891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00" dirty="0"/>
          </a:p>
        </p:txBody>
      </p:sp>
      <p:sp>
        <p:nvSpPr>
          <p:cNvPr id="231" name="Text 229"/>
          <p:cNvSpPr/>
          <p:nvPr/>
        </p:nvSpPr>
        <p:spPr>
          <a:xfrm>
            <a:off x="7110160" y="524891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50" dirty="0"/>
          </a:p>
        </p:txBody>
      </p:sp>
      <p:sp>
        <p:nvSpPr>
          <p:cNvPr id="232" name="Text 230"/>
          <p:cNvSpPr/>
          <p:nvPr/>
        </p:nvSpPr>
        <p:spPr>
          <a:xfrm>
            <a:off x="7821120" y="524891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208</a:t>
            </a:r>
            <a:endParaRPr lang="en-US" sz="850" dirty="0"/>
          </a:p>
        </p:txBody>
      </p:sp>
      <p:sp>
        <p:nvSpPr>
          <p:cNvPr id="233" name="Text 231"/>
          <p:cNvSpPr/>
          <p:nvPr/>
        </p:nvSpPr>
        <p:spPr>
          <a:xfrm>
            <a:off x="876778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34" name="Text 232"/>
          <p:cNvSpPr/>
          <p:nvPr/>
        </p:nvSpPr>
        <p:spPr>
          <a:xfrm>
            <a:off x="960160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</a:t>
            </a:r>
            <a:endParaRPr lang="en-US" sz="850" dirty="0"/>
          </a:p>
        </p:txBody>
      </p:sp>
      <p:sp>
        <p:nvSpPr>
          <p:cNvPr id="710" name="Text 708"/>
          <p:cNvSpPr/>
          <p:nvPr/>
        </p:nvSpPr>
        <p:spPr>
          <a:xfrm>
            <a:off x="10516700" y="524891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50" dirty="0"/>
          </a:p>
        </p:txBody>
      </p:sp>
      <p:sp>
        <p:nvSpPr>
          <p:cNvPr id="711" name="Text 709"/>
          <p:cNvSpPr/>
          <p:nvPr/>
        </p:nvSpPr>
        <p:spPr>
          <a:xfrm>
            <a:off x="11431170" y="524891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</a:t>
            </a:r>
            <a:endParaRPr lang="en-US" sz="850" dirty="0"/>
          </a:p>
        </p:txBody>
      </p:sp>
      <p:sp>
        <p:nvSpPr>
          <p:cNvPr id="235" name="Shape 233"/>
          <p:cNvSpPr/>
          <p:nvPr/>
        </p:nvSpPr>
        <p:spPr>
          <a:xfrm>
            <a:off x="6254750" y="5459095"/>
            <a:ext cx="5659755" cy="2997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6254750" y="5459095"/>
            <a:ext cx="76200" cy="29972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6327775" y="550481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00" dirty="0"/>
          </a:p>
        </p:txBody>
      </p:sp>
      <p:sp>
        <p:nvSpPr>
          <p:cNvPr id="238" name="Text 236"/>
          <p:cNvSpPr/>
          <p:nvPr/>
        </p:nvSpPr>
        <p:spPr>
          <a:xfrm>
            <a:off x="7110160" y="550481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50" dirty="0"/>
          </a:p>
        </p:txBody>
      </p:sp>
      <p:sp>
        <p:nvSpPr>
          <p:cNvPr id="239" name="Text 237"/>
          <p:cNvSpPr/>
          <p:nvPr/>
        </p:nvSpPr>
        <p:spPr>
          <a:xfrm>
            <a:off x="7821120" y="550481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</a:t>
            </a:r>
            <a:endParaRPr lang="en-US" sz="850" dirty="0"/>
          </a:p>
        </p:txBody>
      </p:sp>
      <p:sp>
        <p:nvSpPr>
          <p:cNvPr id="240" name="Text 238"/>
          <p:cNvSpPr/>
          <p:nvPr/>
        </p:nvSpPr>
        <p:spPr>
          <a:xfrm>
            <a:off x="876778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</a:t>
            </a:r>
            <a:endParaRPr lang="en-US" sz="850" dirty="0"/>
          </a:p>
        </p:txBody>
      </p:sp>
      <p:sp>
        <p:nvSpPr>
          <p:cNvPr id="241" name="Text 239"/>
          <p:cNvSpPr/>
          <p:nvPr/>
        </p:nvSpPr>
        <p:spPr>
          <a:xfrm>
            <a:off x="960160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</a:t>
            </a:r>
            <a:endParaRPr lang="en-US" sz="850" dirty="0"/>
          </a:p>
        </p:txBody>
      </p:sp>
      <p:sp>
        <p:nvSpPr>
          <p:cNvPr id="712" name="Text 710"/>
          <p:cNvSpPr/>
          <p:nvPr/>
        </p:nvSpPr>
        <p:spPr>
          <a:xfrm>
            <a:off x="10516700" y="550481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713" name="Text 711"/>
          <p:cNvSpPr/>
          <p:nvPr/>
        </p:nvSpPr>
        <p:spPr>
          <a:xfrm>
            <a:off x="11431170" y="550481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</a:t>
            </a:r>
            <a:endParaRPr lang="en-US" sz="850" dirty="0"/>
          </a:p>
        </p:txBody>
      </p:sp>
      <p:sp>
        <p:nvSpPr>
          <p:cNvPr id="242" name="Shape 240"/>
          <p:cNvSpPr/>
          <p:nvPr/>
        </p:nvSpPr>
        <p:spPr>
          <a:xfrm>
            <a:off x="6254750" y="5715000"/>
            <a:ext cx="5659755" cy="29972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254750" y="5715000"/>
            <a:ext cx="76200" cy="299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4" name="Text 242"/>
          <p:cNvSpPr/>
          <p:nvPr/>
        </p:nvSpPr>
        <p:spPr>
          <a:xfrm>
            <a:off x="6327775" y="576072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00" dirty="0"/>
          </a:p>
        </p:txBody>
      </p:sp>
      <p:sp>
        <p:nvSpPr>
          <p:cNvPr id="245" name="Text 243"/>
          <p:cNvSpPr/>
          <p:nvPr/>
        </p:nvSpPr>
        <p:spPr>
          <a:xfrm>
            <a:off x="7110160" y="576072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50" dirty="0"/>
          </a:p>
        </p:txBody>
      </p:sp>
      <p:sp>
        <p:nvSpPr>
          <p:cNvPr id="246" name="Text 244"/>
          <p:cNvSpPr/>
          <p:nvPr/>
        </p:nvSpPr>
        <p:spPr>
          <a:xfrm>
            <a:off x="7821120" y="576072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50" dirty="0"/>
          </a:p>
        </p:txBody>
      </p:sp>
      <p:sp>
        <p:nvSpPr>
          <p:cNvPr id="247" name="Text 245"/>
          <p:cNvSpPr/>
          <p:nvPr/>
        </p:nvSpPr>
        <p:spPr>
          <a:xfrm>
            <a:off x="876778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248" name="Text 246"/>
          <p:cNvSpPr/>
          <p:nvPr/>
        </p:nvSpPr>
        <p:spPr>
          <a:xfrm>
            <a:off x="960160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</a:t>
            </a:r>
            <a:endParaRPr lang="en-US" sz="850" dirty="0"/>
          </a:p>
        </p:txBody>
      </p:sp>
      <p:sp>
        <p:nvSpPr>
          <p:cNvPr id="714" name="Text 712"/>
          <p:cNvSpPr/>
          <p:nvPr/>
        </p:nvSpPr>
        <p:spPr>
          <a:xfrm>
            <a:off x="10516700" y="576072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50" dirty="0"/>
          </a:p>
        </p:txBody>
      </p:sp>
      <p:sp>
        <p:nvSpPr>
          <p:cNvPr id="715" name="Text 713"/>
          <p:cNvSpPr/>
          <p:nvPr/>
        </p:nvSpPr>
        <p:spPr>
          <a:xfrm>
            <a:off x="11431170" y="576072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</a:t>
            </a:r>
            <a:endParaRPr lang="en-US" sz="850" dirty="0"/>
          </a:p>
        </p:txBody>
      </p:sp>
      <p:sp>
        <p:nvSpPr>
          <p:cNvPr id="716" name="Shape 714"/>
          <p:cNvSpPr/>
          <p:nvPr/>
        </p:nvSpPr>
        <p:spPr>
          <a:xfrm>
            <a:off x="6254750" y="6014720"/>
            <a:ext cx="5659755" cy="299720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6254750" y="6014720"/>
            <a:ext cx="76200" cy="299720"/>
          </a:xfrm>
          <a:prstGeom prst="rect">
            <a:avLst/>
          </a:prstGeom>
          <a:solidFill>
            <a:srgbClr val="A0A0A0"/>
          </a:solidFill>
          <a:ln w="7620">
            <a:solidFill>
              <a:srgbClr val="A0A0A0"/>
            </a:solidFill>
          </a:ln>
        </p:spPr>
      </p:sp>
      <p:sp>
        <p:nvSpPr>
          <p:cNvPr id="718" name="Text 716"/>
          <p:cNvSpPr/>
          <p:nvPr/>
        </p:nvSpPr>
        <p:spPr>
          <a:xfrm>
            <a:off x="6327775" y="606044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00" dirty="0"/>
          </a:p>
        </p:txBody>
      </p:sp>
      <p:sp>
        <p:nvSpPr>
          <p:cNvPr id="719" name="Text 717"/>
          <p:cNvSpPr/>
          <p:nvPr/>
        </p:nvSpPr>
        <p:spPr>
          <a:xfrm>
            <a:off x="7130480" y="606044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0" name="Text 718"/>
          <p:cNvSpPr/>
          <p:nvPr/>
        </p:nvSpPr>
        <p:spPr>
          <a:xfrm>
            <a:off x="7841440" y="606044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1" name="Text 719"/>
          <p:cNvSpPr/>
          <p:nvPr/>
        </p:nvSpPr>
        <p:spPr>
          <a:xfrm>
            <a:off x="878810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2" name="Text 720"/>
          <p:cNvSpPr/>
          <p:nvPr/>
        </p:nvSpPr>
        <p:spPr>
          <a:xfrm>
            <a:off x="962192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3" name="Text 721"/>
          <p:cNvSpPr/>
          <p:nvPr/>
        </p:nvSpPr>
        <p:spPr>
          <a:xfrm>
            <a:off x="10537020" y="606044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4" name="Text 722"/>
          <p:cNvSpPr/>
          <p:nvPr/>
        </p:nvSpPr>
        <p:spPr>
          <a:xfrm>
            <a:off x="11487050" y="606044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5" name="Shape 723"/>
          <p:cNvSpPr/>
          <p:nvPr/>
        </p:nvSpPr>
        <p:spPr>
          <a:xfrm>
            <a:off x="6254750" y="6314440"/>
            <a:ext cx="5659755" cy="299720"/>
          </a:xfrm>
          <a:prstGeom prst="rect">
            <a:avLst/>
          </a:prstGeom>
          <a:solidFill>
            <a:srgbClr val="1F3864"/>
          </a:solidFill>
          <a:ln w="7620">
            <a:solidFill>
              <a:srgbClr val="1F3864"/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6254750" y="6314440"/>
            <a:ext cx="76200" cy="299720"/>
          </a:xfrm>
          <a:prstGeom prst="rect">
            <a:avLst/>
          </a:prstGeom>
          <a:solidFill>
            <a:srgbClr val="1F3864"/>
          </a:solidFill>
          <a:ln w="7620">
            <a:solidFill>
              <a:srgbClr val="1F3864"/>
            </a:solidFill>
          </a:ln>
        </p:spPr>
      </p:sp>
      <p:sp>
        <p:nvSpPr>
          <p:cNvPr id="727" name="Text 725"/>
          <p:cNvSpPr/>
          <p:nvPr/>
        </p:nvSpPr>
        <p:spPr>
          <a:xfrm>
            <a:off x="6327775" y="63601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</a:t>
            </a:r>
            <a:endParaRPr lang="en-US" sz="800" dirty="0"/>
          </a:p>
        </p:txBody>
      </p:sp>
      <p:sp>
        <p:nvSpPr>
          <p:cNvPr id="728" name="Text 726"/>
          <p:cNvSpPr/>
          <p:nvPr/>
        </p:nvSpPr>
        <p:spPr>
          <a:xfrm>
            <a:off x="7110160" y="63601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482</a:t>
            </a:r>
            <a:endParaRPr lang="en-US" sz="850" dirty="0"/>
          </a:p>
        </p:txBody>
      </p:sp>
      <p:sp>
        <p:nvSpPr>
          <p:cNvPr id="729" name="Text 727"/>
          <p:cNvSpPr/>
          <p:nvPr/>
        </p:nvSpPr>
        <p:spPr>
          <a:xfrm>
            <a:off x="7821120" y="63601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70</a:t>
            </a:r>
            <a:endParaRPr lang="en-US" sz="850" dirty="0"/>
          </a:p>
        </p:txBody>
      </p:sp>
      <p:sp>
        <p:nvSpPr>
          <p:cNvPr id="730" name="Text 728"/>
          <p:cNvSpPr/>
          <p:nvPr/>
        </p:nvSpPr>
        <p:spPr>
          <a:xfrm>
            <a:off x="876778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</a:t>
            </a:r>
            <a:endParaRPr lang="en-US" sz="850" dirty="0"/>
          </a:p>
        </p:txBody>
      </p:sp>
      <p:sp>
        <p:nvSpPr>
          <p:cNvPr id="731" name="Text 729"/>
          <p:cNvSpPr/>
          <p:nvPr/>
        </p:nvSpPr>
        <p:spPr>
          <a:xfrm>
            <a:off x="960160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95</a:t>
            </a:r>
            <a:endParaRPr lang="en-US" sz="850" dirty="0"/>
          </a:p>
        </p:txBody>
      </p:sp>
      <p:sp>
        <p:nvSpPr>
          <p:cNvPr id="732" name="Text 730"/>
          <p:cNvSpPr/>
          <p:nvPr/>
        </p:nvSpPr>
        <p:spPr>
          <a:xfrm>
            <a:off x="10516700" y="63601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50" dirty="0"/>
          </a:p>
        </p:txBody>
      </p:sp>
      <p:sp>
        <p:nvSpPr>
          <p:cNvPr id="733" name="Text 731"/>
          <p:cNvSpPr/>
          <p:nvPr/>
        </p:nvSpPr>
        <p:spPr>
          <a:xfrm>
            <a:off x="11431170" y="63601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189</a:t>
            </a:r>
            <a:endParaRPr lang="en-US" sz="850" dirty="0"/>
          </a:p>
        </p:txBody>
      </p:sp>
      <p:sp>
        <p:nvSpPr>
          <p:cNvPr id="250" name="Shape 247"/>
          <p:cNvSpPr/>
          <p:nvPr/>
        </p:nvSpPr>
        <p:spPr>
          <a:xfrm>
            <a:off x="6163056" y="625449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</p:sp>
      <p:sp>
        <p:nvSpPr>
          <p:cNvPr id="251" name="Shape 248"/>
          <p:cNvSpPr/>
          <p:nvPr/>
        </p:nvSpPr>
        <p:spPr>
          <a:xfrm>
            <a:off x="6163056" y="6254496"/>
            <a:ext cx="588873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</p:sp>
      <p:sp>
        <p:nvSpPr>
          <p:cNvPr id="252" name="Text 249"/>
          <p:cNvSpPr/>
          <p:nvPr/>
        </p:nvSpPr>
        <p:spPr>
          <a:xfrm>
            <a:off x="6254496" y="6291072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53" name="Text 250"/>
          <p:cNvSpPr/>
          <p:nvPr/>
        </p:nvSpPr>
        <p:spPr>
          <a:xfrm>
            <a:off x="6254496" y="6409944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BK均值73天（P90=122天）是唯一超SLA=60天渠道，且件均APE最高（127.5万），大额件审核慢是主要风险。&gt;90天件58件（10.9%）却占APE总量26.7%，大额单长期滞留影响巨大。ICLUB均值22天，小批量高效。</a:t>
            </a:r>
            <a:endParaRPr lang="en-US" sz="550" dirty="0"/>
          </a:p>
        </p:txBody>
      </p:sp>
      <p:sp>
        <p:nvSpPr>
          <p:cNvPr id="255" name="Shape 252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</p:sp>
      <p:sp>
        <p:nvSpPr>
          <p:cNvPr id="256" name="Text 253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  周度预约渠道贡献构成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）</a:t>
            </a:r>
            <a:endParaRPr lang="en-US" sz="850" dirty="0"/>
          </a:p>
        </p:txBody>
      </p:sp>
      <p:sp>
        <p:nvSpPr>
          <p:cNvPr id="262" name="Shape 258"/>
          <p:cNvSpPr/>
          <p:nvPr/>
        </p:nvSpPr>
        <p:spPr>
          <a:xfrm>
            <a:off x="6162421" y="54864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3" name="Shape 259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</p:sp>
      <p:sp>
        <p:nvSpPr>
          <p:cNvPr id="264" name="Text 260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 模块B/C — 签单业绩热力矩阵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）</a:t>
            </a:r>
            <a:endParaRPr lang="en-US" sz="850" dirty="0"/>
          </a:p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永明经代是预约基本盘，W12峰值10.4M（28件）创Q1新高，W13仍有3.59M/12件节后持续。ICLUB在W05单周爆发12M后归零，属「脉冲式」大单渠道，连续性差。BK业务W13预约归零（节后），需密切追踪W14回升情况。</a:t>
            </a:r>
            <a:endParaRPr lang="en-US" sz="550" dirty="0"/>
          </a:p>
        </p:txBody>
      </p:sp>
      <p:sp>
        <p:nvSpPr>
          <p:cNvPr id="470" name="Shape 448"/>
          <p:cNvSpPr/>
          <p:nvPr/>
        </p:nvSpPr>
        <p:spPr>
          <a:xfrm>
            <a:off x="6144006" y="318871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</p:sp>
      <p:sp>
        <p:nvSpPr>
          <p:cNvPr id="472" name="Text 450"/>
          <p:cNvSpPr/>
          <p:nvPr/>
        </p:nvSpPr>
        <p:spPr>
          <a:xfrm>
            <a:off x="6236716" y="3197987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" name="Text 451"/>
          <p:cNvSpPr/>
          <p:nvPr/>
        </p:nvSpPr>
        <p:spPr>
          <a:xfrm>
            <a:off x="6236716" y="3316859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永明经代W13签单6.61M/18件，消化3月末积压订单。BK W13签单3.51M/6件（民生2.73M+平安0.78M），稳健延续。W13递交39.7M/90件为单周最高，大量3月末签单件正式进入核保流程——是Q2批核的核心驱动信号。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W08批核爆发（46.88M/30件）创全矩阵APE最高点，W11次之（35.96M/19件），为集中突击核保特征。永明经代批核较均匀，W12仅1.6M/3件，积压件已基本清空。W07全矩阵趋于空白（仅批核10件/7.3M），执行停摆清晰可见。</a:t>
            </a:r>
            <a:endParaRPr lang="en-US" sz="550" dirty="0"/>
          </a:p>
        </p:txBody>
      </p:sp>
      <p:sp>
        <p:nvSpPr>
          <p:cNvPr id="12" name="T7013"/>
          <p:cNvSpPr/>
          <p:nvPr/>
        </p:nvSpPr>
        <p:spPr>
          <a:xfrm>
            <a:off x="182880" y="1042670"/>
            <a:ext cx="498288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5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zh-CN" sz="580" dirty="0"/>
          </a:p>
        </p:txBody>
      </p:sp>
      <p:sp>
        <p:nvSpPr>
          <p:cNvPr id="13" name="R7014"/>
          <p:cNvSpPr/>
          <p:nvPr/>
        </p:nvSpPr>
        <p:spPr>
          <a:xfrm>
            <a:off x="691168" y="1042670"/>
            <a:ext cx="390000" cy="290000"/>
          </a:xfrm>
          <a:prstGeom prst="rect">
            <a:avLst/>
          </a:prstGeom>
          <a:solidFill>
            <a:srgbClr val="1F3864">
              <a:alpha val="39375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4" name="T7015"/>
          <p:cNvSpPr/>
          <p:nvPr/>
        </p:nvSpPr>
        <p:spPr>
          <a:xfrm>
            <a:off x="691168" y="104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2.3M</a:t>
            </a:r>
            <a:endParaRPr lang="zh-CN" sz="570" dirty="0"/>
          </a:p>
        </p:txBody>
      </p:sp>
      <p:sp>
        <p:nvSpPr>
          <p:cNvPr id="15" name="T7016"/>
          <p:cNvSpPr/>
          <p:nvPr/>
        </p:nvSpPr>
        <p:spPr>
          <a:xfrm>
            <a:off x="691168" y="121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16" name="R7017"/>
          <p:cNvSpPr/>
          <p:nvPr/>
        </p:nvSpPr>
        <p:spPr>
          <a:xfrm>
            <a:off x="1081168" y="1042670"/>
            <a:ext cx="390000" cy="290000"/>
          </a:xfrm>
          <a:prstGeom prst="rect">
            <a:avLst/>
          </a:prstGeom>
          <a:solidFill>
            <a:srgbClr val="1F3864">
              <a:alpha val="5754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7" name="T7018"/>
          <p:cNvSpPr/>
          <p:nvPr/>
        </p:nvSpPr>
        <p:spPr>
          <a:xfrm>
            <a:off x="1081168" y="104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4.1M</a:t>
            </a:r>
            <a:endParaRPr lang="zh-CN" sz="570" dirty="0"/>
          </a:p>
        </p:txBody>
      </p:sp>
      <p:sp>
        <p:nvSpPr>
          <p:cNvPr id="18" name="T7019"/>
          <p:cNvSpPr/>
          <p:nvPr/>
        </p:nvSpPr>
        <p:spPr>
          <a:xfrm>
            <a:off x="1081168" y="121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19" name="R7020"/>
          <p:cNvSpPr/>
          <p:nvPr/>
        </p:nvSpPr>
        <p:spPr>
          <a:xfrm>
            <a:off x="1471168" y="1042670"/>
            <a:ext cx="390000" cy="290000"/>
          </a:xfrm>
          <a:prstGeom prst="rect">
            <a:avLst/>
          </a:prstGeom>
          <a:solidFill>
            <a:srgbClr val="1F3864">
              <a:alpha val="77855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20" name="T7021"/>
          <p:cNvSpPr/>
          <p:nvPr/>
        </p:nvSpPr>
        <p:spPr>
          <a:xfrm>
            <a:off x="1471168" y="104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6.0M</a:t>
            </a:r>
            <a:endParaRPr lang="zh-CN" sz="570" dirty="0"/>
          </a:p>
        </p:txBody>
      </p:sp>
      <p:sp>
        <p:nvSpPr>
          <p:cNvPr id="21" name="T7022"/>
          <p:cNvSpPr/>
          <p:nvPr/>
        </p:nvSpPr>
        <p:spPr>
          <a:xfrm>
            <a:off x="1471168" y="121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6件</a:t>
            </a:r>
            <a:endParaRPr lang="zh-CN" sz="500" dirty="0"/>
          </a:p>
        </p:txBody>
      </p:sp>
      <p:sp>
        <p:nvSpPr>
          <p:cNvPr id="22" name="R7023"/>
          <p:cNvSpPr/>
          <p:nvPr/>
        </p:nvSpPr>
        <p:spPr>
          <a:xfrm>
            <a:off x="1861168" y="1042670"/>
            <a:ext cx="390000" cy="290000"/>
          </a:xfrm>
          <a:prstGeom prst="rect">
            <a:avLst/>
          </a:prstGeom>
          <a:solidFill>
            <a:srgbClr val="1F3864">
              <a:alpha val="33687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23" name="T7024"/>
          <p:cNvSpPr/>
          <p:nvPr/>
        </p:nvSpPr>
        <p:spPr>
          <a:xfrm>
            <a:off x="1861168" y="104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1.8M</a:t>
            </a:r>
            <a:endParaRPr lang="zh-CN" sz="570" dirty="0"/>
          </a:p>
        </p:txBody>
      </p:sp>
      <p:sp>
        <p:nvSpPr>
          <p:cNvPr id="24" name="T7025"/>
          <p:cNvSpPr/>
          <p:nvPr/>
        </p:nvSpPr>
        <p:spPr>
          <a:xfrm>
            <a:off x="1861168" y="121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25" name="R7026"/>
          <p:cNvSpPr/>
          <p:nvPr/>
        </p:nvSpPr>
        <p:spPr>
          <a:xfrm>
            <a:off x="2251168" y="1042670"/>
            <a:ext cx="390000" cy="290000"/>
          </a:xfrm>
          <a:prstGeom prst="rect">
            <a:avLst/>
          </a:prstGeom>
          <a:solidFill>
            <a:srgbClr val="1F3864">
              <a:alpha val="59687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26" name="T7027"/>
          <p:cNvSpPr/>
          <p:nvPr/>
        </p:nvSpPr>
        <p:spPr>
          <a:xfrm>
            <a:off x="2251168" y="104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4.3M</a:t>
            </a:r>
            <a:endParaRPr lang="zh-CN" sz="570" dirty="0"/>
          </a:p>
        </p:txBody>
      </p:sp>
      <p:sp>
        <p:nvSpPr>
          <p:cNvPr id="27" name="T7028"/>
          <p:cNvSpPr/>
          <p:nvPr/>
        </p:nvSpPr>
        <p:spPr>
          <a:xfrm>
            <a:off x="2251168" y="121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6件</a:t>
            </a:r>
            <a:endParaRPr lang="zh-CN" sz="500" dirty="0"/>
          </a:p>
        </p:txBody>
      </p:sp>
      <p:sp>
        <p:nvSpPr>
          <p:cNvPr id="28" name="R7029"/>
          <p:cNvSpPr/>
          <p:nvPr/>
        </p:nvSpPr>
        <p:spPr>
          <a:xfrm>
            <a:off x="2641168" y="1042670"/>
            <a:ext cx="390000" cy="290000"/>
          </a:xfrm>
          <a:prstGeom prst="rect">
            <a:avLst/>
          </a:prstGeom>
          <a:solidFill>
            <a:srgbClr val="1F3864">
              <a:alpha val="4701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29" name="T7030"/>
          <p:cNvSpPr/>
          <p:nvPr/>
        </p:nvSpPr>
        <p:spPr>
          <a:xfrm>
            <a:off x="2641168" y="104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3.1M</a:t>
            </a:r>
            <a:endParaRPr lang="zh-CN" sz="570" dirty="0"/>
          </a:p>
        </p:txBody>
      </p:sp>
      <p:sp>
        <p:nvSpPr>
          <p:cNvPr id="30" name="T7031"/>
          <p:cNvSpPr/>
          <p:nvPr/>
        </p:nvSpPr>
        <p:spPr>
          <a:xfrm>
            <a:off x="2641168" y="121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31" name="R7032"/>
          <p:cNvSpPr/>
          <p:nvPr/>
        </p:nvSpPr>
        <p:spPr>
          <a:xfrm>
            <a:off x="3031168" y="104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2" name="R7033"/>
          <p:cNvSpPr/>
          <p:nvPr/>
        </p:nvSpPr>
        <p:spPr>
          <a:xfrm>
            <a:off x="3421168" y="104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3" name="R7034"/>
          <p:cNvSpPr/>
          <p:nvPr/>
        </p:nvSpPr>
        <p:spPr>
          <a:xfrm>
            <a:off x="3811168" y="1042670"/>
            <a:ext cx="390000" cy="290000"/>
          </a:xfrm>
          <a:prstGeom prst="rect">
            <a:avLst/>
          </a:prstGeom>
          <a:solidFill>
            <a:srgbClr val="1F3864">
              <a:alpha val="39375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4" name="T7035"/>
          <p:cNvSpPr/>
          <p:nvPr/>
        </p:nvSpPr>
        <p:spPr>
          <a:xfrm>
            <a:off x="3811168" y="104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2.3M</a:t>
            </a:r>
            <a:endParaRPr lang="zh-CN" sz="570" dirty="0"/>
          </a:p>
        </p:txBody>
      </p:sp>
      <p:sp>
        <p:nvSpPr>
          <p:cNvPr id="35" name="T7036"/>
          <p:cNvSpPr/>
          <p:nvPr/>
        </p:nvSpPr>
        <p:spPr>
          <a:xfrm>
            <a:off x="3811168" y="121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36" name="R7037"/>
          <p:cNvSpPr/>
          <p:nvPr/>
        </p:nvSpPr>
        <p:spPr>
          <a:xfrm>
            <a:off x="4201168" y="1042670"/>
            <a:ext cx="390000" cy="290000"/>
          </a:xfrm>
          <a:prstGeom prst="rect">
            <a:avLst/>
          </a:prstGeom>
          <a:solidFill>
            <a:srgbClr val="1F3864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7" name="T7038"/>
          <p:cNvSpPr/>
          <p:nvPr/>
        </p:nvSpPr>
        <p:spPr>
          <a:xfrm>
            <a:off x="4201168" y="104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5.5M</a:t>
            </a:r>
            <a:endParaRPr lang="zh-CN" sz="570" dirty="0"/>
          </a:p>
        </p:txBody>
      </p:sp>
      <p:sp>
        <p:nvSpPr>
          <p:cNvPr id="38" name="T7039"/>
          <p:cNvSpPr/>
          <p:nvPr/>
        </p:nvSpPr>
        <p:spPr>
          <a:xfrm>
            <a:off x="4201168" y="121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39" name="R7040"/>
          <p:cNvSpPr/>
          <p:nvPr/>
        </p:nvSpPr>
        <p:spPr>
          <a:xfrm>
            <a:off x="4591168" y="1042670"/>
            <a:ext cx="390000" cy="290000"/>
          </a:xfrm>
          <a:prstGeom prst="rect">
            <a:avLst/>
          </a:prstGeom>
          <a:solidFill>
            <a:srgbClr val="1F3864">
              <a:alpha val="59687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0" name="T7041"/>
          <p:cNvSpPr/>
          <p:nvPr/>
        </p:nvSpPr>
        <p:spPr>
          <a:xfrm>
            <a:off x="4591168" y="104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4.3M</a:t>
            </a:r>
            <a:endParaRPr lang="zh-CN" sz="570" dirty="0"/>
          </a:p>
        </p:txBody>
      </p:sp>
      <p:sp>
        <p:nvSpPr>
          <p:cNvPr id="41" name="T7042"/>
          <p:cNvSpPr/>
          <p:nvPr/>
        </p:nvSpPr>
        <p:spPr>
          <a:xfrm>
            <a:off x="4591168" y="121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8件</a:t>
            </a:r>
            <a:endParaRPr lang="zh-CN" sz="500" dirty="0"/>
          </a:p>
        </p:txBody>
      </p:sp>
      <p:sp>
        <p:nvSpPr>
          <p:cNvPr id="42" name="R7043"/>
          <p:cNvSpPr/>
          <p:nvPr/>
        </p:nvSpPr>
        <p:spPr>
          <a:xfrm>
            <a:off x="4981168" y="1042670"/>
            <a:ext cx="390000" cy="290000"/>
          </a:xfrm>
          <a:prstGeom prst="rect">
            <a:avLst/>
          </a:prstGeom>
          <a:solidFill>
            <a:srgbClr val="1F3864">
              <a:alpha val="3531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3" name="T7044"/>
          <p:cNvSpPr/>
          <p:nvPr/>
        </p:nvSpPr>
        <p:spPr>
          <a:xfrm>
            <a:off x="4981168" y="104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2.7M</a:t>
            </a:r>
            <a:endParaRPr lang="zh-CN" sz="570" dirty="0"/>
          </a:p>
        </p:txBody>
      </p:sp>
      <p:sp>
        <p:nvSpPr>
          <p:cNvPr id="44" name="T7045"/>
          <p:cNvSpPr/>
          <p:nvPr/>
        </p:nvSpPr>
        <p:spPr>
          <a:xfrm>
            <a:off x="4981168" y="121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45" name="T7049"/>
          <p:cNvSpPr/>
          <p:nvPr/>
        </p:nvSpPr>
        <p:spPr>
          <a:xfrm>
            <a:off x="182880" y="1332670"/>
            <a:ext cx="498288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5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zh-CN" sz="580" dirty="0"/>
          </a:p>
        </p:txBody>
      </p:sp>
      <p:sp>
        <p:nvSpPr>
          <p:cNvPr id="46" name="R7050"/>
          <p:cNvSpPr/>
          <p:nvPr/>
        </p:nvSpPr>
        <p:spPr>
          <a:xfrm>
            <a:off x="691168" y="1332670"/>
            <a:ext cx="390000" cy="290000"/>
          </a:xfrm>
          <a:prstGeom prst="rect">
            <a:avLst/>
          </a:prstGeom>
          <a:solidFill>
            <a:srgbClr val="1A7A3F">
              <a:alpha val="31769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7" name="T7051"/>
          <p:cNvSpPr/>
          <p:nvPr/>
        </p:nvSpPr>
        <p:spPr>
          <a:xfrm>
            <a:off x="69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2.9M</a:t>
            </a:r>
            <a:endParaRPr lang="zh-CN" sz="570" dirty="0"/>
          </a:p>
        </p:txBody>
      </p:sp>
      <p:sp>
        <p:nvSpPr>
          <p:cNvPr id="48" name="T7052"/>
          <p:cNvSpPr/>
          <p:nvPr/>
        </p:nvSpPr>
        <p:spPr>
          <a:xfrm>
            <a:off x="69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</a:t>
            </a:r>
            <a:endParaRPr lang="zh-CN" sz="500" dirty="0"/>
          </a:p>
        </p:txBody>
      </p:sp>
      <p:sp>
        <p:nvSpPr>
          <p:cNvPr id="49" name="R7053"/>
          <p:cNvSpPr/>
          <p:nvPr/>
        </p:nvSpPr>
        <p:spPr>
          <a:xfrm>
            <a:off x="1081168" y="1332670"/>
            <a:ext cx="390000" cy="290000"/>
          </a:xfrm>
          <a:prstGeom prst="rect">
            <a:avLst/>
          </a:prstGeom>
          <a:solidFill>
            <a:srgbClr val="1A7A3F">
              <a:alpha val="46216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0" name="T7054"/>
          <p:cNvSpPr/>
          <p:nvPr/>
        </p:nvSpPr>
        <p:spPr>
          <a:xfrm>
            <a:off x="108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5.4M</a:t>
            </a:r>
            <a:endParaRPr lang="zh-CN" sz="570" dirty="0"/>
          </a:p>
        </p:txBody>
      </p:sp>
      <p:sp>
        <p:nvSpPr>
          <p:cNvPr id="51" name="T7055"/>
          <p:cNvSpPr/>
          <p:nvPr/>
        </p:nvSpPr>
        <p:spPr>
          <a:xfrm>
            <a:off x="108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18件</a:t>
            </a:r>
            <a:endParaRPr lang="zh-CN" sz="500" dirty="0"/>
          </a:p>
        </p:txBody>
      </p:sp>
      <p:sp>
        <p:nvSpPr>
          <p:cNvPr id="52" name="R7056"/>
          <p:cNvSpPr/>
          <p:nvPr/>
        </p:nvSpPr>
        <p:spPr>
          <a:xfrm>
            <a:off x="1471168" y="1332670"/>
            <a:ext cx="390000" cy="290000"/>
          </a:xfrm>
          <a:prstGeom prst="rect">
            <a:avLst/>
          </a:prstGeom>
          <a:solidFill>
            <a:srgbClr val="1A7A3F">
              <a:alpha val="48804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3" name="T7057"/>
          <p:cNvSpPr/>
          <p:nvPr/>
        </p:nvSpPr>
        <p:spPr>
          <a:xfrm>
            <a:off x="147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5.9M</a:t>
            </a:r>
            <a:endParaRPr lang="zh-CN" sz="570" dirty="0"/>
          </a:p>
        </p:txBody>
      </p:sp>
      <p:sp>
        <p:nvSpPr>
          <p:cNvPr id="54" name="T7058"/>
          <p:cNvSpPr/>
          <p:nvPr/>
        </p:nvSpPr>
        <p:spPr>
          <a:xfrm>
            <a:off x="147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</a:t>
            </a:r>
            <a:endParaRPr lang="zh-CN" sz="500" dirty="0"/>
          </a:p>
        </p:txBody>
      </p:sp>
      <p:sp>
        <p:nvSpPr>
          <p:cNvPr id="55" name="R7059"/>
          <p:cNvSpPr/>
          <p:nvPr/>
        </p:nvSpPr>
        <p:spPr>
          <a:xfrm>
            <a:off x="1861168" y="1332670"/>
            <a:ext cx="390000" cy="290000"/>
          </a:xfrm>
          <a:prstGeom prst="rect">
            <a:avLst/>
          </a:prstGeom>
          <a:solidFill>
            <a:srgbClr val="1A7A3F">
              <a:alpha val="41196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6" name="T7060"/>
          <p:cNvSpPr/>
          <p:nvPr/>
        </p:nvSpPr>
        <p:spPr>
          <a:xfrm>
            <a:off x="186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4.6M</a:t>
            </a:r>
            <a:endParaRPr lang="zh-CN" sz="570" dirty="0"/>
          </a:p>
        </p:txBody>
      </p:sp>
      <p:sp>
        <p:nvSpPr>
          <p:cNvPr id="57" name="T7061"/>
          <p:cNvSpPr/>
          <p:nvPr/>
        </p:nvSpPr>
        <p:spPr>
          <a:xfrm>
            <a:off x="186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17件</a:t>
            </a:r>
            <a:endParaRPr lang="zh-CN" sz="500" dirty="0"/>
          </a:p>
        </p:txBody>
      </p:sp>
      <p:sp>
        <p:nvSpPr>
          <p:cNvPr id="58" name="R7062"/>
          <p:cNvSpPr/>
          <p:nvPr/>
        </p:nvSpPr>
        <p:spPr>
          <a:xfrm>
            <a:off x="2251168" y="1332670"/>
            <a:ext cx="390000" cy="290000"/>
          </a:xfrm>
          <a:prstGeom prst="rect">
            <a:avLst/>
          </a:prstGeom>
          <a:solidFill>
            <a:srgbClr val="1A7A3F">
              <a:alpha val="50543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9" name="T7063"/>
          <p:cNvSpPr/>
          <p:nvPr/>
        </p:nvSpPr>
        <p:spPr>
          <a:xfrm>
            <a:off x="225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6.2M</a:t>
            </a:r>
            <a:endParaRPr lang="zh-CN" sz="570" dirty="0"/>
          </a:p>
        </p:txBody>
      </p:sp>
      <p:sp>
        <p:nvSpPr>
          <p:cNvPr id="60" name="T7064"/>
          <p:cNvSpPr/>
          <p:nvPr/>
        </p:nvSpPr>
        <p:spPr>
          <a:xfrm>
            <a:off x="225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16件</a:t>
            </a:r>
            <a:endParaRPr lang="zh-CN" sz="500" dirty="0"/>
          </a:p>
        </p:txBody>
      </p:sp>
      <p:sp>
        <p:nvSpPr>
          <p:cNvPr id="61" name="R7065"/>
          <p:cNvSpPr/>
          <p:nvPr/>
        </p:nvSpPr>
        <p:spPr>
          <a:xfrm>
            <a:off x="2641168" y="1332670"/>
            <a:ext cx="390000" cy="290000"/>
          </a:xfrm>
          <a:prstGeom prst="rect">
            <a:avLst/>
          </a:prstGeom>
          <a:solidFill>
            <a:srgbClr val="1A7A3F">
              <a:alpha val="63116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2" name="T7066"/>
          <p:cNvSpPr/>
          <p:nvPr/>
        </p:nvSpPr>
        <p:spPr>
          <a:xfrm>
            <a:off x="264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8.4M</a:t>
            </a:r>
            <a:endParaRPr lang="zh-CN" sz="570" dirty="0"/>
          </a:p>
        </p:txBody>
      </p:sp>
      <p:sp>
        <p:nvSpPr>
          <p:cNvPr id="63" name="T7067"/>
          <p:cNvSpPr/>
          <p:nvPr/>
        </p:nvSpPr>
        <p:spPr>
          <a:xfrm>
            <a:off x="264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22件</a:t>
            </a:r>
            <a:endParaRPr lang="zh-CN" sz="500" dirty="0"/>
          </a:p>
        </p:txBody>
      </p:sp>
      <p:sp>
        <p:nvSpPr>
          <p:cNvPr id="64" name="R7068"/>
          <p:cNvSpPr/>
          <p:nvPr/>
        </p:nvSpPr>
        <p:spPr>
          <a:xfrm>
            <a:off x="3031168" y="1332670"/>
            <a:ext cx="390000" cy="290000"/>
          </a:xfrm>
          <a:prstGeom prst="rect">
            <a:avLst/>
          </a:prstGeom>
          <a:solidFill>
            <a:srgbClr val="1A7A3F">
              <a:alpha val="2530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5" name="T7069"/>
          <p:cNvSpPr/>
          <p:nvPr/>
        </p:nvSpPr>
        <p:spPr>
          <a:xfrm>
            <a:off x="303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1.8M</a:t>
            </a:r>
            <a:endParaRPr lang="zh-CN" sz="570" dirty="0"/>
          </a:p>
        </p:txBody>
      </p:sp>
      <p:sp>
        <p:nvSpPr>
          <p:cNvPr id="66" name="T7070"/>
          <p:cNvSpPr/>
          <p:nvPr/>
        </p:nvSpPr>
        <p:spPr>
          <a:xfrm>
            <a:off x="303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67" name="R7071"/>
          <p:cNvSpPr/>
          <p:nvPr/>
        </p:nvSpPr>
        <p:spPr>
          <a:xfrm>
            <a:off x="3421168" y="1332670"/>
            <a:ext cx="390000" cy="290000"/>
          </a:xfrm>
          <a:prstGeom prst="rect">
            <a:avLst/>
          </a:prstGeom>
          <a:solidFill>
            <a:srgbClr val="1A7A3F">
              <a:alpha val="4848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8" name="T7072"/>
          <p:cNvSpPr/>
          <p:nvPr/>
        </p:nvSpPr>
        <p:spPr>
          <a:xfrm>
            <a:off x="342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zh-CN" sz="570" dirty="0"/>
          </a:p>
        </p:txBody>
      </p:sp>
      <p:sp>
        <p:nvSpPr>
          <p:cNvPr id="69" name="T7073"/>
          <p:cNvSpPr/>
          <p:nvPr/>
        </p:nvSpPr>
        <p:spPr>
          <a:xfrm>
            <a:off x="342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17件</a:t>
            </a:r>
            <a:endParaRPr lang="zh-CN" sz="500" dirty="0"/>
          </a:p>
        </p:txBody>
      </p:sp>
      <p:sp>
        <p:nvSpPr>
          <p:cNvPr id="70" name="R7074"/>
          <p:cNvSpPr/>
          <p:nvPr/>
        </p:nvSpPr>
        <p:spPr>
          <a:xfrm>
            <a:off x="3811168" y="1332670"/>
            <a:ext cx="390000" cy="290000"/>
          </a:xfrm>
          <a:prstGeom prst="rect">
            <a:avLst/>
          </a:prstGeom>
          <a:solidFill>
            <a:srgbClr val="1A7A3F">
              <a:alpha val="32473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1" name="T7075"/>
          <p:cNvSpPr/>
          <p:nvPr/>
        </p:nvSpPr>
        <p:spPr>
          <a:xfrm>
            <a:off x="381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zh-CN" sz="570" dirty="0"/>
          </a:p>
        </p:txBody>
      </p:sp>
      <p:sp>
        <p:nvSpPr>
          <p:cNvPr id="72" name="T7076"/>
          <p:cNvSpPr/>
          <p:nvPr/>
        </p:nvSpPr>
        <p:spPr>
          <a:xfrm>
            <a:off x="381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</a:t>
            </a:r>
            <a:endParaRPr lang="zh-CN" sz="500" dirty="0"/>
          </a:p>
        </p:txBody>
      </p:sp>
      <p:sp>
        <p:nvSpPr>
          <p:cNvPr id="73" name="R7077"/>
          <p:cNvSpPr/>
          <p:nvPr/>
        </p:nvSpPr>
        <p:spPr>
          <a:xfrm>
            <a:off x="4201168" y="1332670"/>
            <a:ext cx="390000" cy="290000"/>
          </a:xfrm>
          <a:prstGeom prst="rect">
            <a:avLst/>
          </a:prstGeom>
          <a:solidFill>
            <a:srgbClr val="1A7A3F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4" name="T7078"/>
          <p:cNvSpPr/>
          <p:nvPr/>
        </p:nvSpPr>
        <p:spPr>
          <a:xfrm>
            <a:off x="420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11.3M</a:t>
            </a:r>
            <a:endParaRPr lang="zh-CN" sz="570" dirty="0"/>
          </a:p>
        </p:txBody>
      </p:sp>
      <p:sp>
        <p:nvSpPr>
          <p:cNvPr id="75" name="T7079"/>
          <p:cNvSpPr/>
          <p:nvPr/>
        </p:nvSpPr>
        <p:spPr>
          <a:xfrm>
            <a:off x="420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33件</a:t>
            </a:r>
            <a:endParaRPr lang="zh-CN" sz="500" dirty="0"/>
          </a:p>
        </p:txBody>
      </p:sp>
      <p:sp>
        <p:nvSpPr>
          <p:cNvPr id="76" name="R7080"/>
          <p:cNvSpPr/>
          <p:nvPr/>
        </p:nvSpPr>
        <p:spPr>
          <a:xfrm>
            <a:off x="4591168" y="1332670"/>
            <a:ext cx="390000" cy="290000"/>
          </a:xfrm>
          <a:prstGeom prst="rect">
            <a:avLst/>
          </a:prstGeom>
          <a:solidFill>
            <a:srgbClr val="1A7A3F">
              <a:alpha val="75313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7" name="T7081"/>
          <p:cNvSpPr/>
          <p:nvPr/>
        </p:nvSpPr>
        <p:spPr>
          <a:xfrm>
            <a:off x="459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10.5M</a:t>
            </a:r>
            <a:endParaRPr lang="zh-CN" sz="570" dirty="0"/>
          </a:p>
        </p:txBody>
      </p:sp>
      <p:sp>
        <p:nvSpPr>
          <p:cNvPr id="78" name="T7082"/>
          <p:cNvSpPr/>
          <p:nvPr/>
        </p:nvSpPr>
        <p:spPr>
          <a:xfrm>
            <a:off x="459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23件</a:t>
            </a:r>
            <a:endParaRPr lang="zh-CN" sz="500" dirty="0"/>
          </a:p>
        </p:txBody>
      </p:sp>
      <p:sp>
        <p:nvSpPr>
          <p:cNvPr id="79" name="R7083"/>
          <p:cNvSpPr/>
          <p:nvPr/>
        </p:nvSpPr>
        <p:spPr>
          <a:xfrm>
            <a:off x="4981168" y="1332670"/>
            <a:ext cx="390000" cy="290000"/>
          </a:xfrm>
          <a:prstGeom prst="rect">
            <a:avLst/>
          </a:prstGeom>
          <a:solidFill>
            <a:srgbClr val="1A7A3F">
              <a:alpha val="59325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0" name="T7084"/>
          <p:cNvSpPr/>
          <p:nvPr/>
        </p:nvSpPr>
        <p:spPr>
          <a:xfrm>
            <a:off x="498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10.4M</a:t>
            </a:r>
            <a:endParaRPr lang="zh-CN" sz="570" dirty="0"/>
          </a:p>
        </p:txBody>
      </p:sp>
      <p:sp>
        <p:nvSpPr>
          <p:cNvPr id="81" name="T7085"/>
          <p:cNvSpPr/>
          <p:nvPr/>
        </p:nvSpPr>
        <p:spPr>
          <a:xfrm>
            <a:off x="498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28件</a:t>
            </a:r>
            <a:endParaRPr lang="zh-CN" sz="500" dirty="0"/>
          </a:p>
        </p:txBody>
      </p:sp>
      <p:sp>
        <p:nvSpPr>
          <p:cNvPr id="82" name="R7086"/>
          <p:cNvSpPr/>
          <p:nvPr/>
        </p:nvSpPr>
        <p:spPr>
          <a:xfrm>
            <a:off x="5371168" y="1332670"/>
            <a:ext cx="390000" cy="290000"/>
          </a:xfrm>
          <a:prstGeom prst="rect">
            <a:avLst/>
          </a:prstGeom>
          <a:solidFill>
            <a:srgbClr val="374151">
              <a:alpha val="38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3" name="T7087"/>
          <p:cNvSpPr/>
          <p:nvPr/>
        </p:nvSpPr>
        <p:spPr>
          <a:xfrm>
            <a:off x="537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3.6M</a:t>
            </a:r>
            <a:endParaRPr lang="zh-CN" sz="570" dirty="0"/>
          </a:p>
        </p:txBody>
      </p:sp>
      <p:sp>
        <p:nvSpPr>
          <p:cNvPr id="84" name="T7088"/>
          <p:cNvSpPr/>
          <p:nvPr/>
        </p:nvSpPr>
        <p:spPr>
          <a:xfrm>
            <a:off x="537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12件</a:t>
            </a:r>
            <a:endParaRPr lang="zh-CN" sz="500" dirty="0"/>
          </a:p>
        </p:txBody>
      </p:sp>
      <p:sp>
        <p:nvSpPr>
          <p:cNvPr id="85" name="T7089"/>
          <p:cNvSpPr/>
          <p:nvPr/>
        </p:nvSpPr>
        <p:spPr>
          <a:xfrm>
            <a:off x="182880" y="1622670"/>
            <a:ext cx="498288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5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zh-CN" sz="580" dirty="0"/>
          </a:p>
        </p:txBody>
      </p:sp>
      <p:sp>
        <p:nvSpPr>
          <p:cNvPr id="86" name="R7090"/>
          <p:cNvSpPr/>
          <p:nvPr/>
        </p:nvSpPr>
        <p:spPr>
          <a:xfrm>
            <a:off x="691168" y="1622670"/>
            <a:ext cx="390000" cy="290000"/>
          </a:xfrm>
          <a:prstGeom prst="rect">
            <a:avLst/>
          </a:prstGeom>
          <a:solidFill>
            <a:srgbClr val="2980B9">
              <a:alpha val="16527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7" name="T7091"/>
          <p:cNvSpPr/>
          <p:nvPr/>
        </p:nvSpPr>
        <p:spPr>
          <a:xfrm>
            <a:off x="69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88" name="T7092"/>
          <p:cNvSpPr/>
          <p:nvPr/>
        </p:nvSpPr>
        <p:spPr>
          <a:xfrm>
            <a:off x="69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89" name="R7093"/>
          <p:cNvSpPr/>
          <p:nvPr/>
        </p:nvSpPr>
        <p:spPr>
          <a:xfrm>
            <a:off x="1081168" y="1622670"/>
            <a:ext cx="390000" cy="290000"/>
          </a:xfrm>
          <a:prstGeom prst="rect">
            <a:avLst/>
          </a:prstGeom>
          <a:solidFill>
            <a:srgbClr val="2980B9">
              <a:alpha val="26455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90" name="T7094"/>
          <p:cNvSpPr/>
          <p:nvPr/>
        </p:nvSpPr>
        <p:spPr>
          <a:xfrm>
            <a:off x="108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1.2M</a:t>
            </a:r>
            <a:endParaRPr lang="zh-CN" sz="570" dirty="0"/>
          </a:p>
        </p:txBody>
      </p:sp>
      <p:sp>
        <p:nvSpPr>
          <p:cNvPr id="91" name="T7095"/>
          <p:cNvSpPr/>
          <p:nvPr/>
        </p:nvSpPr>
        <p:spPr>
          <a:xfrm>
            <a:off x="108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8件</a:t>
            </a:r>
            <a:endParaRPr lang="zh-CN" sz="500" dirty="0"/>
          </a:p>
        </p:txBody>
      </p:sp>
      <p:sp>
        <p:nvSpPr>
          <p:cNvPr id="92" name="R7096"/>
          <p:cNvSpPr/>
          <p:nvPr/>
        </p:nvSpPr>
        <p:spPr>
          <a:xfrm>
            <a:off x="1471168" y="1622670"/>
            <a:ext cx="390000" cy="290000"/>
          </a:xfrm>
          <a:prstGeom prst="rect">
            <a:avLst/>
          </a:prstGeom>
          <a:solidFill>
            <a:srgbClr val="2980B9">
              <a:alpha val="41395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93" name="T7097"/>
          <p:cNvSpPr/>
          <p:nvPr/>
        </p:nvSpPr>
        <p:spPr>
          <a:xfrm>
            <a:off x="147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2.7M</a:t>
            </a:r>
            <a:endParaRPr lang="zh-CN" sz="570" dirty="0"/>
          </a:p>
        </p:txBody>
      </p:sp>
      <p:sp>
        <p:nvSpPr>
          <p:cNvPr id="94" name="T7098"/>
          <p:cNvSpPr/>
          <p:nvPr/>
        </p:nvSpPr>
        <p:spPr>
          <a:xfrm>
            <a:off x="147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9件</a:t>
            </a:r>
            <a:endParaRPr lang="zh-CN" sz="500" dirty="0"/>
          </a:p>
        </p:txBody>
      </p:sp>
      <p:sp>
        <p:nvSpPr>
          <p:cNvPr id="95" name="R7099"/>
          <p:cNvSpPr/>
          <p:nvPr/>
        </p:nvSpPr>
        <p:spPr>
          <a:xfrm>
            <a:off x="1861168" y="1622670"/>
            <a:ext cx="390000" cy="290000"/>
          </a:xfrm>
          <a:prstGeom prst="rect">
            <a:avLst/>
          </a:prstGeom>
          <a:solidFill>
            <a:srgbClr val="2980B9">
              <a:alpha val="38801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96" name="T7100"/>
          <p:cNvSpPr/>
          <p:nvPr/>
        </p:nvSpPr>
        <p:spPr>
          <a:xfrm>
            <a:off x="186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zh-CN" sz="570" dirty="0"/>
          </a:p>
        </p:txBody>
      </p:sp>
      <p:sp>
        <p:nvSpPr>
          <p:cNvPr id="97" name="T7101"/>
          <p:cNvSpPr/>
          <p:nvPr/>
        </p:nvSpPr>
        <p:spPr>
          <a:xfrm>
            <a:off x="186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6件</a:t>
            </a:r>
            <a:endParaRPr lang="zh-CN" sz="500" dirty="0"/>
          </a:p>
        </p:txBody>
      </p:sp>
      <p:sp>
        <p:nvSpPr>
          <p:cNvPr id="98" name="R7102"/>
          <p:cNvSpPr/>
          <p:nvPr/>
        </p:nvSpPr>
        <p:spPr>
          <a:xfrm>
            <a:off x="2251168" y="1622670"/>
            <a:ext cx="390000" cy="290000"/>
          </a:xfrm>
          <a:prstGeom prst="rect">
            <a:avLst/>
          </a:prstGeom>
          <a:solidFill>
            <a:srgbClr val="2980B9">
              <a:alpha val="6715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99" name="T7103"/>
          <p:cNvSpPr/>
          <p:nvPr/>
        </p:nvSpPr>
        <p:spPr>
          <a:xfrm>
            <a:off x="225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5.3M</a:t>
            </a:r>
            <a:endParaRPr lang="zh-CN" sz="570" dirty="0"/>
          </a:p>
        </p:txBody>
      </p:sp>
      <p:sp>
        <p:nvSpPr>
          <p:cNvPr id="100" name="T7104"/>
          <p:cNvSpPr/>
          <p:nvPr/>
        </p:nvSpPr>
        <p:spPr>
          <a:xfrm>
            <a:off x="225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101" name="R7105"/>
          <p:cNvSpPr/>
          <p:nvPr/>
        </p:nvSpPr>
        <p:spPr>
          <a:xfrm>
            <a:off x="2641168" y="1622670"/>
            <a:ext cx="390000" cy="290000"/>
          </a:xfrm>
          <a:prstGeom prst="rect">
            <a:avLst/>
          </a:prstGeom>
          <a:solidFill>
            <a:srgbClr val="2980B9">
              <a:alpha val="54299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02" name="T7106"/>
          <p:cNvSpPr/>
          <p:nvPr/>
        </p:nvSpPr>
        <p:spPr>
          <a:xfrm>
            <a:off x="264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4.0M</a:t>
            </a:r>
            <a:endParaRPr lang="zh-CN" sz="570" dirty="0"/>
          </a:p>
        </p:txBody>
      </p:sp>
      <p:sp>
        <p:nvSpPr>
          <p:cNvPr id="103" name="T7107"/>
          <p:cNvSpPr/>
          <p:nvPr/>
        </p:nvSpPr>
        <p:spPr>
          <a:xfrm>
            <a:off x="264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9件</a:t>
            </a:r>
            <a:endParaRPr lang="zh-CN" sz="500" dirty="0"/>
          </a:p>
        </p:txBody>
      </p:sp>
      <p:sp>
        <p:nvSpPr>
          <p:cNvPr id="104" name="R7108"/>
          <p:cNvSpPr/>
          <p:nvPr/>
        </p:nvSpPr>
        <p:spPr>
          <a:xfrm>
            <a:off x="3031168" y="1622670"/>
            <a:ext cx="390000" cy="290000"/>
          </a:xfrm>
          <a:prstGeom prst="rect">
            <a:avLst/>
          </a:prstGeom>
          <a:solidFill>
            <a:srgbClr val="2980B9">
              <a:alpha val="21109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05" name="T7109"/>
          <p:cNvSpPr/>
          <p:nvPr/>
        </p:nvSpPr>
        <p:spPr>
          <a:xfrm>
            <a:off x="303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0.6M</a:t>
            </a:r>
            <a:endParaRPr lang="zh-CN" sz="570" dirty="0"/>
          </a:p>
        </p:txBody>
      </p:sp>
      <p:sp>
        <p:nvSpPr>
          <p:cNvPr id="106" name="T7110"/>
          <p:cNvSpPr/>
          <p:nvPr/>
        </p:nvSpPr>
        <p:spPr>
          <a:xfrm>
            <a:off x="303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107" name="R7111"/>
          <p:cNvSpPr/>
          <p:nvPr/>
        </p:nvSpPr>
        <p:spPr>
          <a:xfrm>
            <a:off x="3421168" y="1622670"/>
            <a:ext cx="390000" cy="290000"/>
          </a:xfrm>
          <a:prstGeom prst="rect">
            <a:avLst/>
          </a:prstGeom>
          <a:solidFill>
            <a:srgbClr val="2980B9">
              <a:alpha val="1881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08" name="T7112"/>
          <p:cNvSpPr/>
          <p:nvPr/>
        </p:nvSpPr>
        <p:spPr>
          <a:xfrm>
            <a:off x="342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zh-CN" sz="570" dirty="0"/>
          </a:p>
        </p:txBody>
      </p:sp>
      <p:sp>
        <p:nvSpPr>
          <p:cNvPr id="109" name="T7113"/>
          <p:cNvSpPr/>
          <p:nvPr/>
        </p:nvSpPr>
        <p:spPr>
          <a:xfrm>
            <a:off x="342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110" name="R7114"/>
          <p:cNvSpPr/>
          <p:nvPr/>
        </p:nvSpPr>
        <p:spPr>
          <a:xfrm>
            <a:off x="3811168" y="1622670"/>
            <a:ext cx="390000" cy="290000"/>
          </a:xfrm>
          <a:prstGeom prst="rect">
            <a:avLst/>
          </a:prstGeom>
          <a:solidFill>
            <a:srgbClr val="2980B9">
              <a:alpha val="1627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11" name="T7115"/>
          <p:cNvSpPr/>
          <p:nvPr/>
        </p:nvSpPr>
        <p:spPr>
          <a:xfrm>
            <a:off x="381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112" name="T7116"/>
          <p:cNvSpPr/>
          <p:nvPr/>
        </p:nvSpPr>
        <p:spPr>
          <a:xfrm>
            <a:off x="381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113" name="R7117"/>
          <p:cNvSpPr/>
          <p:nvPr/>
        </p:nvSpPr>
        <p:spPr>
          <a:xfrm>
            <a:off x="4201168" y="1622670"/>
            <a:ext cx="390000" cy="290000"/>
          </a:xfrm>
          <a:prstGeom prst="rect">
            <a:avLst/>
          </a:prstGeom>
          <a:solidFill>
            <a:srgbClr val="2980B9">
              <a:alpha val="25869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14" name="T7118"/>
          <p:cNvSpPr/>
          <p:nvPr/>
        </p:nvSpPr>
        <p:spPr>
          <a:xfrm>
            <a:off x="420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1.1M</a:t>
            </a:r>
            <a:endParaRPr lang="zh-CN" sz="570" dirty="0"/>
          </a:p>
        </p:txBody>
      </p:sp>
      <p:sp>
        <p:nvSpPr>
          <p:cNvPr id="115" name="T7119"/>
          <p:cNvSpPr/>
          <p:nvPr/>
        </p:nvSpPr>
        <p:spPr>
          <a:xfrm>
            <a:off x="420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116" name="R7120"/>
          <p:cNvSpPr/>
          <p:nvPr/>
        </p:nvSpPr>
        <p:spPr>
          <a:xfrm>
            <a:off x="4591168" y="1622670"/>
            <a:ext cx="390000" cy="290000"/>
          </a:xfrm>
          <a:prstGeom prst="rect">
            <a:avLst/>
          </a:prstGeom>
          <a:solidFill>
            <a:srgbClr val="2980B9">
              <a:alpha val="5509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17" name="T7121"/>
          <p:cNvSpPr/>
          <p:nvPr/>
        </p:nvSpPr>
        <p:spPr>
          <a:xfrm>
            <a:off x="459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4.1M</a:t>
            </a:r>
            <a:endParaRPr lang="zh-CN" sz="570" dirty="0"/>
          </a:p>
        </p:txBody>
      </p:sp>
      <p:sp>
        <p:nvSpPr>
          <p:cNvPr id="118" name="T7122"/>
          <p:cNvSpPr/>
          <p:nvPr/>
        </p:nvSpPr>
        <p:spPr>
          <a:xfrm>
            <a:off x="459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119" name="R7123"/>
          <p:cNvSpPr/>
          <p:nvPr/>
        </p:nvSpPr>
        <p:spPr>
          <a:xfrm>
            <a:off x="4981168" y="1622670"/>
            <a:ext cx="390000" cy="290000"/>
          </a:xfrm>
          <a:prstGeom prst="rect">
            <a:avLst/>
          </a:prstGeom>
          <a:solidFill>
            <a:srgbClr val="2980B9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20" name="T7124"/>
          <p:cNvSpPr/>
          <p:nvPr/>
        </p:nvSpPr>
        <p:spPr>
          <a:xfrm>
            <a:off x="498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6.6M</a:t>
            </a:r>
            <a:endParaRPr lang="zh-CN" sz="570" dirty="0"/>
          </a:p>
        </p:txBody>
      </p:sp>
      <p:sp>
        <p:nvSpPr>
          <p:cNvPr id="121" name="T7125"/>
          <p:cNvSpPr/>
          <p:nvPr/>
        </p:nvSpPr>
        <p:spPr>
          <a:xfrm>
            <a:off x="498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15件</a:t>
            </a:r>
            <a:endParaRPr lang="zh-CN" sz="500" dirty="0"/>
          </a:p>
        </p:txBody>
      </p:sp>
      <p:sp>
        <p:nvSpPr>
          <p:cNvPr id="122" name="R7126"/>
          <p:cNvSpPr/>
          <p:nvPr/>
        </p:nvSpPr>
        <p:spPr>
          <a:xfrm>
            <a:off x="5371168" y="1622670"/>
            <a:ext cx="390000" cy="290000"/>
          </a:xfrm>
          <a:prstGeom prst="rect">
            <a:avLst/>
          </a:prstGeom>
          <a:solidFill>
            <a:srgbClr val="374151">
              <a:alpha val="38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23" name="T7127"/>
          <p:cNvSpPr/>
          <p:nvPr/>
        </p:nvSpPr>
        <p:spPr>
          <a:xfrm>
            <a:off x="537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zh-CN" sz="570" dirty="0"/>
          </a:p>
        </p:txBody>
      </p:sp>
      <p:sp>
        <p:nvSpPr>
          <p:cNvPr id="124" name="T7128"/>
          <p:cNvSpPr/>
          <p:nvPr/>
        </p:nvSpPr>
        <p:spPr>
          <a:xfrm>
            <a:off x="537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8件</a:t>
            </a:r>
            <a:endParaRPr lang="zh-CN" sz="500" dirty="0"/>
          </a:p>
        </p:txBody>
      </p:sp>
      <p:sp>
        <p:nvSpPr>
          <p:cNvPr id="125" name="T7129"/>
          <p:cNvSpPr/>
          <p:nvPr/>
        </p:nvSpPr>
        <p:spPr>
          <a:xfrm>
            <a:off x="182880" y="1912670"/>
            <a:ext cx="498288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5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zh-CN" sz="580" dirty="0"/>
          </a:p>
        </p:txBody>
      </p:sp>
      <p:sp>
        <p:nvSpPr>
          <p:cNvPr id="126" name="R7130"/>
          <p:cNvSpPr/>
          <p:nvPr/>
        </p:nvSpPr>
        <p:spPr>
          <a:xfrm>
            <a:off x="691168" y="1912670"/>
            <a:ext cx="390000" cy="290000"/>
          </a:xfrm>
          <a:prstGeom prst="rect">
            <a:avLst/>
          </a:prstGeom>
          <a:solidFill>
            <a:srgbClr val="E67E22">
              <a:alpha val="1841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27" name="T7131"/>
          <p:cNvSpPr/>
          <p:nvPr/>
        </p:nvSpPr>
        <p:spPr>
          <a:xfrm>
            <a:off x="69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128" name="T7132"/>
          <p:cNvSpPr/>
          <p:nvPr/>
        </p:nvSpPr>
        <p:spPr>
          <a:xfrm>
            <a:off x="69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129" name="R7133"/>
          <p:cNvSpPr/>
          <p:nvPr/>
        </p:nvSpPr>
        <p:spPr>
          <a:xfrm>
            <a:off x="1081168" y="1912670"/>
            <a:ext cx="390000" cy="290000"/>
          </a:xfrm>
          <a:prstGeom prst="rect">
            <a:avLst/>
          </a:prstGeom>
          <a:solidFill>
            <a:srgbClr val="E67E22">
              <a:alpha val="28916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30" name="T7134"/>
          <p:cNvSpPr/>
          <p:nvPr/>
        </p:nvSpPr>
        <p:spPr>
          <a:xfrm>
            <a:off x="108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0.9M</a:t>
            </a:r>
            <a:endParaRPr lang="zh-CN" sz="570" dirty="0"/>
          </a:p>
        </p:txBody>
      </p:sp>
      <p:sp>
        <p:nvSpPr>
          <p:cNvPr id="131" name="T7135"/>
          <p:cNvSpPr/>
          <p:nvPr/>
        </p:nvSpPr>
        <p:spPr>
          <a:xfrm>
            <a:off x="108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132" name="R7136"/>
          <p:cNvSpPr/>
          <p:nvPr/>
        </p:nvSpPr>
        <p:spPr>
          <a:xfrm>
            <a:off x="1471168" y="1912670"/>
            <a:ext cx="390000" cy="290000"/>
          </a:xfrm>
          <a:prstGeom prst="rect">
            <a:avLst/>
          </a:prstGeom>
          <a:solidFill>
            <a:srgbClr val="E67E22">
              <a:alpha val="73076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33" name="T7137"/>
          <p:cNvSpPr/>
          <p:nvPr/>
        </p:nvSpPr>
        <p:spPr>
          <a:xfrm>
            <a:off x="147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4.0M</a:t>
            </a:r>
            <a:endParaRPr lang="zh-CN" sz="570" dirty="0"/>
          </a:p>
        </p:txBody>
      </p:sp>
      <p:sp>
        <p:nvSpPr>
          <p:cNvPr id="134" name="T7138"/>
          <p:cNvSpPr/>
          <p:nvPr/>
        </p:nvSpPr>
        <p:spPr>
          <a:xfrm>
            <a:off x="147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135" name="R7139"/>
          <p:cNvSpPr/>
          <p:nvPr/>
        </p:nvSpPr>
        <p:spPr>
          <a:xfrm>
            <a:off x="1861168" y="1912670"/>
            <a:ext cx="390000" cy="290000"/>
          </a:xfrm>
          <a:prstGeom prst="rect">
            <a:avLst/>
          </a:prstGeom>
          <a:solidFill>
            <a:srgbClr val="E67E22">
              <a:alpha val="29826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36" name="T7140"/>
          <p:cNvSpPr/>
          <p:nvPr/>
        </p:nvSpPr>
        <p:spPr>
          <a:xfrm>
            <a:off x="186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zh-CN" sz="570" dirty="0"/>
          </a:p>
        </p:txBody>
      </p:sp>
      <p:sp>
        <p:nvSpPr>
          <p:cNvPr id="137" name="T7141"/>
          <p:cNvSpPr/>
          <p:nvPr/>
        </p:nvSpPr>
        <p:spPr>
          <a:xfrm>
            <a:off x="186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138" name="R7142"/>
          <p:cNvSpPr/>
          <p:nvPr/>
        </p:nvSpPr>
        <p:spPr>
          <a:xfrm>
            <a:off x="2251168" y="1912670"/>
            <a:ext cx="390000" cy="290000"/>
          </a:xfrm>
          <a:prstGeom prst="rect">
            <a:avLst/>
          </a:prstGeom>
          <a:solidFill>
            <a:srgbClr val="E67E22">
              <a:alpha val="26396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39" name="T7143"/>
          <p:cNvSpPr/>
          <p:nvPr/>
        </p:nvSpPr>
        <p:spPr>
          <a:xfrm>
            <a:off x="225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0.8M</a:t>
            </a:r>
            <a:endParaRPr lang="zh-CN" sz="570" dirty="0"/>
          </a:p>
        </p:txBody>
      </p:sp>
      <p:sp>
        <p:nvSpPr>
          <p:cNvPr id="140" name="T7144"/>
          <p:cNvSpPr/>
          <p:nvPr/>
        </p:nvSpPr>
        <p:spPr>
          <a:xfrm>
            <a:off x="225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141" name="R7145"/>
          <p:cNvSpPr/>
          <p:nvPr/>
        </p:nvSpPr>
        <p:spPr>
          <a:xfrm>
            <a:off x="2641168" y="1912670"/>
            <a:ext cx="390000" cy="290000"/>
          </a:xfrm>
          <a:prstGeom prst="rect">
            <a:avLst/>
          </a:prstGeom>
          <a:solidFill>
            <a:srgbClr val="E67E22">
              <a:alpha val="2673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42" name="T7146"/>
          <p:cNvSpPr/>
          <p:nvPr/>
        </p:nvSpPr>
        <p:spPr>
          <a:xfrm>
            <a:off x="264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0.8M</a:t>
            </a:r>
            <a:endParaRPr lang="zh-CN" sz="570" dirty="0"/>
          </a:p>
        </p:txBody>
      </p:sp>
      <p:sp>
        <p:nvSpPr>
          <p:cNvPr id="143" name="T7147"/>
          <p:cNvSpPr/>
          <p:nvPr/>
        </p:nvSpPr>
        <p:spPr>
          <a:xfrm>
            <a:off x="264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144" name="R7148"/>
          <p:cNvSpPr/>
          <p:nvPr/>
        </p:nvSpPr>
        <p:spPr>
          <a:xfrm>
            <a:off x="3031168" y="1912670"/>
            <a:ext cx="390000" cy="290000"/>
          </a:xfrm>
          <a:prstGeom prst="rect">
            <a:avLst/>
          </a:prstGeom>
          <a:solidFill>
            <a:srgbClr val="E67E22">
              <a:alpha val="1955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45" name="T7149"/>
          <p:cNvSpPr/>
          <p:nvPr/>
        </p:nvSpPr>
        <p:spPr>
          <a:xfrm>
            <a:off x="303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zh-CN" sz="570" dirty="0"/>
          </a:p>
        </p:txBody>
      </p:sp>
      <p:sp>
        <p:nvSpPr>
          <p:cNvPr id="146" name="T7150"/>
          <p:cNvSpPr/>
          <p:nvPr/>
        </p:nvSpPr>
        <p:spPr>
          <a:xfrm>
            <a:off x="303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147" name="R7151"/>
          <p:cNvSpPr/>
          <p:nvPr/>
        </p:nvSpPr>
        <p:spPr>
          <a:xfrm>
            <a:off x="3421168" y="1912670"/>
            <a:ext cx="390000" cy="290000"/>
          </a:xfrm>
          <a:prstGeom prst="rect">
            <a:avLst/>
          </a:prstGeom>
          <a:solidFill>
            <a:srgbClr val="E67E22">
              <a:alpha val="23029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48" name="T7152"/>
          <p:cNvSpPr/>
          <p:nvPr/>
        </p:nvSpPr>
        <p:spPr>
          <a:xfrm>
            <a:off x="342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0.6M</a:t>
            </a:r>
            <a:endParaRPr lang="zh-CN" sz="570" dirty="0"/>
          </a:p>
        </p:txBody>
      </p:sp>
      <p:sp>
        <p:nvSpPr>
          <p:cNvPr id="149" name="T7153"/>
          <p:cNvSpPr/>
          <p:nvPr/>
        </p:nvSpPr>
        <p:spPr>
          <a:xfrm>
            <a:off x="342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150" name="R7154"/>
          <p:cNvSpPr/>
          <p:nvPr/>
        </p:nvSpPr>
        <p:spPr>
          <a:xfrm>
            <a:off x="3811168" y="1912670"/>
            <a:ext cx="390000" cy="290000"/>
          </a:xfrm>
          <a:prstGeom prst="rect">
            <a:avLst/>
          </a:prstGeom>
          <a:solidFill>
            <a:srgbClr val="E67E22">
              <a:alpha val="2012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51" name="T7155"/>
          <p:cNvSpPr/>
          <p:nvPr/>
        </p:nvSpPr>
        <p:spPr>
          <a:xfrm>
            <a:off x="381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zh-CN" sz="570" dirty="0"/>
          </a:p>
        </p:txBody>
      </p:sp>
      <p:sp>
        <p:nvSpPr>
          <p:cNvPr id="152" name="T7156"/>
          <p:cNvSpPr/>
          <p:nvPr/>
        </p:nvSpPr>
        <p:spPr>
          <a:xfrm>
            <a:off x="381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153" name="R7157"/>
          <p:cNvSpPr/>
          <p:nvPr/>
        </p:nvSpPr>
        <p:spPr>
          <a:xfrm>
            <a:off x="4201168" y="1912670"/>
            <a:ext cx="390000" cy="290000"/>
          </a:xfrm>
          <a:prstGeom prst="rect">
            <a:avLst/>
          </a:prstGeom>
          <a:solidFill>
            <a:srgbClr val="E67E22">
              <a:alpha val="29274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54" name="T7158"/>
          <p:cNvSpPr/>
          <p:nvPr/>
        </p:nvSpPr>
        <p:spPr>
          <a:xfrm>
            <a:off x="420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zh-CN" sz="570" dirty="0"/>
          </a:p>
        </p:txBody>
      </p:sp>
      <p:sp>
        <p:nvSpPr>
          <p:cNvPr id="155" name="T7159"/>
          <p:cNvSpPr/>
          <p:nvPr/>
        </p:nvSpPr>
        <p:spPr>
          <a:xfrm>
            <a:off x="420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156" name="R7160"/>
          <p:cNvSpPr/>
          <p:nvPr/>
        </p:nvSpPr>
        <p:spPr>
          <a:xfrm>
            <a:off x="4591168" y="1912670"/>
            <a:ext cx="390000" cy="290000"/>
          </a:xfrm>
          <a:prstGeom prst="rect">
            <a:avLst/>
          </a:prstGeom>
          <a:solidFill>
            <a:srgbClr val="E67E22">
              <a:alpha val="24626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57" name="T7161"/>
          <p:cNvSpPr/>
          <p:nvPr/>
        </p:nvSpPr>
        <p:spPr>
          <a:xfrm>
            <a:off x="459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0.7M</a:t>
            </a:r>
            <a:endParaRPr lang="zh-CN" sz="570" dirty="0"/>
          </a:p>
        </p:txBody>
      </p:sp>
      <p:sp>
        <p:nvSpPr>
          <p:cNvPr id="158" name="T7162"/>
          <p:cNvSpPr/>
          <p:nvPr/>
        </p:nvSpPr>
        <p:spPr>
          <a:xfrm>
            <a:off x="459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159" name="R7163"/>
          <p:cNvSpPr/>
          <p:nvPr/>
        </p:nvSpPr>
        <p:spPr>
          <a:xfrm>
            <a:off x="4981168" y="1912670"/>
            <a:ext cx="390000" cy="290000"/>
          </a:xfrm>
          <a:prstGeom prst="rect">
            <a:avLst/>
          </a:prstGeom>
          <a:solidFill>
            <a:srgbClr val="E67E22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60" name="T7164"/>
          <p:cNvSpPr/>
          <p:nvPr/>
        </p:nvSpPr>
        <p:spPr>
          <a:xfrm>
            <a:off x="498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4.8M</a:t>
            </a:r>
            <a:endParaRPr lang="zh-CN" sz="570" dirty="0"/>
          </a:p>
        </p:txBody>
      </p:sp>
      <p:sp>
        <p:nvSpPr>
          <p:cNvPr id="161" name="T7165"/>
          <p:cNvSpPr/>
          <p:nvPr/>
        </p:nvSpPr>
        <p:spPr>
          <a:xfrm>
            <a:off x="498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9件</a:t>
            </a:r>
            <a:endParaRPr lang="zh-CN" sz="500" dirty="0"/>
          </a:p>
        </p:txBody>
      </p:sp>
      <p:sp>
        <p:nvSpPr>
          <p:cNvPr id="162" name="T7169"/>
          <p:cNvSpPr/>
          <p:nvPr/>
        </p:nvSpPr>
        <p:spPr>
          <a:xfrm>
            <a:off x="182880" y="2202670"/>
            <a:ext cx="498288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5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zh-CN" sz="580" dirty="0"/>
          </a:p>
        </p:txBody>
      </p:sp>
      <p:sp>
        <p:nvSpPr>
          <p:cNvPr id="163" name="R7170"/>
          <p:cNvSpPr/>
          <p:nvPr/>
        </p:nvSpPr>
        <p:spPr>
          <a:xfrm>
            <a:off x="691168" y="220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64" name="R7171"/>
          <p:cNvSpPr/>
          <p:nvPr/>
        </p:nvSpPr>
        <p:spPr>
          <a:xfrm>
            <a:off x="1081168" y="2202670"/>
            <a:ext cx="390000" cy="290000"/>
          </a:xfrm>
          <a:prstGeom prst="rect">
            <a:avLst/>
          </a:prstGeom>
          <a:solidFill>
            <a:srgbClr val="8E44AD">
              <a:alpha val="27945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65" name="T7172"/>
          <p:cNvSpPr/>
          <p:nvPr/>
        </p:nvSpPr>
        <p:spPr>
          <a:xfrm>
            <a:off x="1081168" y="220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zh-CN" sz="570" dirty="0"/>
          </a:p>
        </p:txBody>
      </p:sp>
      <p:sp>
        <p:nvSpPr>
          <p:cNvPr id="166" name="T7173"/>
          <p:cNvSpPr/>
          <p:nvPr/>
        </p:nvSpPr>
        <p:spPr>
          <a:xfrm>
            <a:off x="1081168" y="237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167" name="R7174"/>
          <p:cNvSpPr/>
          <p:nvPr/>
        </p:nvSpPr>
        <p:spPr>
          <a:xfrm>
            <a:off x="1471168" y="220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68" name="R7175"/>
          <p:cNvSpPr/>
          <p:nvPr/>
        </p:nvSpPr>
        <p:spPr>
          <a:xfrm>
            <a:off x="1861168" y="220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69" name="R7176"/>
          <p:cNvSpPr/>
          <p:nvPr/>
        </p:nvSpPr>
        <p:spPr>
          <a:xfrm>
            <a:off x="2251168" y="2202670"/>
            <a:ext cx="390000" cy="290000"/>
          </a:xfrm>
          <a:prstGeom prst="rect">
            <a:avLst/>
          </a:prstGeom>
          <a:solidFill>
            <a:srgbClr val="8E44AD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70" name="T7177"/>
          <p:cNvSpPr/>
          <p:nvPr/>
        </p:nvSpPr>
        <p:spPr>
          <a:xfrm>
            <a:off x="2251168" y="220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12.0M</a:t>
            </a:r>
            <a:endParaRPr lang="zh-CN" sz="570" dirty="0"/>
          </a:p>
        </p:txBody>
      </p:sp>
      <p:sp>
        <p:nvSpPr>
          <p:cNvPr id="171" name="T7178"/>
          <p:cNvSpPr/>
          <p:nvPr/>
        </p:nvSpPr>
        <p:spPr>
          <a:xfrm>
            <a:off x="2251168" y="237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172" name="R7179"/>
          <p:cNvSpPr/>
          <p:nvPr/>
        </p:nvSpPr>
        <p:spPr>
          <a:xfrm>
            <a:off x="2641168" y="2202670"/>
            <a:ext cx="390000" cy="290000"/>
          </a:xfrm>
          <a:prstGeom prst="rect">
            <a:avLst/>
          </a:prstGeom>
          <a:solidFill>
            <a:srgbClr val="8E44AD">
              <a:alpha val="15591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73" name="T7180"/>
          <p:cNvSpPr/>
          <p:nvPr/>
        </p:nvSpPr>
        <p:spPr>
          <a:xfrm>
            <a:off x="2641168" y="220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174" name="T7181"/>
          <p:cNvSpPr/>
          <p:nvPr/>
        </p:nvSpPr>
        <p:spPr>
          <a:xfrm>
            <a:off x="2641168" y="237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175" name="R7182"/>
          <p:cNvSpPr/>
          <p:nvPr/>
        </p:nvSpPr>
        <p:spPr>
          <a:xfrm>
            <a:off x="3031168" y="220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76" name="R7183"/>
          <p:cNvSpPr/>
          <p:nvPr/>
        </p:nvSpPr>
        <p:spPr>
          <a:xfrm>
            <a:off x="3421168" y="220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77" name="R7184"/>
          <p:cNvSpPr/>
          <p:nvPr/>
        </p:nvSpPr>
        <p:spPr>
          <a:xfrm>
            <a:off x="3811168" y="220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78" name="R7185"/>
          <p:cNvSpPr/>
          <p:nvPr/>
        </p:nvSpPr>
        <p:spPr>
          <a:xfrm>
            <a:off x="4201168" y="220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79" name="R7186"/>
          <p:cNvSpPr/>
          <p:nvPr/>
        </p:nvSpPr>
        <p:spPr>
          <a:xfrm>
            <a:off x="4591168" y="220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80" name="R7187"/>
          <p:cNvSpPr/>
          <p:nvPr/>
        </p:nvSpPr>
        <p:spPr>
          <a:xfrm>
            <a:off x="4981168" y="2202670"/>
            <a:ext cx="390000" cy="290000"/>
          </a:xfrm>
          <a:prstGeom prst="rect">
            <a:avLst/>
          </a:prstGeom>
          <a:solidFill>
            <a:srgbClr val="8E44AD">
              <a:alpha val="33416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81" name="T7188"/>
          <p:cNvSpPr/>
          <p:nvPr/>
        </p:nvSpPr>
        <p:spPr>
          <a:xfrm>
            <a:off x="4981168" y="220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1.8M</a:t>
            </a:r>
            <a:endParaRPr lang="zh-CN" sz="570" dirty="0"/>
          </a:p>
        </p:txBody>
      </p:sp>
      <p:sp>
        <p:nvSpPr>
          <p:cNvPr id="182" name="T7189"/>
          <p:cNvSpPr/>
          <p:nvPr/>
        </p:nvSpPr>
        <p:spPr>
          <a:xfrm>
            <a:off x="4981168" y="237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183" name="T7193"/>
          <p:cNvSpPr/>
          <p:nvPr/>
        </p:nvSpPr>
        <p:spPr>
          <a:xfrm>
            <a:off x="182880" y="2492670"/>
            <a:ext cx="498288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5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成事+合伙</a:t>
            </a:r>
            <a:endParaRPr lang="zh-CN" sz="580" dirty="0"/>
          </a:p>
        </p:txBody>
      </p:sp>
      <p:sp>
        <p:nvSpPr>
          <p:cNvPr id="184" name="R7194"/>
          <p:cNvSpPr/>
          <p:nvPr/>
        </p:nvSpPr>
        <p:spPr>
          <a:xfrm>
            <a:off x="691168" y="2492670"/>
            <a:ext cx="390000" cy="290000"/>
          </a:xfrm>
          <a:prstGeom prst="rect">
            <a:avLst/>
          </a:prstGeom>
          <a:solidFill>
            <a:srgbClr val="94A3B8">
              <a:alpha val="48033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185" name="T7195"/>
          <p:cNvSpPr/>
          <p:nvPr/>
        </p:nvSpPr>
        <p:spPr>
          <a:xfrm>
            <a:off x="691168" y="249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0.9M</a:t>
            </a:r>
            <a:endParaRPr lang="zh-CN" sz="570" dirty="0"/>
          </a:p>
        </p:txBody>
      </p:sp>
      <p:sp>
        <p:nvSpPr>
          <p:cNvPr id="186" name="T7196"/>
          <p:cNvSpPr/>
          <p:nvPr/>
        </p:nvSpPr>
        <p:spPr>
          <a:xfrm>
            <a:off x="691168" y="266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190" name="R7197"/>
          <p:cNvSpPr/>
          <p:nvPr/>
        </p:nvSpPr>
        <p:spPr>
          <a:xfrm>
            <a:off x="1081168" y="249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249" name="R7198"/>
          <p:cNvSpPr/>
          <p:nvPr/>
        </p:nvSpPr>
        <p:spPr>
          <a:xfrm>
            <a:off x="1471168" y="2492670"/>
            <a:ext cx="390000" cy="290000"/>
          </a:xfrm>
          <a:prstGeom prst="rect">
            <a:avLst/>
          </a:prstGeom>
          <a:solidFill>
            <a:srgbClr val="94A3B8">
              <a:alpha val="20943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254" name="T7199"/>
          <p:cNvSpPr/>
          <p:nvPr/>
        </p:nvSpPr>
        <p:spPr>
          <a:xfrm>
            <a:off x="1471168" y="249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sz="570" dirty="0"/>
          </a:p>
        </p:txBody>
      </p:sp>
      <p:sp>
        <p:nvSpPr>
          <p:cNvPr id="257" name="T7200"/>
          <p:cNvSpPr/>
          <p:nvPr/>
        </p:nvSpPr>
        <p:spPr>
          <a:xfrm>
            <a:off x="1471168" y="266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sz="500" dirty="0"/>
          </a:p>
        </p:txBody>
      </p:sp>
      <p:sp>
        <p:nvSpPr>
          <p:cNvPr id="261" name="R7201"/>
          <p:cNvSpPr/>
          <p:nvPr/>
        </p:nvSpPr>
        <p:spPr>
          <a:xfrm>
            <a:off x="1861168" y="2492670"/>
            <a:ext cx="390000" cy="290000"/>
          </a:xfrm>
          <a:prstGeom prst="rect">
            <a:avLst/>
          </a:prstGeom>
          <a:solidFill>
            <a:srgbClr val="94A3B8">
              <a:alpha val="3164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265" name="T7202"/>
          <p:cNvSpPr/>
          <p:nvPr/>
        </p:nvSpPr>
        <p:spPr>
          <a:xfrm>
            <a:off x="1861168" y="249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266" name="T7203"/>
          <p:cNvSpPr/>
          <p:nvPr/>
        </p:nvSpPr>
        <p:spPr>
          <a:xfrm>
            <a:off x="1861168" y="266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267" name="R7204"/>
          <p:cNvSpPr/>
          <p:nvPr/>
        </p:nvSpPr>
        <p:spPr>
          <a:xfrm>
            <a:off x="2251168" y="2492670"/>
            <a:ext cx="390000" cy="290000"/>
          </a:xfrm>
          <a:prstGeom prst="rect">
            <a:avLst/>
          </a:prstGeom>
          <a:solidFill>
            <a:srgbClr val="94A3B8">
              <a:alpha val="32831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268" name="T7205"/>
          <p:cNvSpPr/>
          <p:nvPr/>
        </p:nvSpPr>
        <p:spPr>
          <a:xfrm>
            <a:off x="2251168" y="249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zh-CN" sz="570" dirty="0"/>
          </a:p>
        </p:txBody>
      </p:sp>
      <p:sp>
        <p:nvSpPr>
          <p:cNvPr id="269" name="T7206"/>
          <p:cNvSpPr/>
          <p:nvPr/>
        </p:nvSpPr>
        <p:spPr>
          <a:xfrm>
            <a:off x="2251168" y="266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270" name="R7207"/>
          <p:cNvSpPr/>
          <p:nvPr/>
        </p:nvSpPr>
        <p:spPr>
          <a:xfrm>
            <a:off x="2641168" y="249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271" name="R7208"/>
          <p:cNvSpPr/>
          <p:nvPr/>
        </p:nvSpPr>
        <p:spPr>
          <a:xfrm>
            <a:off x="3031168" y="249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272" name="R7209"/>
          <p:cNvSpPr/>
          <p:nvPr/>
        </p:nvSpPr>
        <p:spPr>
          <a:xfrm>
            <a:off x="3421168" y="2492670"/>
            <a:ext cx="390000" cy="290000"/>
          </a:xfrm>
          <a:prstGeom prst="rect">
            <a:avLst/>
          </a:prstGeom>
          <a:solidFill>
            <a:srgbClr val="94A3B8">
              <a:alpha val="1804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273" name="T7210"/>
          <p:cNvSpPr/>
          <p:nvPr/>
        </p:nvSpPr>
        <p:spPr>
          <a:xfrm>
            <a:off x="3421168" y="249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sz="570" dirty="0"/>
          </a:p>
        </p:txBody>
      </p:sp>
      <p:sp>
        <p:nvSpPr>
          <p:cNvPr id="274" name="T7211"/>
          <p:cNvSpPr/>
          <p:nvPr/>
        </p:nvSpPr>
        <p:spPr>
          <a:xfrm>
            <a:off x="3421168" y="266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sz="500" dirty="0"/>
          </a:p>
        </p:txBody>
      </p:sp>
      <p:sp>
        <p:nvSpPr>
          <p:cNvPr id="275" name="R7212"/>
          <p:cNvSpPr/>
          <p:nvPr/>
        </p:nvSpPr>
        <p:spPr>
          <a:xfrm>
            <a:off x="3811168" y="249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276" name="R7213"/>
          <p:cNvSpPr/>
          <p:nvPr/>
        </p:nvSpPr>
        <p:spPr>
          <a:xfrm>
            <a:off x="4201168" y="2492670"/>
            <a:ext cx="390000" cy="290000"/>
          </a:xfrm>
          <a:prstGeom prst="rect">
            <a:avLst/>
          </a:prstGeom>
          <a:solidFill>
            <a:srgbClr val="94A3B8">
              <a:alpha val="5306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277" name="T7214"/>
          <p:cNvSpPr/>
          <p:nvPr/>
        </p:nvSpPr>
        <p:spPr>
          <a:xfrm>
            <a:off x="4198620" y="2492375"/>
            <a:ext cx="39243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278" name="T7215"/>
          <p:cNvSpPr/>
          <p:nvPr/>
        </p:nvSpPr>
        <p:spPr>
          <a:xfrm>
            <a:off x="4201168" y="266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279" name="R7216"/>
          <p:cNvSpPr/>
          <p:nvPr/>
        </p:nvSpPr>
        <p:spPr>
          <a:xfrm>
            <a:off x="4591168" y="2492670"/>
            <a:ext cx="390000" cy="290000"/>
          </a:xfrm>
          <a:prstGeom prst="rect">
            <a:avLst/>
          </a:prstGeom>
          <a:solidFill>
            <a:srgbClr val="94A3B8">
              <a:alpha val="17971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280" name="T7217"/>
          <p:cNvSpPr/>
          <p:nvPr/>
        </p:nvSpPr>
        <p:spPr>
          <a:xfrm>
            <a:off x="4591168" y="249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281" name="T7218"/>
          <p:cNvSpPr/>
          <p:nvPr/>
        </p:nvSpPr>
        <p:spPr>
          <a:xfrm>
            <a:off x="4591168" y="266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282" name="R7219"/>
          <p:cNvSpPr/>
          <p:nvPr/>
        </p:nvSpPr>
        <p:spPr>
          <a:xfrm>
            <a:off x="4981168" y="2492670"/>
            <a:ext cx="390000" cy="290000"/>
          </a:xfrm>
          <a:prstGeom prst="rect">
            <a:avLst/>
          </a:prstGeom>
          <a:solidFill>
            <a:srgbClr val="94A3B8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283" name="T7220"/>
          <p:cNvSpPr/>
          <p:nvPr/>
        </p:nvSpPr>
        <p:spPr>
          <a:xfrm>
            <a:off x="4979670" y="2513330"/>
            <a:ext cx="391160" cy="1257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zh-CN" sz="570" dirty="0"/>
          </a:p>
        </p:txBody>
      </p:sp>
      <p:sp>
        <p:nvSpPr>
          <p:cNvPr id="284" name="T7221"/>
          <p:cNvSpPr/>
          <p:nvPr/>
        </p:nvSpPr>
        <p:spPr>
          <a:xfrm>
            <a:off x="4981168" y="266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6件</a:t>
            </a:r>
            <a:endParaRPr lang="zh-CN" sz="500" dirty="0"/>
          </a:p>
        </p:txBody>
      </p:sp>
      <p:sp>
        <p:nvSpPr>
          <p:cNvPr id="285" name="T7225"/>
          <p:cNvSpPr/>
          <p:nvPr/>
        </p:nvSpPr>
        <p:spPr>
          <a:xfrm>
            <a:off x="182880" y="2782670"/>
            <a:ext cx="498288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58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</a:t>
            </a:r>
            <a:endParaRPr lang="zh-CN" sz="580" dirty="0"/>
          </a:p>
        </p:txBody>
      </p:sp>
      <p:sp>
        <p:nvSpPr>
          <p:cNvPr id="286" name="R7226"/>
          <p:cNvSpPr/>
          <p:nvPr/>
        </p:nvSpPr>
        <p:spPr>
          <a:xfrm>
            <a:off x="691168" y="2782670"/>
            <a:ext cx="390000" cy="290000"/>
          </a:xfrm>
          <a:prstGeom prst="rect">
            <a:avLst/>
          </a:prstGeom>
          <a:solidFill>
            <a:srgbClr val="374151">
              <a:alpha val="2397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287" name="T7227"/>
          <p:cNvSpPr/>
          <p:nvPr/>
        </p:nvSpPr>
        <p:spPr>
          <a:xfrm>
            <a:off x="69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6.5M</a:t>
            </a:r>
            <a:endParaRPr lang="zh-CN" sz="570" dirty="0"/>
          </a:p>
        </p:txBody>
      </p:sp>
      <p:sp>
        <p:nvSpPr>
          <p:cNvPr id="288" name="T7228"/>
          <p:cNvSpPr/>
          <p:nvPr/>
        </p:nvSpPr>
        <p:spPr>
          <a:xfrm>
            <a:off x="69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16件</a:t>
            </a:r>
            <a:endParaRPr lang="zh-CN" sz="500" dirty="0"/>
          </a:p>
        </p:txBody>
      </p:sp>
      <p:sp>
        <p:nvSpPr>
          <p:cNvPr id="289" name="R7229"/>
          <p:cNvSpPr/>
          <p:nvPr/>
        </p:nvSpPr>
        <p:spPr>
          <a:xfrm>
            <a:off x="1081168" y="2782670"/>
            <a:ext cx="390000" cy="290000"/>
          </a:xfrm>
          <a:prstGeom prst="rect">
            <a:avLst/>
          </a:prstGeom>
          <a:solidFill>
            <a:srgbClr val="374151">
              <a:alpha val="34319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290" name="T7230"/>
          <p:cNvSpPr/>
          <p:nvPr/>
        </p:nvSpPr>
        <p:spPr>
          <a:xfrm>
            <a:off x="108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14.0M</a:t>
            </a:r>
            <a:endParaRPr lang="zh-CN" sz="570" dirty="0"/>
          </a:p>
        </p:txBody>
      </p:sp>
      <p:sp>
        <p:nvSpPr>
          <p:cNvPr id="291" name="T7231"/>
          <p:cNvSpPr/>
          <p:nvPr/>
        </p:nvSpPr>
        <p:spPr>
          <a:xfrm>
            <a:off x="108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</a:t>
            </a:r>
            <a:endParaRPr lang="zh-CN" sz="500" dirty="0"/>
          </a:p>
        </p:txBody>
      </p:sp>
      <p:sp>
        <p:nvSpPr>
          <p:cNvPr id="292" name="R7232"/>
          <p:cNvSpPr/>
          <p:nvPr/>
        </p:nvSpPr>
        <p:spPr>
          <a:xfrm>
            <a:off x="1471168" y="2782670"/>
            <a:ext cx="390000" cy="290000"/>
          </a:xfrm>
          <a:prstGeom prst="rect">
            <a:avLst/>
          </a:prstGeom>
          <a:solidFill>
            <a:srgbClr val="374151">
              <a:alpha val="4081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293" name="T7233"/>
          <p:cNvSpPr/>
          <p:nvPr/>
        </p:nvSpPr>
        <p:spPr>
          <a:xfrm>
            <a:off x="147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18.8M</a:t>
            </a:r>
            <a:endParaRPr lang="zh-CN" sz="570" dirty="0"/>
          </a:p>
        </p:txBody>
      </p:sp>
      <p:sp>
        <p:nvSpPr>
          <p:cNvPr id="294" name="T7234"/>
          <p:cNvSpPr/>
          <p:nvPr/>
        </p:nvSpPr>
        <p:spPr>
          <a:xfrm>
            <a:off x="147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36件</a:t>
            </a:r>
            <a:endParaRPr lang="zh-CN" sz="500" dirty="0"/>
          </a:p>
        </p:txBody>
      </p:sp>
      <p:sp>
        <p:nvSpPr>
          <p:cNvPr id="295" name="R7235"/>
          <p:cNvSpPr/>
          <p:nvPr/>
        </p:nvSpPr>
        <p:spPr>
          <a:xfrm>
            <a:off x="1861168" y="2782670"/>
            <a:ext cx="390000" cy="290000"/>
          </a:xfrm>
          <a:prstGeom prst="rect">
            <a:avLst/>
          </a:prstGeom>
          <a:solidFill>
            <a:srgbClr val="374151">
              <a:alpha val="29095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296" name="T7236"/>
          <p:cNvSpPr/>
          <p:nvPr/>
        </p:nvSpPr>
        <p:spPr>
          <a:xfrm>
            <a:off x="186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10.2M</a:t>
            </a:r>
            <a:endParaRPr lang="zh-CN" sz="570" dirty="0"/>
          </a:p>
        </p:txBody>
      </p:sp>
      <p:sp>
        <p:nvSpPr>
          <p:cNvPr id="297" name="T7237"/>
          <p:cNvSpPr/>
          <p:nvPr/>
        </p:nvSpPr>
        <p:spPr>
          <a:xfrm>
            <a:off x="186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34件</a:t>
            </a:r>
            <a:endParaRPr lang="zh-CN" sz="500" dirty="0"/>
          </a:p>
        </p:txBody>
      </p:sp>
      <p:sp>
        <p:nvSpPr>
          <p:cNvPr id="298" name="R7238"/>
          <p:cNvSpPr/>
          <p:nvPr/>
        </p:nvSpPr>
        <p:spPr>
          <a:xfrm>
            <a:off x="2251168" y="2782670"/>
            <a:ext cx="390000" cy="290000"/>
          </a:xfrm>
          <a:prstGeom prst="rect">
            <a:avLst/>
          </a:prstGeom>
          <a:solidFill>
            <a:srgbClr val="374151">
              <a:alpha val="55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299" name="T7239"/>
          <p:cNvSpPr/>
          <p:nvPr/>
        </p:nvSpPr>
        <p:spPr>
          <a:xfrm>
            <a:off x="225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29.1M</a:t>
            </a:r>
            <a:endParaRPr lang="zh-CN" sz="570" dirty="0"/>
          </a:p>
        </p:txBody>
      </p:sp>
      <p:sp>
        <p:nvSpPr>
          <p:cNvPr id="300" name="T7240"/>
          <p:cNvSpPr/>
          <p:nvPr/>
        </p:nvSpPr>
        <p:spPr>
          <a:xfrm>
            <a:off x="225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34件</a:t>
            </a:r>
            <a:endParaRPr lang="zh-CN" sz="500" dirty="0"/>
          </a:p>
        </p:txBody>
      </p:sp>
      <p:sp>
        <p:nvSpPr>
          <p:cNvPr id="301" name="R7241"/>
          <p:cNvSpPr/>
          <p:nvPr/>
        </p:nvSpPr>
        <p:spPr>
          <a:xfrm>
            <a:off x="2641168" y="2782670"/>
            <a:ext cx="390000" cy="290000"/>
          </a:xfrm>
          <a:prstGeom prst="rect">
            <a:avLst/>
          </a:prstGeom>
          <a:solidFill>
            <a:srgbClr val="374151">
              <a:alpha val="3754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02" name="T7242"/>
          <p:cNvSpPr/>
          <p:nvPr/>
        </p:nvSpPr>
        <p:spPr>
          <a:xfrm>
            <a:off x="264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16.4M</a:t>
            </a:r>
            <a:endParaRPr lang="zh-CN" sz="570" dirty="0"/>
          </a:p>
        </p:txBody>
      </p:sp>
      <p:sp>
        <p:nvSpPr>
          <p:cNvPr id="303" name="T7243"/>
          <p:cNvSpPr/>
          <p:nvPr/>
        </p:nvSpPr>
        <p:spPr>
          <a:xfrm>
            <a:off x="264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38件</a:t>
            </a:r>
            <a:endParaRPr lang="zh-CN" sz="500" dirty="0"/>
          </a:p>
        </p:txBody>
      </p:sp>
      <p:sp>
        <p:nvSpPr>
          <p:cNvPr id="304" name="R7244"/>
          <p:cNvSpPr/>
          <p:nvPr/>
        </p:nvSpPr>
        <p:spPr>
          <a:xfrm>
            <a:off x="3031168" y="2782670"/>
            <a:ext cx="390000" cy="290000"/>
          </a:xfrm>
          <a:prstGeom prst="rect">
            <a:avLst/>
          </a:prstGeom>
          <a:solidFill>
            <a:srgbClr val="374151">
              <a:alpha val="1875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05" name="T7245"/>
          <p:cNvSpPr/>
          <p:nvPr/>
        </p:nvSpPr>
        <p:spPr>
          <a:xfrm>
            <a:off x="303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2.7M</a:t>
            </a:r>
            <a:endParaRPr lang="zh-CN" sz="570" dirty="0"/>
          </a:p>
        </p:txBody>
      </p:sp>
      <p:sp>
        <p:nvSpPr>
          <p:cNvPr id="306" name="T7246"/>
          <p:cNvSpPr/>
          <p:nvPr/>
        </p:nvSpPr>
        <p:spPr>
          <a:xfrm>
            <a:off x="303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8件</a:t>
            </a:r>
            <a:endParaRPr lang="zh-CN" sz="500" dirty="0"/>
          </a:p>
        </p:txBody>
      </p:sp>
      <p:sp>
        <p:nvSpPr>
          <p:cNvPr id="307" name="R7247"/>
          <p:cNvSpPr/>
          <p:nvPr/>
        </p:nvSpPr>
        <p:spPr>
          <a:xfrm>
            <a:off x="3421168" y="2782670"/>
            <a:ext cx="390000" cy="290000"/>
          </a:xfrm>
          <a:prstGeom prst="rect">
            <a:avLst/>
          </a:prstGeom>
          <a:solidFill>
            <a:srgbClr val="374151">
              <a:alpha val="2443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08" name="T7248"/>
          <p:cNvSpPr/>
          <p:nvPr/>
        </p:nvSpPr>
        <p:spPr>
          <a:xfrm>
            <a:off x="342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6.8M</a:t>
            </a:r>
            <a:endParaRPr lang="zh-CN" sz="570" dirty="0"/>
          </a:p>
        </p:txBody>
      </p:sp>
      <p:sp>
        <p:nvSpPr>
          <p:cNvPr id="309" name="T7249"/>
          <p:cNvSpPr/>
          <p:nvPr/>
        </p:nvSpPr>
        <p:spPr>
          <a:xfrm>
            <a:off x="342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24件</a:t>
            </a:r>
            <a:endParaRPr lang="zh-CN" sz="500" dirty="0"/>
          </a:p>
        </p:txBody>
      </p:sp>
      <p:sp>
        <p:nvSpPr>
          <p:cNvPr id="310" name="R7250"/>
          <p:cNvSpPr/>
          <p:nvPr/>
        </p:nvSpPr>
        <p:spPr>
          <a:xfrm>
            <a:off x="3811168" y="2782670"/>
            <a:ext cx="390000" cy="290000"/>
          </a:xfrm>
          <a:prstGeom prst="rect">
            <a:avLst/>
          </a:prstGeom>
          <a:solidFill>
            <a:srgbClr val="374151">
              <a:alpha val="2307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11" name="T7251"/>
          <p:cNvSpPr/>
          <p:nvPr/>
        </p:nvSpPr>
        <p:spPr>
          <a:xfrm>
            <a:off x="381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5.9M</a:t>
            </a:r>
            <a:endParaRPr lang="zh-CN" sz="570" dirty="0"/>
          </a:p>
        </p:txBody>
      </p:sp>
      <p:sp>
        <p:nvSpPr>
          <p:cNvPr id="312" name="T7252"/>
          <p:cNvSpPr/>
          <p:nvPr/>
        </p:nvSpPr>
        <p:spPr>
          <a:xfrm>
            <a:off x="381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24件</a:t>
            </a:r>
            <a:endParaRPr lang="zh-CN" sz="500" dirty="0"/>
          </a:p>
        </p:txBody>
      </p:sp>
      <p:sp>
        <p:nvSpPr>
          <p:cNvPr id="313" name="R7253"/>
          <p:cNvSpPr/>
          <p:nvPr/>
        </p:nvSpPr>
        <p:spPr>
          <a:xfrm>
            <a:off x="4201168" y="2782670"/>
            <a:ext cx="390000" cy="290000"/>
          </a:xfrm>
          <a:prstGeom prst="rect">
            <a:avLst/>
          </a:prstGeom>
          <a:solidFill>
            <a:srgbClr val="374151">
              <a:alpha val="4342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14" name="T7254"/>
          <p:cNvSpPr/>
          <p:nvPr/>
        </p:nvSpPr>
        <p:spPr>
          <a:xfrm>
            <a:off x="420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19.9M</a:t>
            </a:r>
            <a:endParaRPr lang="zh-CN" sz="570" dirty="0"/>
          </a:p>
        </p:txBody>
      </p:sp>
      <p:sp>
        <p:nvSpPr>
          <p:cNvPr id="315" name="T7255"/>
          <p:cNvSpPr/>
          <p:nvPr/>
        </p:nvSpPr>
        <p:spPr>
          <a:xfrm>
            <a:off x="420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52件</a:t>
            </a:r>
            <a:endParaRPr lang="zh-CN" sz="500" dirty="0"/>
          </a:p>
        </p:txBody>
      </p:sp>
      <p:sp>
        <p:nvSpPr>
          <p:cNvPr id="316" name="R7256"/>
          <p:cNvSpPr/>
          <p:nvPr/>
        </p:nvSpPr>
        <p:spPr>
          <a:xfrm>
            <a:off x="4591168" y="2782670"/>
            <a:ext cx="390000" cy="290000"/>
          </a:xfrm>
          <a:prstGeom prst="rect">
            <a:avLst/>
          </a:prstGeom>
          <a:solidFill>
            <a:srgbClr val="374151">
              <a:alpha val="4201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17" name="T7257"/>
          <p:cNvSpPr/>
          <p:nvPr/>
        </p:nvSpPr>
        <p:spPr>
          <a:xfrm>
            <a:off x="459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19.6M</a:t>
            </a:r>
            <a:endParaRPr lang="zh-CN" sz="570" dirty="0"/>
          </a:p>
        </p:txBody>
      </p:sp>
      <p:sp>
        <p:nvSpPr>
          <p:cNvPr id="318" name="T7258"/>
          <p:cNvSpPr/>
          <p:nvPr/>
        </p:nvSpPr>
        <p:spPr>
          <a:xfrm>
            <a:off x="459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41件</a:t>
            </a:r>
            <a:endParaRPr lang="zh-CN" sz="500" dirty="0"/>
          </a:p>
        </p:txBody>
      </p:sp>
      <p:sp>
        <p:nvSpPr>
          <p:cNvPr id="319" name="R7259"/>
          <p:cNvSpPr/>
          <p:nvPr/>
        </p:nvSpPr>
        <p:spPr>
          <a:xfrm>
            <a:off x="4981168" y="2782670"/>
            <a:ext cx="390000" cy="290000"/>
          </a:xfrm>
          <a:prstGeom prst="rect">
            <a:avLst/>
          </a:prstGeom>
          <a:solidFill>
            <a:srgbClr val="374151">
              <a:alpha val="50606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20" name="T7260"/>
          <p:cNvSpPr/>
          <p:nvPr/>
        </p:nvSpPr>
        <p:spPr>
          <a:xfrm>
            <a:off x="498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28.1M</a:t>
            </a:r>
            <a:endParaRPr lang="zh-CN" sz="570" dirty="0"/>
          </a:p>
        </p:txBody>
      </p:sp>
      <p:sp>
        <p:nvSpPr>
          <p:cNvPr id="321" name="T7261"/>
          <p:cNvSpPr/>
          <p:nvPr/>
        </p:nvSpPr>
        <p:spPr>
          <a:xfrm>
            <a:off x="498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63件</a:t>
            </a:r>
            <a:endParaRPr lang="zh-CN" sz="500" dirty="0"/>
          </a:p>
        </p:txBody>
      </p:sp>
      <p:sp>
        <p:nvSpPr>
          <p:cNvPr id="322" name="R7033"/>
          <p:cNvSpPr/>
          <p:nvPr/>
        </p:nvSpPr>
        <p:spPr>
          <a:xfrm>
            <a:off x="5377603" y="104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23" name="R7033"/>
          <p:cNvSpPr/>
          <p:nvPr/>
        </p:nvSpPr>
        <p:spPr>
          <a:xfrm>
            <a:off x="5380990" y="1922145"/>
            <a:ext cx="386715" cy="290195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24" name="R7033"/>
          <p:cNvSpPr/>
          <p:nvPr/>
        </p:nvSpPr>
        <p:spPr>
          <a:xfrm>
            <a:off x="5384165" y="2211070"/>
            <a:ext cx="377190" cy="290195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25" name="R7250"/>
          <p:cNvSpPr/>
          <p:nvPr/>
        </p:nvSpPr>
        <p:spPr>
          <a:xfrm>
            <a:off x="5371363" y="2783940"/>
            <a:ext cx="390000" cy="290000"/>
          </a:xfrm>
          <a:prstGeom prst="rect">
            <a:avLst/>
          </a:prstGeom>
          <a:solidFill>
            <a:srgbClr val="374151">
              <a:alpha val="2307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26" name="T7251"/>
          <p:cNvSpPr/>
          <p:nvPr/>
        </p:nvSpPr>
        <p:spPr>
          <a:xfrm>
            <a:off x="5371363" y="278394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.</a:t>
            </a:r>
            <a:r>
              <a:rPr lang="en-US" alt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zh-CN" sz="570" dirty="0"/>
          </a:p>
        </p:txBody>
      </p:sp>
      <p:sp>
        <p:nvSpPr>
          <p:cNvPr id="327" name="T7252"/>
          <p:cNvSpPr/>
          <p:nvPr/>
        </p:nvSpPr>
        <p:spPr>
          <a:xfrm>
            <a:off x="5371363" y="295794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r>
              <a:rPr lang="en-US" alt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</a:t>
            </a:r>
            <a:endParaRPr lang="zh-CN" sz="500" dirty="0"/>
          </a:p>
        </p:txBody>
      </p:sp>
      <p:sp>
        <p:nvSpPr>
          <p:cNvPr id="328" name="R7033"/>
          <p:cNvSpPr/>
          <p:nvPr/>
        </p:nvSpPr>
        <p:spPr>
          <a:xfrm>
            <a:off x="5374005" y="2505710"/>
            <a:ext cx="377190" cy="290195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29" name="T7000"/>
          <p:cNvSpPr/>
          <p:nvPr/>
        </p:nvSpPr>
        <p:spPr>
          <a:xfrm>
            <a:off x="69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W01</a:t>
            </a:r>
            <a:endParaRPr lang="zh-CN" sz="600" dirty="0"/>
          </a:p>
        </p:txBody>
      </p:sp>
      <p:sp>
        <p:nvSpPr>
          <p:cNvPr id="330" name="T7001"/>
          <p:cNvSpPr/>
          <p:nvPr/>
        </p:nvSpPr>
        <p:spPr>
          <a:xfrm>
            <a:off x="108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W02</a:t>
            </a:r>
            <a:endParaRPr lang="zh-CN" sz="600" dirty="0"/>
          </a:p>
        </p:txBody>
      </p:sp>
      <p:sp>
        <p:nvSpPr>
          <p:cNvPr id="331" name="T7002"/>
          <p:cNvSpPr/>
          <p:nvPr/>
        </p:nvSpPr>
        <p:spPr>
          <a:xfrm>
            <a:off x="147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W03</a:t>
            </a:r>
            <a:endParaRPr lang="zh-CN" sz="600" dirty="0"/>
          </a:p>
        </p:txBody>
      </p:sp>
      <p:sp>
        <p:nvSpPr>
          <p:cNvPr id="332" name="T7003"/>
          <p:cNvSpPr/>
          <p:nvPr/>
        </p:nvSpPr>
        <p:spPr>
          <a:xfrm>
            <a:off x="186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W04</a:t>
            </a:r>
            <a:endParaRPr lang="zh-CN" sz="600" dirty="0"/>
          </a:p>
        </p:txBody>
      </p:sp>
      <p:sp>
        <p:nvSpPr>
          <p:cNvPr id="333" name="T7004"/>
          <p:cNvSpPr/>
          <p:nvPr/>
        </p:nvSpPr>
        <p:spPr>
          <a:xfrm>
            <a:off x="225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W05</a:t>
            </a:r>
            <a:endParaRPr lang="zh-CN" sz="600" dirty="0"/>
          </a:p>
        </p:txBody>
      </p:sp>
      <p:sp>
        <p:nvSpPr>
          <p:cNvPr id="334" name="T7005"/>
          <p:cNvSpPr/>
          <p:nvPr/>
        </p:nvSpPr>
        <p:spPr>
          <a:xfrm>
            <a:off x="264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W06</a:t>
            </a:r>
            <a:endParaRPr lang="zh-CN" sz="600" dirty="0"/>
          </a:p>
        </p:txBody>
      </p:sp>
      <p:sp>
        <p:nvSpPr>
          <p:cNvPr id="335" name="T7006"/>
          <p:cNvSpPr/>
          <p:nvPr/>
        </p:nvSpPr>
        <p:spPr>
          <a:xfrm>
            <a:off x="303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W07</a:t>
            </a:r>
            <a:endParaRPr lang="zh-CN" sz="600" dirty="0"/>
          </a:p>
        </p:txBody>
      </p:sp>
      <p:sp>
        <p:nvSpPr>
          <p:cNvPr id="336" name="T7007"/>
          <p:cNvSpPr/>
          <p:nvPr/>
        </p:nvSpPr>
        <p:spPr>
          <a:xfrm>
            <a:off x="342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W08</a:t>
            </a:r>
            <a:endParaRPr lang="zh-CN" sz="600" dirty="0"/>
          </a:p>
        </p:txBody>
      </p:sp>
      <p:sp>
        <p:nvSpPr>
          <p:cNvPr id="337" name="T7008"/>
          <p:cNvSpPr/>
          <p:nvPr/>
        </p:nvSpPr>
        <p:spPr>
          <a:xfrm>
            <a:off x="381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W09</a:t>
            </a:r>
            <a:endParaRPr lang="zh-CN" sz="600" dirty="0"/>
          </a:p>
        </p:txBody>
      </p:sp>
      <p:sp>
        <p:nvSpPr>
          <p:cNvPr id="338" name="T7009"/>
          <p:cNvSpPr/>
          <p:nvPr/>
        </p:nvSpPr>
        <p:spPr>
          <a:xfrm>
            <a:off x="420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W10</a:t>
            </a:r>
            <a:endParaRPr lang="zh-CN" sz="600" dirty="0"/>
          </a:p>
        </p:txBody>
      </p:sp>
      <p:sp>
        <p:nvSpPr>
          <p:cNvPr id="339" name="T7010"/>
          <p:cNvSpPr/>
          <p:nvPr/>
        </p:nvSpPr>
        <p:spPr>
          <a:xfrm>
            <a:off x="459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W11</a:t>
            </a:r>
            <a:endParaRPr lang="zh-CN" sz="600" dirty="0"/>
          </a:p>
        </p:txBody>
      </p:sp>
      <p:sp>
        <p:nvSpPr>
          <p:cNvPr id="340" name="T7011"/>
          <p:cNvSpPr/>
          <p:nvPr/>
        </p:nvSpPr>
        <p:spPr>
          <a:xfrm>
            <a:off x="498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W12</a:t>
            </a:r>
            <a:endParaRPr lang="zh-CN" sz="600" dirty="0"/>
          </a:p>
        </p:txBody>
      </p:sp>
      <p:sp>
        <p:nvSpPr>
          <p:cNvPr id="341" name="T7012"/>
          <p:cNvSpPr/>
          <p:nvPr/>
        </p:nvSpPr>
        <p:spPr>
          <a:xfrm>
            <a:off x="537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W13</a:t>
            </a:r>
            <a:endParaRPr lang="zh-CN" sz="600" dirty="0"/>
          </a:p>
        </p:txBody>
      </p:sp>
      <p:sp>
        <p:nvSpPr>
          <p:cNvPr id="342" name="T8000"/>
          <p:cNvSpPr/>
          <p:nvPr/>
        </p:nvSpPr>
        <p:spPr>
          <a:xfrm>
            <a:off x="676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W01</a:t>
            </a:r>
            <a:endParaRPr lang="zh-CN" sz="600" dirty="0"/>
          </a:p>
        </p:txBody>
      </p:sp>
      <p:sp>
        <p:nvSpPr>
          <p:cNvPr id="343" name="T8001"/>
          <p:cNvSpPr/>
          <p:nvPr/>
        </p:nvSpPr>
        <p:spPr>
          <a:xfrm>
            <a:off x="715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W02</a:t>
            </a:r>
            <a:endParaRPr lang="zh-CN" sz="600" dirty="0"/>
          </a:p>
        </p:txBody>
      </p:sp>
      <p:sp>
        <p:nvSpPr>
          <p:cNvPr id="344" name="T8002"/>
          <p:cNvSpPr/>
          <p:nvPr/>
        </p:nvSpPr>
        <p:spPr>
          <a:xfrm>
            <a:off x="754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W03</a:t>
            </a:r>
            <a:endParaRPr lang="zh-CN" sz="600" dirty="0"/>
          </a:p>
        </p:txBody>
      </p:sp>
      <p:sp>
        <p:nvSpPr>
          <p:cNvPr id="345" name="T8003"/>
          <p:cNvSpPr/>
          <p:nvPr/>
        </p:nvSpPr>
        <p:spPr>
          <a:xfrm>
            <a:off x="793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W04</a:t>
            </a:r>
            <a:endParaRPr lang="zh-CN" sz="600" dirty="0"/>
          </a:p>
        </p:txBody>
      </p:sp>
      <p:sp>
        <p:nvSpPr>
          <p:cNvPr id="346" name="T8004"/>
          <p:cNvSpPr/>
          <p:nvPr/>
        </p:nvSpPr>
        <p:spPr>
          <a:xfrm>
            <a:off x="832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W05</a:t>
            </a:r>
            <a:endParaRPr lang="zh-CN" sz="600" dirty="0"/>
          </a:p>
        </p:txBody>
      </p:sp>
      <p:sp>
        <p:nvSpPr>
          <p:cNvPr id="347" name="T8005"/>
          <p:cNvSpPr/>
          <p:nvPr/>
        </p:nvSpPr>
        <p:spPr>
          <a:xfrm>
            <a:off x="871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W06</a:t>
            </a:r>
            <a:endParaRPr lang="zh-CN" sz="600" dirty="0"/>
          </a:p>
        </p:txBody>
      </p:sp>
      <p:sp>
        <p:nvSpPr>
          <p:cNvPr id="348" name="T8006"/>
          <p:cNvSpPr/>
          <p:nvPr/>
        </p:nvSpPr>
        <p:spPr>
          <a:xfrm>
            <a:off x="910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W07</a:t>
            </a:r>
            <a:endParaRPr lang="zh-CN" sz="600" dirty="0"/>
          </a:p>
        </p:txBody>
      </p:sp>
      <p:sp>
        <p:nvSpPr>
          <p:cNvPr id="349" name="T8007"/>
          <p:cNvSpPr/>
          <p:nvPr/>
        </p:nvSpPr>
        <p:spPr>
          <a:xfrm>
            <a:off x="949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W08</a:t>
            </a:r>
            <a:endParaRPr lang="zh-CN" sz="600" dirty="0"/>
          </a:p>
        </p:txBody>
      </p:sp>
      <p:sp>
        <p:nvSpPr>
          <p:cNvPr id="350" name="T8008"/>
          <p:cNvSpPr/>
          <p:nvPr/>
        </p:nvSpPr>
        <p:spPr>
          <a:xfrm>
            <a:off x="988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W09</a:t>
            </a:r>
            <a:endParaRPr lang="zh-CN" sz="600" dirty="0"/>
          </a:p>
        </p:txBody>
      </p:sp>
      <p:sp>
        <p:nvSpPr>
          <p:cNvPr id="351" name="T8009"/>
          <p:cNvSpPr/>
          <p:nvPr/>
        </p:nvSpPr>
        <p:spPr>
          <a:xfrm>
            <a:off x="1027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W10</a:t>
            </a:r>
            <a:endParaRPr lang="zh-CN" sz="600" dirty="0"/>
          </a:p>
        </p:txBody>
      </p:sp>
      <p:sp>
        <p:nvSpPr>
          <p:cNvPr id="352" name="T8010"/>
          <p:cNvSpPr/>
          <p:nvPr/>
        </p:nvSpPr>
        <p:spPr>
          <a:xfrm>
            <a:off x="1066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W11</a:t>
            </a:r>
            <a:endParaRPr lang="zh-CN" sz="600" dirty="0"/>
          </a:p>
        </p:txBody>
      </p:sp>
      <p:sp>
        <p:nvSpPr>
          <p:cNvPr id="353" name="T8011"/>
          <p:cNvSpPr/>
          <p:nvPr/>
        </p:nvSpPr>
        <p:spPr>
          <a:xfrm>
            <a:off x="1105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W12</a:t>
            </a:r>
            <a:endParaRPr lang="zh-CN" sz="600" dirty="0"/>
          </a:p>
        </p:txBody>
      </p:sp>
      <p:sp>
        <p:nvSpPr>
          <p:cNvPr id="354" name="T8012"/>
          <p:cNvSpPr/>
          <p:nvPr/>
        </p:nvSpPr>
        <p:spPr>
          <a:xfrm>
            <a:off x="1144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W13</a:t>
            </a:r>
            <a:endParaRPr lang="zh-CN" sz="600" dirty="0"/>
          </a:p>
        </p:txBody>
      </p:sp>
      <p:sp>
        <p:nvSpPr>
          <p:cNvPr id="355" name="T8013"/>
          <p:cNvSpPr/>
          <p:nvPr/>
        </p:nvSpPr>
        <p:spPr>
          <a:xfrm>
            <a:off x="6254496" y="1072134"/>
            <a:ext cx="502445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zh-CN" sz="680" dirty="0"/>
          </a:p>
        </p:txBody>
      </p:sp>
      <p:sp>
        <p:nvSpPr>
          <p:cNvPr id="356" name="R8014"/>
          <p:cNvSpPr/>
          <p:nvPr/>
        </p:nvSpPr>
        <p:spPr>
          <a:xfrm>
            <a:off x="6766941" y="1072134"/>
            <a:ext cx="390000" cy="290000"/>
          </a:xfrm>
          <a:prstGeom prst="rect">
            <a:avLst/>
          </a:prstGeom>
          <a:solidFill>
            <a:srgbClr val="1A7A3F">
              <a:alpha val="2000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57" name="T8015"/>
          <p:cNvSpPr/>
          <p:nvPr/>
        </p:nvSpPr>
        <p:spPr>
          <a:xfrm>
            <a:off x="676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zh-CN" sz="570" dirty="0"/>
          </a:p>
        </p:txBody>
      </p:sp>
      <p:sp>
        <p:nvSpPr>
          <p:cNvPr id="358" name="T8016"/>
          <p:cNvSpPr/>
          <p:nvPr/>
        </p:nvSpPr>
        <p:spPr>
          <a:xfrm>
            <a:off x="676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359" name="R8017"/>
          <p:cNvSpPr/>
          <p:nvPr/>
        </p:nvSpPr>
        <p:spPr>
          <a:xfrm>
            <a:off x="7156941" y="1072134"/>
            <a:ext cx="390000" cy="290000"/>
          </a:xfrm>
          <a:prstGeom prst="rect">
            <a:avLst/>
          </a:prstGeom>
          <a:solidFill>
            <a:srgbClr val="1A7A3F">
              <a:alpha val="3201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60" name="T8018"/>
          <p:cNvSpPr/>
          <p:nvPr/>
        </p:nvSpPr>
        <p:spPr>
          <a:xfrm>
            <a:off x="715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3.5M</a:t>
            </a:r>
            <a:endParaRPr lang="zh-CN" sz="570" dirty="0"/>
          </a:p>
        </p:txBody>
      </p:sp>
      <p:sp>
        <p:nvSpPr>
          <p:cNvPr id="361" name="T8019"/>
          <p:cNvSpPr/>
          <p:nvPr/>
        </p:nvSpPr>
        <p:spPr>
          <a:xfrm>
            <a:off x="715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10件</a:t>
            </a:r>
            <a:endParaRPr lang="zh-CN" sz="500" dirty="0"/>
          </a:p>
        </p:txBody>
      </p:sp>
      <p:sp>
        <p:nvSpPr>
          <p:cNvPr id="362" name="R8020"/>
          <p:cNvSpPr/>
          <p:nvPr/>
        </p:nvSpPr>
        <p:spPr>
          <a:xfrm>
            <a:off x="7546941" y="1072134"/>
            <a:ext cx="390000" cy="290000"/>
          </a:xfrm>
          <a:prstGeom prst="rect">
            <a:avLst/>
          </a:prstGeom>
          <a:solidFill>
            <a:srgbClr val="1A7A3F">
              <a:alpha val="4361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63" name="T8021"/>
          <p:cNvSpPr/>
          <p:nvPr/>
        </p:nvSpPr>
        <p:spPr>
          <a:xfrm>
            <a:off x="754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zh-CN" sz="570" dirty="0"/>
          </a:p>
        </p:txBody>
      </p:sp>
      <p:sp>
        <p:nvSpPr>
          <p:cNvPr id="364" name="T8022"/>
          <p:cNvSpPr/>
          <p:nvPr/>
        </p:nvSpPr>
        <p:spPr>
          <a:xfrm>
            <a:off x="754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</a:t>
            </a:r>
            <a:endParaRPr lang="zh-CN" sz="500" dirty="0"/>
          </a:p>
        </p:txBody>
      </p:sp>
      <p:sp>
        <p:nvSpPr>
          <p:cNvPr id="365" name="R8023"/>
          <p:cNvSpPr/>
          <p:nvPr/>
        </p:nvSpPr>
        <p:spPr>
          <a:xfrm>
            <a:off x="7936941" y="1072134"/>
            <a:ext cx="390000" cy="290000"/>
          </a:xfrm>
          <a:prstGeom prst="rect">
            <a:avLst/>
          </a:prstGeom>
          <a:solidFill>
            <a:srgbClr val="1A7A3F">
              <a:alpha val="40365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66" name="T8024"/>
          <p:cNvSpPr/>
          <p:nvPr/>
        </p:nvSpPr>
        <p:spPr>
          <a:xfrm>
            <a:off x="793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5.1M</a:t>
            </a:r>
            <a:endParaRPr lang="zh-CN" sz="570" dirty="0"/>
          </a:p>
        </p:txBody>
      </p:sp>
      <p:sp>
        <p:nvSpPr>
          <p:cNvPr id="367" name="T8025"/>
          <p:cNvSpPr/>
          <p:nvPr/>
        </p:nvSpPr>
        <p:spPr>
          <a:xfrm>
            <a:off x="793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19件</a:t>
            </a:r>
            <a:endParaRPr lang="zh-CN" sz="500" dirty="0"/>
          </a:p>
        </p:txBody>
      </p:sp>
      <p:sp>
        <p:nvSpPr>
          <p:cNvPr id="368" name="R8026"/>
          <p:cNvSpPr/>
          <p:nvPr/>
        </p:nvSpPr>
        <p:spPr>
          <a:xfrm>
            <a:off x="8326941" y="1072134"/>
            <a:ext cx="390000" cy="290000"/>
          </a:xfrm>
          <a:prstGeom prst="rect">
            <a:avLst/>
          </a:prstGeom>
          <a:solidFill>
            <a:srgbClr val="1A7A3F">
              <a:alpha val="55391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69" name="T8027"/>
          <p:cNvSpPr/>
          <p:nvPr/>
        </p:nvSpPr>
        <p:spPr>
          <a:xfrm>
            <a:off x="832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8.2M</a:t>
            </a:r>
            <a:endParaRPr lang="zh-CN" sz="570" dirty="0"/>
          </a:p>
        </p:txBody>
      </p:sp>
      <p:sp>
        <p:nvSpPr>
          <p:cNvPr id="370" name="T8028"/>
          <p:cNvSpPr/>
          <p:nvPr/>
        </p:nvSpPr>
        <p:spPr>
          <a:xfrm>
            <a:off x="832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20件</a:t>
            </a:r>
            <a:endParaRPr lang="zh-CN" sz="500" dirty="0"/>
          </a:p>
        </p:txBody>
      </p:sp>
      <p:sp>
        <p:nvSpPr>
          <p:cNvPr id="371" name="R8029"/>
          <p:cNvSpPr/>
          <p:nvPr/>
        </p:nvSpPr>
        <p:spPr>
          <a:xfrm>
            <a:off x="8716941" y="1072134"/>
            <a:ext cx="390000" cy="290000"/>
          </a:xfrm>
          <a:prstGeom prst="rect">
            <a:avLst/>
          </a:prstGeom>
          <a:solidFill>
            <a:srgbClr val="1A7A3F">
              <a:alpha val="37367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72" name="T8030"/>
          <p:cNvSpPr/>
          <p:nvPr/>
        </p:nvSpPr>
        <p:spPr>
          <a:xfrm>
            <a:off x="871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zh-CN" sz="570" dirty="0"/>
          </a:p>
        </p:txBody>
      </p:sp>
      <p:sp>
        <p:nvSpPr>
          <p:cNvPr id="373" name="T8031"/>
          <p:cNvSpPr/>
          <p:nvPr/>
        </p:nvSpPr>
        <p:spPr>
          <a:xfrm>
            <a:off x="871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16件</a:t>
            </a:r>
            <a:endParaRPr lang="zh-CN" sz="500" dirty="0"/>
          </a:p>
        </p:txBody>
      </p:sp>
      <p:sp>
        <p:nvSpPr>
          <p:cNvPr id="374" name="R8032"/>
          <p:cNvSpPr/>
          <p:nvPr/>
        </p:nvSpPr>
        <p:spPr>
          <a:xfrm>
            <a:off x="9106941" y="1072134"/>
            <a:ext cx="390000" cy="290000"/>
          </a:xfrm>
          <a:prstGeom prst="rect">
            <a:avLst/>
          </a:prstGeom>
          <a:solidFill>
            <a:srgbClr val="1A7A3F">
              <a:alpha val="33864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75" name="T8033"/>
          <p:cNvSpPr/>
          <p:nvPr/>
        </p:nvSpPr>
        <p:spPr>
          <a:xfrm>
            <a:off x="910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3.8M</a:t>
            </a:r>
            <a:endParaRPr lang="zh-CN" sz="570" dirty="0"/>
          </a:p>
        </p:txBody>
      </p:sp>
      <p:sp>
        <p:nvSpPr>
          <p:cNvPr id="376" name="T8034"/>
          <p:cNvSpPr/>
          <p:nvPr/>
        </p:nvSpPr>
        <p:spPr>
          <a:xfrm>
            <a:off x="910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</a:t>
            </a:r>
            <a:endParaRPr lang="zh-CN" sz="500" dirty="0"/>
          </a:p>
        </p:txBody>
      </p:sp>
      <p:sp>
        <p:nvSpPr>
          <p:cNvPr id="377" name="R8035"/>
          <p:cNvSpPr/>
          <p:nvPr/>
        </p:nvSpPr>
        <p:spPr>
          <a:xfrm>
            <a:off x="9496941" y="1072134"/>
            <a:ext cx="390000" cy="290000"/>
          </a:xfrm>
          <a:prstGeom prst="rect">
            <a:avLst/>
          </a:prstGeom>
          <a:solidFill>
            <a:srgbClr val="1A7A3F">
              <a:alpha val="3287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78" name="T8036"/>
          <p:cNvSpPr/>
          <p:nvPr/>
        </p:nvSpPr>
        <p:spPr>
          <a:xfrm>
            <a:off x="949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3.6M</a:t>
            </a:r>
            <a:endParaRPr lang="zh-CN" sz="570" dirty="0"/>
          </a:p>
        </p:txBody>
      </p:sp>
      <p:sp>
        <p:nvSpPr>
          <p:cNvPr id="379" name="T8037"/>
          <p:cNvSpPr/>
          <p:nvPr/>
        </p:nvSpPr>
        <p:spPr>
          <a:xfrm>
            <a:off x="949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17件</a:t>
            </a:r>
            <a:endParaRPr lang="zh-CN" sz="500" dirty="0"/>
          </a:p>
        </p:txBody>
      </p:sp>
      <p:sp>
        <p:nvSpPr>
          <p:cNvPr id="380" name="R8038"/>
          <p:cNvSpPr/>
          <p:nvPr/>
        </p:nvSpPr>
        <p:spPr>
          <a:xfrm>
            <a:off x="9886941" y="1072134"/>
            <a:ext cx="390000" cy="290000"/>
          </a:xfrm>
          <a:prstGeom prst="rect">
            <a:avLst/>
          </a:prstGeom>
          <a:solidFill>
            <a:srgbClr val="1A7A3F">
              <a:alpha val="27327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81" name="T8039"/>
          <p:cNvSpPr/>
          <p:nvPr/>
        </p:nvSpPr>
        <p:spPr>
          <a:xfrm>
            <a:off x="988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2.5M</a:t>
            </a:r>
            <a:endParaRPr lang="zh-CN" sz="570" dirty="0"/>
          </a:p>
        </p:txBody>
      </p:sp>
      <p:sp>
        <p:nvSpPr>
          <p:cNvPr id="382" name="T8040"/>
          <p:cNvSpPr/>
          <p:nvPr/>
        </p:nvSpPr>
        <p:spPr>
          <a:xfrm>
            <a:off x="988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8件</a:t>
            </a:r>
            <a:endParaRPr lang="zh-CN" sz="500" dirty="0"/>
          </a:p>
        </p:txBody>
      </p:sp>
      <p:sp>
        <p:nvSpPr>
          <p:cNvPr id="383" name="R8041"/>
          <p:cNvSpPr/>
          <p:nvPr/>
        </p:nvSpPr>
        <p:spPr>
          <a:xfrm>
            <a:off x="10276941" y="1072134"/>
            <a:ext cx="390000" cy="290000"/>
          </a:xfrm>
          <a:prstGeom prst="rect">
            <a:avLst/>
          </a:prstGeom>
          <a:solidFill>
            <a:srgbClr val="1A7A3F">
              <a:alpha val="55263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84" name="T8042"/>
          <p:cNvSpPr/>
          <p:nvPr/>
        </p:nvSpPr>
        <p:spPr>
          <a:xfrm>
            <a:off x="1027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8.2M</a:t>
            </a:r>
            <a:endParaRPr lang="zh-CN" sz="570" dirty="0"/>
          </a:p>
        </p:txBody>
      </p:sp>
      <p:sp>
        <p:nvSpPr>
          <p:cNvPr id="385" name="T8043"/>
          <p:cNvSpPr/>
          <p:nvPr/>
        </p:nvSpPr>
        <p:spPr>
          <a:xfrm>
            <a:off x="1027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26件</a:t>
            </a:r>
            <a:endParaRPr lang="zh-CN" sz="500" dirty="0"/>
          </a:p>
        </p:txBody>
      </p:sp>
      <p:sp>
        <p:nvSpPr>
          <p:cNvPr id="386" name="R8044"/>
          <p:cNvSpPr/>
          <p:nvPr/>
        </p:nvSpPr>
        <p:spPr>
          <a:xfrm>
            <a:off x="10666941" y="1072134"/>
            <a:ext cx="390000" cy="290000"/>
          </a:xfrm>
          <a:prstGeom prst="rect">
            <a:avLst/>
          </a:prstGeom>
          <a:solidFill>
            <a:srgbClr val="1A7A3F">
              <a:alpha val="6350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87" name="T8045"/>
          <p:cNvSpPr/>
          <p:nvPr/>
        </p:nvSpPr>
        <p:spPr>
          <a:xfrm>
            <a:off x="1066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9.8M</a:t>
            </a:r>
            <a:endParaRPr lang="zh-CN" sz="570" dirty="0"/>
          </a:p>
        </p:txBody>
      </p:sp>
      <p:sp>
        <p:nvSpPr>
          <p:cNvPr id="388" name="T8046"/>
          <p:cNvSpPr/>
          <p:nvPr/>
        </p:nvSpPr>
        <p:spPr>
          <a:xfrm>
            <a:off x="1066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28件</a:t>
            </a:r>
            <a:endParaRPr lang="zh-CN" sz="500" dirty="0"/>
          </a:p>
        </p:txBody>
      </p:sp>
      <p:sp>
        <p:nvSpPr>
          <p:cNvPr id="389" name="R8047"/>
          <p:cNvSpPr/>
          <p:nvPr/>
        </p:nvSpPr>
        <p:spPr>
          <a:xfrm>
            <a:off x="11056941" y="1072134"/>
            <a:ext cx="390000" cy="290000"/>
          </a:xfrm>
          <a:prstGeom prst="rect">
            <a:avLst/>
          </a:prstGeom>
          <a:solidFill>
            <a:srgbClr val="1A7A3F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90" name="T8048"/>
          <p:cNvSpPr/>
          <p:nvPr/>
        </p:nvSpPr>
        <p:spPr>
          <a:xfrm>
            <a:off x="1105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15.8M</a:t>
            </a:r>
            <a:endParaRPr lang="zh-CN" sz="570" dirty="0"/>
          </a:p>
        </p:txBody>
      </p:sp>
      <p:sp>
        <p:nvSpPr>
          <p:cNvPr id="391" name="T8049"/>
          <p:cNvSpPr/>
          <p:nvPr/>
        </p:nvSpPr>
        <p:spPr>
          <a:xfrm>
            <a:off x="1105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35件</a:t>
            </a:r>
            <a:endParaRPr lang="zh-CN" sz="500" dirty="0"/>
          </a:p>
        </p:txBody>
      </p:sp>
      <p:sp>
        <p:nvSpPr>
          <p:cNvPr id="392" name="R8050"/>
          <p:cNvSpPr/>
          <p:nvPr/>
        </p:nvSpPr>
        <p:spPr>
          <a:xfrm>
            <a:off x="11446941" y="1072134"/>
            <a:ext cx="390000" cy="290000"/>
          </a:xfrm>
          <a:prstGeom prst="rect">
            <a:avLst/>
          </a:prstGeom>
          <a:solidFill>
            <a:srgbClr val="9BC5AB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393" name="T8051"/>
          <p:cNvSpPr/>
          <p:nvPr/>
        </p:nvSpPr>
        <p:spPr>
          <a:xfrm>
            <a:off x="11438255" y="1072515"/>
            <a:ext cx="34671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6.6M</a:t>
            </a:r>
            <a:endParaRPr lang="zh-CN" sz="570" dirty="0"/>
          </a:p>
        </p:txBody>
      </p:sp>
      <p:sp>
        <p:nvSpPr>
          <p:cNvPr id="394" name="T8052"/>
          <p:cNvSpPr/>
          <p:nvPr/>
        </p:nvSpPr>
        <p:spPr>
          <a:xfrm>
            <a:off x="1144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18件</a:t>
            </a:r>
            <a:endParaRPr lang="zh-CN" sz="500" dirty="0"/>
          </a:p>
        </p:txBody>
      </p:sp>
      <p:sp>
        <p:nvSpPr>
          <p:cNvPr id="395" name="T8053"/>
          <p:cNvSpPr/>
          <p:nvPr/>
        </p:nvSpPr>
        <p:spPr>
          <a:xfrm>
            <a:off x="6254496" y="1362134"/>
            <a:ext cx="502445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zh-CN" sz="680" dirty="0"/>
          </a:p>
        </p:txBody>
      </p:sp>
      <p:sp>
        <p:nvSpPr>
          <p:cNvPr id="396" name="R8054"/>
          <p:cNvSpPr/>
          <p:nvPr/>
        </p:nvSpPr>
        <p:spPr>
          <a:xfrm>
            <a:off x="6766941" y="1362134"/>
            <a:ext cx="390000" cy="290000"/>
          </a:xfrm>
          <a:prstGeom prst="rect">
            <a:avLst/>
          </a:prstGeom>
          <a:solidFill>
            <a:srgbClr val="1F3864">
              <a:alpha val="23736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397" name="T8055"/>
          <p:cNvSpPr/>
          <p:nvPr/>
        </p:nvSpPr>
        <p:spPr>
          <a:xfrm>
            <a:off x="676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0.8M</a:t>
            </a:r>
            <a:endParaRPr lang="zh-CN" sz="570" dirty="0"/>
          </a:p>
        </p:txBody>
      </p:sp>
      <p:sp>
        <p:nvSpPr>
          <p:cNvPr id="398" name="T8056"/>
          <p:cNvSpPr/>
          <p:nvPr/>
        </p:nvSpPr>
        <p:spPr>
          <a:xfrm>
            <a:off x="676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399" name="R8057"/>
          <p:cNvSpPr/>
          <p:nvPr/>
        </p:nvSpPr>
        <p:spPr>
          <a:xfrm>
            <a:off x="7156941" y="1362134"/>
            <a:ext cx="390000" cy="290000"/>
          </a:xfrm>
          <a:prstGeom prst="rect">
            <a:avLst/>
          </a:prstGeom>
          <a:solidFill>
            <a:srgbClr val="1F3864">
              <a:alpha val="56376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00" name="T8058"/>
          <p:cNvSpPr/>
          <p:nvPr/>
        </p:nvSpPr>
        <p:spPr>
          <a:xfrm>
            <a:off x="715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3.7M</a:t>
            </a:r>
            <a:endParaRPr lang="zh-CN" sz="570" dirty="0"/>
          </a:p>
        </p:txBody>
      </p:sp>
      <p:sp>
        <p:nvSpPr>
          <p:cNvPr id="401" name="T8059"/>
          <p:cNvSpPr/>
          <p:nvPr/>
        </p:nvSpPr>
        <p:spPr>
          <a:xfrm>
            <a:off x="715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402" name="R8060"/>
          <p:cNvSpPr/>
          <p:nvPr/>
        </p:nvSpPr>
        <p:spPr>
          <a:xfrm>
            <a:off x="7546941" y="1362134"/>
            <a:ext cx="390000" cy="290000"/>
          </a:xfrm>
          <a:prstGeom prst="rect">
            <a:avLst/>
          </a:prstGeom>
          <a:solidFill>
            <a:srgbClr val="1F3864">
              <a:alpha val="78217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03" name="T8061"/>
          <p:cNvSpPr/>
          <p:nvPr/>
        </p:nvSpPr>
        <p:spPr>
          <a:xfrm>
            <a:off x="754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5.6M</a:t>
            </a:r>
            <a:endParaRPr lang="zh-CN" sz="570" dirty="0"/>
          </a:p>
        </p:txBody>
      </p:sp>
      <p:sp>
        <p:nvSpPr>
          <p:cNvPr id="404" name="T8062"/>
          <p:cNvSpPr/>
          <p:nvPr/>
        </p:nvSpPr>
        <p:spPr>
          <a:xfrm>
            <a:off x="754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6件</a:t>
            </a:r>
            <a:endParaRPr lang="zh-CN" sz="500" dirty="0"/>
          </a:p>
        </p:txBody>
      </p:sp>
      <p:sp>
        <p:nvSpPr>
          <p:cNvPr id="405" name="R8063"/>
          <p:cNvSpPr/>
          <p:nvPr/>
        </p:nvSpPr>
        <p:spPr>
          <a:xfrm>
            <a:off x="7936941" y="1362134"/>
            <a:ext cx="390000" cy="290000"/>
          </a:xfrm>
          <a:prstGeom prst="rect">
            <a:avLst/>
          </a:prstGeom>
          <a:solidFill>
            <a:srgbClr val="1F3864">
              <a:alpha val="45577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06" name="T8064"/>
          <p:cNvSpPr/>
          <p:nvPr/>
        </p:nvSpPr>
        <p:spPr>
          <a:xfrm>
            <a:off x="793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2.7M</a:t>
            </a:r>
            <a:endParaRPr lang="zh-CN" sz="570" dirty="0"/>
          </a:p>
        </p:txBody>
      </p:sp>
      <p:sp>
        <p:nvSpPr>
          <p:cNvPr id="407" name="T8065"/>
          <p:cNvSpPr/>
          <p:nvPr/>
        </p:nvSpPr>
        <p:spPr>
          <a:xfrm>
            <a:off x="793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6件</a:t>
            </a:r>
            <a:endParaRPr lang="zh-CN" sz="500" dirty="0"/>
          </a:p>
        </p:txBody>
      </p:sp>
      <p:sp>
        <p:nvSpPr>
          <p:cNvPr id="408" name="R8066"/>
          <p:cNvSpPr/>
          <p:nvPr/>
        </p:nvSpPr>
        <p:spPr>
          <a:xfrm>
            <a:off x="8326941" y="1362134"/>
            <a:ext cx="390000" cy="290000"/>
          </a:xfrm>
          <a:prstGeom prst="rect">
            <a:avLst/>
          </a:prstGeom>
          <a:solidFill>
            <a:srgbClr val="1F3864">
              <a:alpha val="3946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09" name="T8067"/>
          <p:cNvSpPr/>
          <p:nvPr/>
        </p:nvSpPr>
        <p:spPr>
          <a:xfrm>
            <a:off x="832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2.2M</a:t>
            </a:r>
            <a:endParaRPr lang="zh-CN" sz="570" dirty="0"/>
          </a:p>
        </p:txBody>
      </p:sp>
      <p:sp>
        <p:nvSpPr>
          <p:cNvPr id="410" name="T8068"/>
          <p:cNvSpPr/>
          <p:nvPr/>
        </p:nvSpPr>
        <p:spPr>
          <a:xfrm>
            <a:off x="832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411" name="R8069"/>
          <p:cNvSpPr/>
          <p:nvPr/>
        </p:nvSpPr>
        <p:spPr>
          <a:xfrm>
            <a:off x="8716941" y="1362134"/>
            <a:ext cx="390000" cy="290000"/>
          </a:xfrm>
          <a:prstGeom prst="rect">
            <a:avLst/>
          </a:prstGeom>
          <a:solidFill>
            <a:srgbClr val="1F3864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12" name="T8070"/>
          <p:cNvSpPr/>
          <p:nvPr/>
        </p:nvSpPr>
        <p:spPr>
          <a:xfrm>
            <a:off x="871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zh-CN" sz="570" dirty="0"/>
          </a:p>
        </p:txBody>
      </p:sp>
      <p:sp>
        <p:nvSpPr>
          <p:cNvPr id="413" name="T8071"/>
          <p:cNvSpPr/>
          <p:nvPr/>
        </p:nvSpPr>
        <p:spPr>
          <a:xfrm>
            <a:off x="871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414" name="R8072"/>
          <p:cNvSpPr/>
          <p:nvPr/>
        </p:nvSpPr>
        <p:spPr>
          <a:xfrm>
            <a:off x="9106941" y="1362134"/>
            <a:ext cx="390000" cy="290000"/>
          </a:xfrm>
          <a:prstGeom prst="rect">
            <a:avLst/>
          </a:prstGeom>
          <a:solidFill>
            <a:srgbClr val="1F3864">
              <a:alpha val="1936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15" name="T8073"/>
          <p:cNvSpPr/>
          <p:nvPr/>
        </p:nvSpPr>
        <p:spPr>
          <a:xfrm>
            <a:off x="910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zh-CN" sz="570" dirty="0"/>
          </a:p>
        </p:txBody>
      </p:sp>
      <p:sp>
        <p:nvSpPr>
          <p:cNvPr id="416" name="T8074"/>
          <p:cNvSpPr/>
          <p:nvPr/>
        </p:nvSpPr>
        <p:spPr>
          <a:xfrm>
            <a:off x="910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417" name="R8075"/>
          <p:cNvSpPr/>
          <p:nvPr/>
        </p:nvSpPr>
        <p:spPr>
          <a:xfrm>
            <a:off x="9496941" y="136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18" name="R8076"/>
          <p:cNvSpPr/>
          <p:nvPr/>
        </p:nvSpPr>
        <p:spPr>
          <a:xfrm>
            <a:off x="9886941" y="1362134"/>
            <a:ext cx="390000" cy="290000"/>
          </a:xfrm>
          <a:prstGeom prst="rect">
            <a:avLst/>
          </a:prstGeom>
          <a:solidFill>
            <a:srgbClr val="1F3864">
              <a:alpha val="36841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19" name="T8077"/>
          <p:cNvSpPr/>
          <p:nvPr/>
        </p:nvSpPr>
        <p:spPr>
          <a:xfrm>
            <a:off x="988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zh-CN" sz="570" dirty="0"/>
          </a:p>
        </p:txBody>
      </p:sp>
      <p:sp>
        <p:nvSpPr>
          <p:cNvPr id="420" name="T8078"/>
          <p:cNvSpPr/>
          <p:nvPr/>
        </p:nvSpPr>
        <p:spPr>
          <a:xfrm>
            <a:off x="988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421" name="R8079"/>
          <p:cNvSpPr/>
          <p:nvPr/>
        </p:nvSpPr>
        <p:spPr>
          <a:xfrm>
            <a:off x="10276941" y="1362134"/>
            <a:ext cx="390000" cy="290000"/>
          </a:xfrm>
          <a:prstGeom prst="rect">
            <a:avLst/>
          </a:prstGeom>
          <a:solidFill>
            <a:srgbClr val="1F3864">
              <a:alpha val="36841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22" name="T8080"/>
          <p:cNvSpPr/>
          <p:nvPr/>
        </p:nvSpPr>
        <p:spPr>
          <a:xfrm>
            <a:off x="1027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zh-CN" sz="570" dirty="0"/>
          </a:p>
        </p:txBody>
      </p:sp>
      <p:sp>
        <p:nvSpPr>
          <p:cNvPr id="423" name="T8081"/>
          <p:cNvSpPr/>
          <p:nvPr/>
        </p:nvSpPr>
        <p:spPr>
          <a:xfrm>
            <a:off x="1027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424" name="R8082"/>
          <p:cNvSpPr/>
          <p:nvPr/>
        </p:nvSpPr>
        <p:spPr>
          <a:xfrm>
            <a:off x="10666941" y="1362134"/>
            <a:ext cx="390000" cy="290000"/>
          </a:xfrm>
          <a:prstGeom prst="rect">
            <a:avLst/>
          </a:prstGeom>
          <a:solidFill>
            <a:srgbClr val="1F3864">
              <a:alpha val="76155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25" name="T8083"/>
          <p:cNvSpPr/>
          <p:nvPr/>
        </p:nvSpPr>
        <p:spPr>
          <a:xfrm>
            <a:off x="1066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4.7M</a:t>
            </a:r>
            <a:endParaRPr lang="zh-CN" sz="570" dirty="0"/>
          </a:p>
        </p:txBody>
      </p:sp>
      <p:sp>
        <p:nvSpPr>
          <p:cNvPr id="426" name="T8084"/>
          <p:cNvSpPr/>
          <p:nvPr/>
        </p:nvSpPr>
        <p:spPr>
          <a:xfrm>
            <a:off x="1066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427" name="R8085"/>
          <p:cNvSpPr/>
          <p:nvPr/>
        </p:nvSpPr>
        <p:spPr>
          <a:xfrm>
            <a:off x="11056941" y="1362134"/>
            <a:ext cx="390000" cy="290000"/>
          </a:xfrm>
          <a:prstGeom prst="rect">
            <a:avLst/>
          </a:prstGeom>
          <a:solidFill>
            <a:srgbClr val="1F3864">
              <a:alpha val="45577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28" name="T8086"/>
          <p:cNvSpPr/>
          <p:nvPr/>
        </p:nvSpPr>
        <p:spPr>
          <a:xfrm>
            <a:off x="1105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2.7M</a:t>
            </a:r>
            <a:endParaRPr lang="zh-CN" sz="570" dirty="0"/>
          </a:p>
        </p:txBody>
      </p:sp>
      <p:sp>
        <p:nvSpPr>
          <p:cNvPr id="429" name="T8087"/>
          <p:cNvSpPr/>
          <p:nvPr/>
        </p:nvSpPr>
        <p:spPr>
          <a:xfrm>
            <a:off x="1105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430" name="R8088"/>
          <p:cNvSpPr/>
          <p:nvPr/>
        </p:nvSpPr>
        <p:spPr>
          <a:xfrm>
            <a:off x="11446941" y="1362134"/>
            <a:ext cx="390000" cy="290000"/>
          </a:xfrm>
          <a:prstGeom prst="rect">
            <a:avLst/>
          </a:prstGeom>
          <a:solidFill>
            <a:srgbClr val="808FA7"/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31" name="T8089"/>
          <p:cNvSpPr/>
          <p:nvPr/>
        </p:nvSpPr>
        <p:spPr>
          <a:xfrm>
            <a:off x="1144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3.5M</a:t>
            </a:r>
            <a:endParaRPr lang="zh-CN" sz="570" dirty="0"/>
          </a:p>
        </p:txBody>
      </p:sp>
      <p:sp>
        <p:nvSpPr>
          <p:cNvPr id="432" name="T8090"/>
          <p:cNvSpPr/>
          <p:nvPr/>
        </p:nvSpPr>
        <p:spPr>
          <a:xfrm>
            <a:off x="11481435" y="1526540"/>
            <a:ext cx="298450" cy="1073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6件</a:t>
            </a:r>
            <a:endParaRPr lang="zh-CN" sz="500" dirty="0"/>
          </a:p>
        </p:txBody>
      </p:sp>
      <p:sp>
        <p:nvSpPr>
          <p:cNvPr id="433" name="T8091"/>
          <p:cNvSpPr/>
          <p:nvPr/>
        </p:nvSpPr>
        <p:spPr>
          <a:xfrm>
            <a:off x="6254496" y="1652134"/>
            <a:ext cx="502445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zh-CN" sz="680" dirty="0"/>
          </a:p>
        </p:txBody>
      </p:sp>
      <p:sp>
        <p:nvSpPr>
          <p:cNvPr id="434" name="R8092"/>
          <p:cNvSpPr/>
          <p:nvPr/>
        </p:nvSpPr>
        <p:spPr>
          <a:xfrm>
            <a:off x="6766941" y="1652134"/>
            <a:ext cx="390000" cy="290000"/>
          </a:xfrm>
          <a:prstGeom prst="rect">
            <a:avLst/>
          </a:prstGeom>
          <a:solidFill>
            <a:srgbClr val="2980B9">
              <a:alpha val="17339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35" name="T8093"/>
          <p:cNvSpPr/>
          <p:nvPr/>
        </p:nvSpPr>
        <p:spPr>
          <a:xfrm>
            <a:off x="676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436" name="T8094"/>
          <p:cNvSpPr/>
          <p:nvPr/>
        </p:nvSpPr>
        <p:spPr>
          <a:xfrm>
            <a:off x="676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437" name="R8095"/>
          <p:cNvSpPr/>
          <p:nvPr/>
        </p:nvSpPr>
        <p:spPr>
          <a:xfrm>
            <a:off x="7156941" y="165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38" name="R8096"/>
          <p:cNvSpPr/>
          <p:nvPr/>
        </p:nvSpPr>
        <p:spPr>
          <a:xfrm>
            <a:off x="7546941" y="1652134"/>
            <a:ext cx="390000" cy="290000"/>
          </a:xfrm>
          <a:prstGeom prst="rect">
            <a:avLst/>
          </a:prstGeom>
          <a:solidFill>
            <a:srgbClr val="2980B9">
              <a:alpha val="39259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39" name="T8097"/>
          <p:cNvSpPr/>
          <p:nvPr/>
        </p:nvSpPr>
        <p:spPr>
          <a:xfrm>
            <a:off x="754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2.0M</a:t>
            </a:r>
            <a:endParaRPr lang="zh-CN" sz="570" dirty="0"/>
          </a:p>
        </p:txBody>
      </p:sp>
      <p:sp>
        <p:nvSpPr>
          <p:cNvPr id="440" name="T8098"/>
          <p:cNvSpPr/>
          <p:nvPr/>
        </p:nvSpPr>
        <p:spPr>
          <a:xfrm>
            <a:off x="754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15件</a:t>
            </a:r>
            <a:endParaRPr lang="zh-CN" sz="500" dirty="0"/>
          </a:p>
        </p:txBody>
      </p:sp>
      <p:sp>
        <p:nvSpPr>
          <p:cNvPr id="441" name="R8099"/>
          <p:cNvSpPr/>
          <p:nvPr/>
        </p:nvSpPr>
        <p:spPr>
          <a:xfrm>
            <a:off x="7936941" y="1652134"/>
            <a:ext cx="390000" cy="290000"/>
          </a:xfrm>
          <a:prstGeom prst="rect">
            <a:avLst/>
          </a:prstGeom>
          <a:solidFill>
            <a:srgbClr val="2980B9">
              <a:alpha val="47886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42" name="T8100"/>
          <p:cNvSpPr/>
          <p:nvPr/>
        </p:nvSpPr>
        <p:spPr>
          <a:xfrm>
            <a:off x="793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2.7M</a:t>
            </a:r>
            <a:endParaRPr lang="zh-CN" sz="570" dirty="0"/>
          </a:p>
        </p:txBody>
      </p:sp>
      <p:sp>
        <p:nvSpPr>
          <p:cNvPr id="443" name="T8101"/>
          <p:cNvSpPr/>
          <p:nvPr/>
        </p:nvSpPr>
        <p:spPr>
          <a:xfrm>
            <a:off x="793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</a:t>
            </a:r>
            <a:endParaRPr lang="zh-CN" sz="500" dirty="0"/>
          </a:p>
        </p:txBody>
      </p:sp>
      <p:sp>
        <p:nvSpPr>
          <p:cNvPr id="444" name="R8102"/>
          <p:cNvSpPr/>
          <p:nvPr/>
        </p:nvSpPr>
        <p:spPr>
          <a:xfrm>
            <a:off x="8326941" y="1652134"/>
            <a:ext cx="390000" cy="290000"/>
          </a:xfrm>
          <a:prstGeom prst="rect">
            <a:avLst/>
          </a:prstGeom>
          <a:solidFill>
            <a:srgbClr val="2980B9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45" name="T8103"/>
          <p:cNvSpPr/>
          <p:nvPr/>
        </p:nvSpPr>
        <p:spPr>
          <a:xfrm>
            <a:off x="832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5.4M</a:t>
            </a:r>
            <a:endParaRPr lang="zh-CN" sz="570" dirty="0"/>
          </a:p>
        </p:txBody>
      </p:sp>
      <p:sp>
        <p:nvSpPr>
          <p:cNvPr id="446" name="T8104"/>
          <p:cNvSpPr/>
          <p:nvPr/>
        </p:nvSpPr>
        <p:spPr>
          <a:xfrm>
            <a:off x="832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447" name="R8105"/>
          <p:cNvSpPr/>
          <p:nvPr/>
        </p:nvSpPr>
        <p:spPr>
          <a:xfrm>
            <a:off x="8716941" y="1652134"/>
            <a:ext cx="390000" cy="290000"/>
          </a:xfrm>
          <a:prstGeom prst="rect">
            <a:avLst/>
          </a:prstGeom>
          <a:solidFill>
            <a:srgbClr val="2980B9">
              <a:alpha val="48054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48" name="T8106"/>
          <p:cNvSpPr/>
          <p:nvPr/>
        </p:nvSpPr>
        <p:spPr>
          <a:xfrm>
            <a:off x="871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2.8M</a:t>
            </a:r>
            <a:endParaRPr lang="zh-CN" sz="570" dirty="0"/>
          </a:p>
        </p:txBody>
      </p:sp>
      <p:sp>
        <p:nvSpPr>
          <p:cNvPr id="449" name="T8107"/>
          <p:cNvSpPr/>
          <p:nvPr/>
        </p:nvSpPr>
        <p:spPr>
          <a:xfrm>
            <a:off x="871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450" name="R8108"/>
          <p:cNvSpPr/>
          <p:nvPr/>
        </p:nvSpPr>
        <p:spPr>
          <a:xfrm>
            <a:off x="9106941" y="1652134"/>
            <a:ext cx="390000" cy="290000"/>
          </a:xfrm>
          <a:prstGeom prst="rect">
            <a:avLst/>
          </a:prstGeom>
          <a:solidFill>
            <a:srgbClr val="2980B9">
              <a:alpha val="17807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51" name="T8109"/>
          <p:cNvSpPr/>
          <p:nvPr/>
        </p:nvSpPr>
        <p:spPr>
          <a:xfrm>
            <a:off x="910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452" name="T8110"/>
          <p:cNvSpPr/>
          <p:nvPr/>
        </p:nvSpPr>
        <p:spPr>
          <a:xfrm>
            <a:off x="910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453" name="R8111"/>
          <p:cNvSpPr/>
          <p:nvPr/>
        </p:nvSpPr>
        <p:spPr>
          <a:xfrm>
            <a:off x="9496941" y="1652134"/>
            <a:ext cx="390000" cy="290000"/>
          </a:xfrm>
          <a:prstGeom prst="rect">
            <a:avLst/>
          </a:prstGeom>
          <a:solidFill>
            <a:srgbClr val="2980B9">
              <a:alpha val="59585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54" name="T8112"/>
          <p:cNvSpPr/>
          <p:nvPr/>
        </p:nvSpPr>
        <p:spPr>
          <a:xfrm>
            <a:off x="949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3.7M</a:t>
            </a:r>
            <a:endParaRPr lang="zh-CN" sz="570" dirty="0"/>
          </a:p>
        </p:txBody>
      </p:sp>
      <p:sp>
        <p:nvSpPr>
          <p:cNvPr id="455" name="T8113"/>
          <p:cNvSpPr/>
          <p:nvPr/>
        </p:nvSpPr>
        <p:spPr>
          <a:xfrm>
            <a:off x="949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15件</a:t>
            </a:r>
            <a:endParaRPr lang="zh-CN" sz="500" dirty="0"/>
          </a:p>
        </p:txBody>
      </p:sp>
      <p:sp>
        <p:nvSpPr>
          <p:cNvPr id="456" name="R8114"/>
          <p:cNvSpPr/>
          <p:nvPr/>
        </p:nvSpPr>
        <p:spPr>
          <a:xfrm>
            <a:off x="9886941" y="1652134"/>
            <a:ext cx="390000" cy="290000"/>
          </a:xfrm>
          <a:prstGeom prst="rect">
            <a:avLst/>
          </a:prstGeom>
          <a:solidFill>
            <a:srgbClr val="2980B9">
              <a:alpha val="15935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57" name="T8115"/>
          <p:cNvSpPr/>
          <p:nvPr/>
        </p:nvSpPr>
        <p:spPr>
          <a:xfrm>
            <a:off x="988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458" name="T8116"/>
          <p:cNvSpPr/>
          <p:nvPr/>
        </p:nvSpPr>
        <p:spPr>
          <a:xfrm>
            <a:off x="988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459" name="R8117"/>
          <p:cNvSpPr/>
          <p:nvPr/>
        </p:nvSpPr>
        <p:spPr>
          <a:xfrm>
            <a:off x="10276941" y="1652134"/>
            <a:ext cx="390000" cy="290000"/>
          </a:xfrm>
          <a:prstGeom prst="rect">
            <a:avLst/>
          </a:prstGeom>
          <a:solidFill>
            <a:srgbClr val="2980B9">
              <a:alpha val="2435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60" name="T8118"/>
          <p:cNvSpPr/>
          <p:nvPr/>
        </p:nvSpPr>
        <p:spPr>
          <a:xfrm>
            <a:off x="1027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0.8M</a:t>
            </a:r>
            <a:endParaRPr lang="zh-CN" sz="570" dirty="0"/>
          </a:p>
        </p:txBody>
      </p:sp>
      <p:sp>
        <p:nvSpPr>
          <p:cNvPr id="461" name="T8119"/>
          <p:cNvSpPr/>
          <p:nvPr/>
        </p:nvSpPr>
        <p:spPr>
          <a:xfrm>
            <a:off x="1027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462" name="R8120"/>
          <p:cNvSpPr/>
          <p:nvPr/>
        </p:nvSpPr>
        <p:spPr>
          <a:xfrm>
            <a:off x="10666941" y="1652134"/>
            <a:ext cx="390000" cy="290000"/>
          </a:xfrm>
          <a:prstGeom prst="rect">
            <a:avLst/>
          </a:prstGeom>
          <a:solidFill>
            <a:srgbClr val="2980B9">
              <a:alpha val="67313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63" name="T8121"/>
          <p:cNvSpPr/>
          <p:nvPr/>
        </p:nvSpPr>
        <p:spPr>
          <a:xfrm>
            <a:off x="1066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4.4M</a:t>
            </a:r>
            <a:endParaRPr lang="zh-CN" sz="570" dirty="0"/>
          </a:p>
        </p:txBody>
      </p:sp>
      <p:sp>
        <p:nvSpPr>
          <p:cNvPr id="464" name="T8122"/>
          <p:cNvSpPr/>
          <p:nvPr/>
        </p:nvSpPr>
        <p:spPr>
          <a:xfrm>
            <a:off x="1066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8件</a:t>
            </a:r>
            <a:endParaRPr lang="zh-CN" sz="500" dirty="0"/>
          </a:p>
        </p:txBody>
      </p:sp>
      <p:sp>
        <p:nvSpPr>
          <p:cNvPr id="465" name="R8123"/>
          <p:cNvSpPr/>
          <p:nvPr/>
        </p:nvSpPr>
        <p:spPr>
          <a:xfrm>
            <a:off x="11056941" y="1652134"/>
            <a:ext cx="390000" cy="290000"/>
          </a:xfrm>
          <a:prstGeom prst="rect">
            <a:avLst/>
          </a:prstGeom>
          <a:solidFill>
            <a:srgbClr val="2980B9">
              <a:alpha val="3746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66" name="T8124"/>
          <p:cNvSpPr/>
          <p:nvPr/>
        </p:nvSpPr>
        <p:spPr>
          <a:xfrm>
            <a:off x="1105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zh-CN" sz="570" dirty="0"/>
          </a:p>
        </p:txBody>
      </p:sp>
      <p:sp>
        <p:nvSpPr>
          <p:cNvPr id="467" name="T8125"/>
          <p:cNvSpPr/>
          <p:nvPr/>
        </p:nvSpPr>
        <p:spPr>
          <a:xfrm>
            <a:off x="1105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10件</a:t>
            </a:r>
            <a:endParaRPr lang="zh-CN" sz="500" dirty="0"/>
          </a:p>
        </p:txBody>
      </p:sp>
      <p:sp>
        <p:nvSpPr>
          <p:cNvPr id="468" name="R8126"/>
          <p:cNvSpPr/>
          <p:nvPr/>
        </p:nvSpPr>
        <p:spPr>
          <a:xfrm>
            <a:off x="11446941" y="1652134"/>
            <a:ext cx="390000" cy="290000"/>
          </a:xfrm>
          <a:prstGeom prst="rect">
            <a:avLst/>
          </a:prstGeom>
          <a:solidFill>
            <a:srgbClr val="6FA9D0"/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69" name="T8127"/>
          <p:cNvSpPr/>
          <p:nvPr/>
        </p:nvSpPr>
        <p:spPr>
          <a:xfrm>
            <a:off x="1144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4.6M</a:t>
            </a:r>
            <a:endParaRPr lang="zh-CN" sz="570" dirty="0"/>
          </a:p>
        </p:txBody>
      </p:sp>
      <p:sp>
        <p:nvSpPr>
          <p:cNvPr id="473" name="T8128"/>
          <p:cNvSpPr/>
          <p:nvPr/>
        </p:nvSpPr>
        <p:spPr>
          <a:xfrm>
            <a:off x="11532870" y="1834515"/>
            <a:ext cx="219710" cy="1079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12件</a:t>
            </a:r>
            <a:endParaRPr lang="zh-CN" sz="500" dirty="0"/>
          </a:p>
        </p:txBody>
      </p:sp>
      <p:sp>
        <p:nvSpPr>
          <p:cNvPr id="474" name="T8129"/>
          <p:cNvSpPr/>
          <p:nvPr/>
        </p:nvSpPr>
        <p:spPr>
          <a:xfrm>
            <a:off x="6254496" y="1942134"/>
            <a:ext cx="502445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zh-CN" sz="680" dirty="0"/>
          </a:p>
        </p:txBody>
      </p:sp>
      <p:sp>
        <p:nvSpPr>
          <p:cNvPr id="475" name="R8130"/>
          <p:cNvSpPr/>
          <p:nvPr/>
        </p:nvSpPr>
        <p:spPr>
          <a:xfrm>
            <a:off x="6766941" y="1942134"/>
            <a:ext cx="390000" cy="290000"/>
          </a:xfrm>
          <a:prstGeom prst="rect">
            <a:avLst/>
          </a:prstGeom>
          <a:solidFill>
            <a:srgbClr val="E67E22">
              <a:alpha val="17457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76" name="T8131"/>
          <p:cNvSpPr/>
          <p:nvPr/>
        </p:nvSpPr>
        <p:spPr>
          <a:xfrm>
            <a:off x="676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477" name="T8132"/>
          <p:cNvSpPr/>
          <p:nvPr/>
        </p:nvSpPr>
        <p:spPr>
          <a:xfrm>
            <a:off x="676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478" name="R8133"/>
          <p:cNvSpPr/>
          <p:nvPr/>
        </p:nvSpPr>
        <p:spPr>
          <a:xfrm>
            <a:off x="7156941" y="1942134"/>
            <a:ext cx="390000" cy="290000"/>
          </a:xfrm>
          <a:prstGeom prst="rect">
            <a:avLst/>
          </a:prstGeom>
          <a:solidFill>
            <a:srgbClr val="E67E22">
              <a:alpha val="18686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79" name="T8134"/>
          <p:cNvSpPr/>
          <p:nvPr/>
        </p:nvSpPr>
        <p:spPr>
          <a:xfrm>
            <a:off x="715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480" name="T8135"/>
          <p:cNvSpPr/>
          <p:nvPr/>
        </p:nvSpPr>
        <p:spPr>
          <a:xfrm>
            <a:off x="715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481" name="R8136"/>
          <p:cNvSpPr/>
          <p:nvPr/>
        </p:nvSpPr>
        <p:spPr>
          <a:xfrm>
            <a:off x="7546941" y="1942134"/>
            <a:ext cx="390000" cy="290000"/>
          </a:xfrm>
          <a:prstGeom prst="rect">
            <a:avLst/>
          </a:prstGeom>
          <a:solidFill>
            <a:srgbClr val="E67E22">
              <a:alpha val="32463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82" name="T8137"/>
          <p:cNvSpPr/>
          <p:nvPr/>
        </p:nvSpPr>
        <p:spPr>
          <a:xfrm>
            <a:off x="754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1.1M</a:t>
            </a:r>
            <a:endParaRPr lang="zh-CN" sz="570" dirty="0"/>
          </a:p>
        </p:txBody>
      </p:sp>
      <p:sp>
        <p:nvSpPr>
          <p:cNvPr id="483" name="T8138"/>
          <p:cNvSpPr/>
          <p:nvPr/>
        </p:nvSpPr>
        <p:spPr>
          <a:xfrm>
            <a:off x="754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6件</a:t>
            </a:r>
            <a:endParaRPr lang="zh-CN" sz="500" dirty="0"/>
          </a:p>
        </p:txBody>
      </p:sp>
      <p:sp>
        <p:nvSpPr>
          <p:cNvPr id="484" name="R8139"/>
          <p:cNvSpPr/>
          <p:nvPr/>
        </p:nvSpPr>
        <p:spPr>
          <a:xfrm>
            <a:off x="7936941" y="1942134"/>
            <a:ext cx="390000" cy="290000"/>
          </a:xfrm>
          <a:prstGeom prst="rect">
            <a:avLst/>
          </a:prstGeom>
          <a:solidFill>
            <a:srgbClr val="E67E22">
              <a:alpha val="3216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85" name="T8140"/>
          <p:cNvSpPr/>
          <p:nvPr/>
        </p:nvSpPr>
        <p:spPr>
          <a:xfrm>
            <a:off x="793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1.1M</a:t>
            </a:r>
            <a:endParaRPr lang="zh-CN" sz="570" dirty="0"/>
          </a:p>
        </p:txBody>
      </p:sp>
      <p:sp>
        <p:nvSpPr>
          <p:cNvPr id="486" name="T8141"/>
          <p:cNvSpPr/>
          <p:nvPr/>
        </p:nvSpPr>
        <p:spPr>
          <a:xfrm>
            <a:off x="793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487" name="R8142"/>
          <p:cNvSpPr/>
          <p:nvPr/>
        </p:nvSpPr>
        <p:spPr>
          <a:xfrm>
            <a:off x="8326941" y="1942134"/>
            <a:ext cx="390000" cy="290000"/>
          </a:xfrm>
          <a:prstGeom prst="rect">
            <a:avLst/>
          </a:prstGeom>
          <a:solidFill>
            <a:srgbClr val="E67E22">
              <a:alpha val="7766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88" name="T8143"/>
          <p:cNvSpPr/>
          <p:nvPr/>
        </p:nvSpPr>
        <p:spPr>
          <a:xfrm>
            <a:off x="832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4.0M</a:t>
            </a:r>
            <a:endParaRPr lang="zh-CN" sz="570" dirty="0"/>
          </a:p>
        </p:txBody>
      </p:sp>
      <p:sp>
        <p:nvSpPr>
          <p:cNvPr id="489" name="T8144"/>
          <p:cNvSpPr/>
          <p:nvPr/>
        </p:nvSpPr>
        <p:spPr>
          <a:xfrm>
            <a:off x="832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490" name="R8145"/>
          <p:cNvSpPr/>
          <p:nvPr/>
        </p:nvSpPr>
        <p:spPr>
          <a:xfrm>
            <a:off x="8716941" y="1942134"/>
            <a:ext cx="390000" cy="290000"/>
          </a:xfrm>
          <a:prstGeom prst="rect">
            <a:avLst/>
          </a:prstGeom>
          <a:solidFill>
            <a:srgbClr val="E67E22">
              <a:alpha val="3625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91" name="T8146"/>
          <p:cNvSpPr/>
          <p:nvPr/>
        </p:nvSpPr>
        <p:spPr>
          <a:xfrm>
            <a:off x="871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1.4M</a:t>
            </a:r>
            <a:endParaRPr lang="zh-CN" sz="570" dirty="0"/>
          </a:p>
        </p:txBody>
      </p:sp>
      <p:sp>
        <p:nvSpPr>
          <p:cNvPr id="492" name="T8147"/>
          <p:cNvSpPr/>
          <p:nvPr/>
        </p:nvSpPr>
        <p:spPr>
          <a:xfrm>
            <a:off x="871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493" name="R8148"/>
          <p:cNvSpPr/>
          <p:nvPr/>
        </p:nvSpPr>
        <p:spPr>
          <a:xfrm>
            <a:off x="9106941" y="194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94" name="R8149"/>
          <p:cNvSpPr/>
          <p:nvPr/>
        </p:nvSpPr>
        <p:spPr>
          <a:xfrm>
            <a:off x="9496941" y="1942134"/>
            <a:ext cx="390000" cy="290000"/>
          </a:xfrm>
          <a:prstGeom prst="rect">
            <a:avLst/>
          </a:prstGeom>
          <a:solidFill>
            <a:srgbClr val="E67E22">
              <a:alpha val="22429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95" name="T8150"/>
          <p:cNvSpPr/>
          <p:nvPr/>
        </p:nvSpPr>
        <p:spPr>
          <a:xfrm>
            <a:off x="949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0.5M</a:t>
            </a:r>
            <a:endParaRPr lang="zh-CN" sz="570" dirty="0"/>
          </a:p>
        </p:txBody>
      </p:sp>
      <p:sp>
        <p:nvSpPr>
          <p:cNvPr id="496" name="T8151"/>
          <p:cNvSpPr/>
          <p:nvPr/>
        </p:nvSpPr>
        <p:spPr>
          <a:xfrm>
            <a:off x="949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497" name="R8152"/>
          <p:cNvSpPr/>
          <p:nvPr/>
        </p:nvSpPr>
        <p:spPr>
          <a:xfrm>
            <a:off x="9886941" y="1942134"/>
            <a:ext cx="390000" cy="290000"/>
          </a:xfrm>
          <a:prstGeom prst="rect">
            <a:avLst/>
          </a:prstGeom>
          <a:solidFill>
            <a:srgbClr val="E67E22">
              <a:alpha val="17457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498" name="T8153"/>
          <p:cNvSpPr/>
          <p:nvPr/>
        </p:nvSpPr>
        <p:spPr>
          <a:xfrm>
            <a:off x="988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499" name="T8154"/>
          <p:cNvSpPr/>
          <p:nvPr/>
        </p:nvSpPr>
        <p:spPr>
          <a:xfrm>
            <a:off x="988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500" name="R8155"/>
          <p:cNvSpPr/>
          <p:nvPr/>
        </p:nvSpPr>
        <p:spPr>
          <a:xfrm>
            <a:off x="10276941" y="1942134"/>
            <a:ext cx="390000" cy="290000"/>
          </a:xfrm>
          <a:prstGeom prst="rect">
            <a:avLst/>
          </a:prstGeom>
          <a:solidFill>
            <a:srgbClr val="E67E22">
              <a:alpha val="21143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01" name="T8156"/>
          <p:cNvSpPr/>
          <p:nvPr/>
        </p:nvSpPr>
        <p:spPr>
          <a:xfrm>
            <a:off x="1027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zh-CN" sz="570" dirty="0"/>
          </a:p>
        </p:txBody>
      </p:sp>
      <p:sp>
        <p:nvSpPr>
          <p:cNvPr id="502" name="T8157"/>
          <p:cNvSpPr/>
          <p:nvPr/>
        </p:nvSpPr>
        <p:spPr>
          <a:xfrm>
            <a:off x="1027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503" name="R8158"/>
          <p:cNvSpPr/>
          <p:nvPr/>
        </p:nvSpPr>
        <p:spPr>
          <a:xfrm>
            <a:off x="10666941" y="1942134"/>
            <a:ext cx="390000" cy="290000"/>
          </a:xfrm>
          <a:prstGeom prst="rect">
            <a:avLst/>
          </a:prstGeom>
          <a:solidFill>
            <a:srgbClr val="E67E22">
              <a:alpha val="32571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04" name="T8159"/>
          <p:cNvSpPr/>
          <p:nvPr/>
        </p:nvSpPr>
        <p:spPr>
          <a:xfrm>
            <a:off x="1066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1.1M</a:t>
            </a:r>
            <a:endParaRPr lang="zh-CN" sz="570" dirty="0"/>
          </a:p>
        </p:txBody>
      </p:sp>
      <p:sp>
        <p:nvSpPr>
          <p:cNvPr id="505" name="T8160"/>
          <p:cNvSpPr/>
          <p:nvPr/>
        </p:nvSpPr>
        <p:spPr>
          <a:xfrm>
            <a:off x="1066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506" name="R8161"/>
          <p:cNvSpPr/>
          <p:nvPr/>
        </p:nvSpPr>
        <p:spPr>
          <a:xfrm>
            <a:off x="11056941" y="1942134"/>
            <a:ext cx="390000" cy="290000"/>
          </a:xfrm>
          <a:prstGeom prst="rect">
            <a:avLst/>
          </a:prstGeom>
          <a:solidFill>
            <a:srgbClr val="E67E22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07" name="T8162"/>
          <p:cNvSpPr/>
          <p:nvPr/>
        </p:nvSpPr>
        <p:spPr>
          <a:xfrm>
            <a:off x="1105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4.6M</a:t>
            </a:r>
            <a:endParaRPr lang="zh-CN" sz="570" dirty="0"/>
          </a:p>
        </p:txBody>
      </p:sp>
      <p:sp>
        <p:nvSpPr>
          <p:cNvPr id="508" name="T8163"/>
          <p:cNvSpPr/>
          <p:nvPr/>
        </p:nvSpPr>
        <p:spPr>
          <a:xfrm>
            <a:off x="1105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10件</a:t>
            </a:r>
            <a:endParaRPr lang="zh-CN" sz="500" dirty="0"/>
          </a:p>
        </p:txBody>
      </p:sp>
      <p:sp>
        <p:nvSpPr>
          <p:cNvPr id="509" name="R8164"/>
          <p:cNvSpPr/>
          <p:nvPr/>
        </p:nvSpPr>
        <p:spPr>
          <a:xfrm>
            <a:off x="11446941" y="1942134"/>
            <a:ext cx="390000" cy="290000"/>
          </a:xfrm>
          <a:prstGeom prst="rect">
            <a:avLst/>
          </a:prstGeom>
          <a:solidFill>
            <a:srgbClr val="F7D5B7"/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10" name="T8165"/>
          <p:cNvSpPr/>
          <p:nvPr/>
        </p:nvSpPr>
        <p:spPr>
          <a:xfrm>
            <a:off x="1144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0.9M</a:t>
            </a:r>
            <a:endParaRPr lang="zh-CN" sz="570" dirty="0"/>
          </a:p>
        </p:txBody>
      </p:sp>
      <p:sp>
        <p:nvSpPr>
          <p:cNvPr id="511" name="T8166"/>
          <p:cNvSpPr/>
          <p:nvPr/>
        </p:nvSpPr>
        <p:spPr>
          <a:xfrm>
            <a:off x="11527155" y="2115820"/>
            <a:ext cx="193675" cy="116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512" name="T8167"/>
          <p:cNvSpPr/>
          <p:nvPr/>
        </p:nvSpPr>
        <p:spPr>
          <a:xfrm>
            <a:off x="6254496" y="2232134"/>
            <a:ext cx="502445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zh-CN" sz="680" dirty="0"/>
          </a:p>
        </p:txBody>
      </p:sp>
      <p:sp>
        <p:nvSpPr>
          <p:cNvPr id="513" name="R8168"/>
          <p:cNvSpPr/>
          <p:nvPr/>
        </p:nvSpPr>
        <p:spPr>
          <a:xfrm>
            <a:off x="6766941" y="223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14" name="R8169"/>
          <p:cNvSpPr/>
          <p:nvPr/>
        </p:nvSpPr>
        <p:spPr>
          <a:xfrm>
            <a:off x="7156941" y="2232134"/>
            <a:ext cx="390000" cy="290000"/>
          </a:xfrm>
          <a:prstGeom prst="rect">
            <a:avLst/>
          </a:prstGeom>
          <a:solidFill>
            <a:srgbClr val="8E44AD">
              <a:alpha val="27945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15" name="T8170"/>
          <p:cNvSpPr/>
          <p:nvPr/>
        </p:nvSpPr>
        <p:spPr>
          <a:xfrm>
            <a:off x="7156941" y="223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zh-CN" sz="570" dirty="0"/>
          </a:p>
        </p:txBody>
      </p:sp>
      <p:sp>
        <p:nvSpPr>
          <p:cNvPr id="516" name="T8171"/>
          <p:cNvSpPr/>
          <p:nvPr/>
        </p:nvSpPr>
        <p:spPr>
          <a:xfrm>
            <a:off x="7156941" y="240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517" name="R8172"/>
          <p:cNvSpPr/>
          <p:nvPr/>
        </p:nvSpPr>
        <p:spPr>
          <a:xfrm>
            <a:off x="7546941" y="223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18" name="R8173"/>
          <p:cNvSpPr/>
          <p:nvPr/>
        </p:nvSpPr>
        <p:spPr>
          <a:xfrm>
            <a:off x="7936941" y="223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19" name="R8174"/>
          <p:cNvSpPr/>
          <p:nvPr/>
        </p:nvSpPr>
        <p:spPr>
          <a:xfrm>
            <a:off x="8326941" y="2232134"/>
            <a:ext cx="390000" cy="290000"/>
          </a:xfrm>
          <a:prstGeom prst="rect">
            <a:avLst/>
          </a:prstGeom>
          <a:solidFill>
            <a:srgbClr val="8E44AD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20" name="T8175"/>
          <p:cNvSpPr/>
          <p:nvPr/>
        </p:nvSpPr>
        <p:spPr>
          <a:xfrm>
            <a:off x="8326941" y="223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12.0M</a:t>
            </a:r>
            <a:endParaRPr lang="zh-CN" sz="570" dirty="0"/>
          </a:p>
        </p:txBody>
      </p:sp>
      <p:sp>
        <p:nvSpPr>
          <p:cNvPr id="521" name="T8176"/>
          <p:cNvSpPr/>
          <p:nvPr/>
        </p:nvSpPr>
        <p:spPr>
          <a:xfrm>
            <a:off x="8326941" y="240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522" name="R8177"/>
          <p:cNvSpPr/>
          <p:nvPr/>
        </p:nvSpPr>
        <p:spPr>
          <a:xfrm>
            <a:off x="8716941" y="223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23" name="R8178"/>
          <p:cNvSpPr/>
          <p:nvPr/>
        </p:nvSpPr>
        <p:spPr>
          <a:xfrm>
            <a:off x="9106941" y="2232134"/>
            <a:ext cx="390000" cy="290000"/>
          </a:xfrm>
          <a:prstGeom prst="rect">
            <a:avLst/>
          </a:prstGeom>
          <a:solidFill>
            <a:srgbClr val="8E44AD">
              <a:alpha val="15591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24" name="T8179"/>
          <p:cNvSpPr/>
          <p:nvPr/>
        </p:nvSpPr>
        <p:spPr>
          <a:xfrm>
            <a:off x="9106941" y="223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525" name="T8180"/>
          <p:cNvSpPr/>
          <p:nvPr/>
        </p:nvSpPr>
        <p:spPr>
          <a:xfrm>
            <a:off x="9106941" y="240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526" name="R8181"/>
          <p:cNvSpPr/>
          <p:nvPr/>
        </p:nvSpPr>
        <p:spPr>
          <a:xfrm>
            <a:off x="9496941" y="223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27" name="R8182"/>
          <p:cNvSpPr/>
          <p:nvPr/>
        </p:nvSpPr>
        <p:spPr>
          <a:xfrm>
            <a:off x="9886941" y="223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28" name="R8183"/>
          <p:cNvSpPr/>
          <p:nvPr/>
        </p:nvSpPr>
        <p:spPr>
          <a:xfrm>
            <a:off x="10276941" y="223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29" name="R8184"/>
          <p:cNvSpPr/>
          <p:nvPr/>
        </p:nvSpPr>
        <p:spPr>
          <a:xfrm>
            <a:off x="10666941" y="223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30" name="R8185"/>
          <p:cNvSpPr/>
          <p:nvPr/>
        </p:nvSpPr>
        <p:spPr>
          <a:xfrm>
            <a:off x="11056941" y="223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31" name="R8186"/>
          <p:cNvSpPr/>
          <p:nvPr/>
        </p:nvSpPr>
        <p:spPr>
          <a:xfrm>
            <a:off x="11446941" y="2232134"/>
            <a:ext cx="390000" cy="290000"/>
          </a:xfrm>
          <a:prstGeom prst="rect">
            <a:avLst/>
          </a:prstGeom>
          <a:solidFill>
            <a:srgbClr val="DDCAE7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532" name="T8187"/>
          <p:cNvSpPr/>
          <p:nvPr/>
        </p:nvSpPr>
        <p:spPr>
          <a:xfrm>
            <a:off x="11446941" y="223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1.8M</a:t>
            </a:r>
            <a:endParaRPr lang="zh-CN" sz="570" dirty="0"/>
          </a:p>
        </p:txBody>
      </p:sp>
      <p:sp>
        <p:nvSpPr>
          <p:cNvPr id="533" name="T8188"/>
          <p:cNvSpPr/>
          <p:nvPr/>
        </p:nvSpPr>
        <p:spPr>
          <a:xfrm>
            <a:off x="11435511" y="240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534" name="T8189"/>
          <p:cNvSpPr/>
          <p:nvPr/>
        </p:nvSpPr>
        <p:spPr>
          <a:xfrm>
            <a:off x="6254496" y="2522134"/>
            <a:ext cx="502445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成事+合伙</a:t>
            </a:r>
            <a:endParaRPr lang="zh-CN" sz="680" dirty="0"/>
          </a:p>
        </p:txBody>
      </p:sp>
      <p:sp>
        <p:nvSpPr>
          <p:cNvPr id="535" name="R8190"/>
          <p:cNvSpPr/>
          <p:nvPr/>
        </p:nvSpPr>
        <p:spPr>
          <a:xfrm>
            <a:off x="6766941" y="2522134"/>
            <a:ext cx="390000" cy="290000"/>
          </a:xfrm>
          <a:prstGeom prst="rect">
            <a:avLst/>
          </a:prstGeom>
          <a:solidFill>
            <a:srgbClr val="94A3B8">
              <a:alpha val="3844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36" name="T8191"/>
          <p:cNvSpPr/>
          <p:nvPr/>
        </p:nvSpPr>
        <p:spPr>
          <a:xfrm>
            <a:off x="676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0.5M</a:t>
            </a:r>
            <a:endParaRPr lang="zh-CN" sz="570" dirty="0"/>
          </a:p>
        </p:txBody>
      </p:sp>
      <p:sp>
        <p:nvSpPr>
          <p:cNvPr id="537" name="T8192"/>
          <p:cNvSpPr/>
          <p:nvPr/>
        </p:nvSpPr>
        <p:spPr>
          <a:xfrm>
            <a:off x="6766941" y="269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538" name="R8193"/>
          <p:cNvSpPr/>
          <p:nvPr/>
        </p:nvSpPr>
        <p:spPr>
          <a:xfrm>
            <a:off x="7156941" y="2522134"/>
            <a:ext cx="390000" cy="290000"/>
          </a:xfrm>
          <a:prstGeom prst="rect">
            <a:avLst/>
          </a:prstGeom>
          <a:solidFill>
            <a:srgbClr val="94A3B8">
              <a:alpha val="3745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39" name="T8194"/>
          <p:cNvSpPr/>
          <p:nvPr/>
        </p:nvSpPr>
        <p:spPr>
          <a:xfrm>
            <a:off x="715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0.5M</a:t>
            </a:r>
            <a:endParaRPr lang="zh-CN" sz="570" dirty="0"/>
          </a:p>
        </p:txBody>
      </p:sp>
      <p:sp>
        <p:nvSpPr>
          <p:cNvPr id="540" name="T8195"/>
          <p:cNvSpPr/>
          <p:nvPr/>
        </p:nvSpPr>
        <p:spPr>
          <a:xfrm>
            <a:off x="7156941" y="269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541" name="R8196"/>
          <p:cNvSpPr/>
          <p:nvPr/>
        </p:nvSpPr>
        <p:spPr>
          <a:xfrm>
            <a:off x="7546941" y="2522134"/>
            <a:ext cx="390000" cy="290000"/>
          </a:xfrm>
          <a:prstGeom prst="rect">
            <a:avLst/>
          </a:prstGeom>
          <a:solidFill>
            <a:srgbClr val="94A3B8">
              <a:alpha val="18741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42" name="T8197"/>
          <p:cNvSpPr/>
          <p:nvPr/>
        </p:nvSpPr>
        <p:spPr>
          <a:xfrm>
            <a:off x="754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543" name="T8198"/>
          <p:cNvSpPr/>
          <p:nvPr/>
        </p:nvSpPr>
        <p:spPr>
          <a:xfrm>
            <a:off x="7546941" y="269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544" name="R8199"/>
          <p:cNvSpPr/>
          <p:nvPr/>
        </p:nvSpPr>
        <p:spPr>
          <a:xfrm>
            <a:off x="7936941" y="2522134"/>
            <a:ext cx="390000" cy="290000"/>
          </a:xfrm>
          <a:prstGeom prst="rect">
            <a:avLst/>
          </a:prstGeom>
          <a:solidFill>
            <a:srgbClr val="94A3B8">
              <a:alpha val="18741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45" name="T8200"/>
          <p:cNvSpPr/>
          <p:nvPr/>
        </p:nvSpPr>
        <p:spPr>
          <a:xfrm>
            <a:off x="793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546" name="T8201"/>
          <p:cNvSpPr/>
          <p:nvPr/>
        </p:nvSpPr>
        <p:spPr>
          <a:xfrm>
            <a:off x="7936941" y="269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547" name="R8202"/>
          <p:cNvSpPr/>
          <p:nvPr/>
        </p:nvSpPr>
        <p:spPr>
          <a:xfrm>
            <a:off x="8326941" y="2522134"/>
            <a:ext cx="390000" cy="290000"/>
          </a:xfrm>
          <a:prstGeom prst="rect">
            <a:avLst/>
          </a:prstGeom>
          <a:solidFill>
            <a:srgbClr val="94A3B8">
              <a:alpha val="39695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48" name="T8203"/>
          <p:cNvSpPr/>
          <p:nvPr/>
        </p:nvSpPr>
        <p:spPr>
          <a:xfrm>
            <a:off x="832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0.5M</a:t>
            </a:r>
            <a:endParaRPr lang="zh-CN" sz="570" dirty="0"/>
          </a:p>
        </p:txBody>
      </p:sp>
      <p:sp>
        <p:nvSpPr>
          <p:cNvPr id="549" name="T8204"/>
          <p:cNvSpPr/>
          <p:nvPr/>
        </p:nvSpPr>
        <p:spPr>
          <a:xfrm>
            <a:off x="8326941" y="269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550" name="R8205"/>
          <p:cNvSpPr/>
          <p:nvPr/>
        </p:nvSpPr>
        <p:spPr>
          <a:xfrm>
            <a:off x="8716941" y="252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51" name="R8206"/>
          <p:cNvSpPr/>
          <p:nvPr/>
        </p:nvSpPr>
        <p:spPr>
          <a:xfrm>
            <a:off x="9106941" y="2522134"/>
            <a:ext cx="390000" cy="290000"/>
          </a:xfrm>
          <a:prstGeom prst="rect">
            <a:avLst/>
          </a:prstGeom>
          <a:solidFill>
            <a:srgbClr val="94A3B8">
              <a:alpha val="3370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52" name="T8207"/>
          <p:cNvSpPr/>
          <p:nvPr/>
        </p:nvSpPr>
        <p:spPr>
          <a:xfrm>
            <a:off x="910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zh-CN" sz="570" dirty="0"/>
          </a:p>
        </p:txBody>
      </p:sp>
      <p:sp>
        <p:nvSpPr>
          <p:cNvPr id="553" name="T8208"/>
          <p:cNvSpPr/>
          <p:nvPr/>
        </p:nvSpPr>
        <p:spPr>
          <a:xfrm>
            <a:off x="9106941" y="269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554" name="R8209"/>
          <p:cNvSpPr/>
          <p:nvPr/>
        </p:nvSpPr>
        <p:spPr>
          <a:xfrm>
            <a:off x="9496941" y="252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55" name="R8210"/>
          <p:cNvSpPr/>
          <p:nvPr/>
        </p:nvSpPr>
        <p:spPr>
          <a:xfrm>
            <a:off x="9886941" y="2522134"/>
            <a:ext cx="390000" cy="290000"/>
          </a:xfrm>
          <a:prstGeom prst="rect">
            <a:avLst/>
          </a:prstGeom>
          <a:solidFill>
            <a:srgbClr val="94A3B8">
              <a:alpha val="1882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56" name="T8211"/>
          <p:cNvSpPr/>
          <p:nvPr/>
        </p:nvSpPr>
        <p:spPr>
          <a:xfrm>
            <a:off x="988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557" name="T8212"/>
          <p:cNvSpPr/>
          <p:nvPr/>
        </p:nvSpPr>
        <p:spPr>
          <a:xfrm>
            <a:off x="9886941" y="269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558" name="R8213"/>
          <p:cNvSpPr/>
          <p:nvPr/>
        </p:nvSpPr>
        <p:spPr>
          <a:xfrm>
            <a:off x="10276941" y="2522134"/>
            <a:ext cx="390000" cy="290000"/>
          </a:xfrm>
          <a:prstGeom prst="rect">
            <a:avLst/>
          </a:prstGeom>
          <a:solidFill>
            <a:srgbClr val="94A3B8">
              <a:alpha val="20801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59" name="T8214"/>
          <p:cNvSpPr/>
          <p:nvPr/>
        </p:nvSpPr>
        <p:spPr>
          <a:xfrm>
            <a:off x="1027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560" name="T8215"/>
          <p:cNvSpPr/>
          <p:nvPr/>
        </p:nvSpPr>
        <p:spPr>
          <a:xfrm>
            <a:off x="10276941" y="269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561" name="R8216"/>
          <p:cNvSpPr/>
          <p:nvPr/>
        </p:nvSpPr>
        <p:spPr>
          <a:xfrm>
            <a:off x="10666941" y="2522134"/>
            <a:ext cx="390000" cy="290000"/>
          </a:xfrm>
          <a:prstGeom prst="rect">
            <a:avLst/>
          </a:prstGeom>
          <a:solidFill>
            <a:srgbClr val="94A3B8">
              <a:alpha val="45893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62" name="T8217"/>
          <p:cNvSpPr/>
          <p:nvPr/>
        </p:nvSpPr>
        <p:spPr>
          <a:xfrm>
            <a:off x="1066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0.6M</a:t>
            </a:r>
            <a:endParaRPr lang="zh-CN" sz="570" dirty="0"/>
          </a:p>
        </p:txBody>
      </p:sp>
      <p:sp>
        <p:nvSpPr>
          <p:cNvPr id="563" name="T8218"/>
          <p:cNvSpPr/>
          <p:nvPr/>
        </p:nvSpPr>
        <p:spPr>
          <a:xfrm>
            <a:off x="10666941" y="269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564" name="R8219"/>
          <p:cNvSpPr/>
          <p:nvPr/>
        </p:nvSpPr>
        <p:spPr>
          <a:xfrm>
            <a:off x="11056941" y="2522134"/>
            <a:ext cx="390000" cy="290000"/>
          </a:xfrm>
          <a:prstGeom prst="rect">
            <a:avLst/>
          </a:prstGeom>
          <a:solidFill>
            <a:srgbClr val="94A3B8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65" name="T8220"/>
          <p:cNvSpPr/>
          <p:nvPr/>
        </p:nvSpPr>
        <p:spPr>
          <a:xfrm>
            <a:off x="1105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2.0M</a:t>
            </a:r>
            <a:endParaRPr lang="zh-CN" sz="570" dirty="0"/>
          </a:p>
        </p:txBody>
      </p:sp>
      <p:sp>
        <p:nvSpPr>
          <p:cNvPr id="566" name="T8221"/>
          <p:cNvSpPr/>
          <p:nvPr/>
        </p:nvSpPr>
        <p:spPr>
          <a:xfrm>
            <a:off x="11056941" y="269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</a:t>
            </a:r>
            <a:endParaRPr lang="zh-CN" sz="500" dirty="0"/>
          </a:p>
        </p:txBody>
      </p:sp>
      <p:sp>
        <p:nvSpPr>
          <p:cNvPr id="567" name="T8223"/>
          <p:cNvSpPr/>
          <p:nvPr/>
        </p:nvSpPr>
        <p:spPr>
          <a:xfrm>
            <a:off x="1144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sz="570" dirty="0"/>
          </a:p>
        </p:txBody>
      </p:sp>
      <p:sp>
        <p:nvSpPr>
          <p:cNvPr id="568" name="T8225"/>
          <p:cNvSpPr/>
          <p:nvPr/>
        </p:nvSpPr>
        <p:spPr>
          <a:xfrm>
            <a:off x="6254496" y="2812134"/>
            <a:ext cx="502445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</a:t>
            </a:r>
            <a:endParaRPr lang="zh-CN" sz="680" dirty="0"/>
          </a:p>
        </p:txBody>
      </p:sp>
      <p:sp>
        <p:nvSpPr>
          <p:cNvPr id="569" name="R8226"/>
          <p:cNvSpPr/>
          <p:nvPr/>
        </p:nvSpPr>
        <p:spPr>
          <a:xfrm>
            <a:off x="6766941" y="2812134"/>
            <a:ext cx="390000" cy="290000"/>
          </a:xfrm>
          <a:prstGeom prst="rect">
            <a:avLst/>
          </a:prstGeom>
          <a:solidFill>
            <a:srgbClr val="374151">
              <a:alpha val="18264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70" name="T8227"/>
          <p:cNvSpPr/>
          <p:nvPr/>
        </p:nvSpPr>
        <p:spPr>
          <a:xfrm>
            <a:off x="676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2.6M</a:t>
            </a:r>
            <a:endParaRPr lang="zh-CN" sz="570" dirty="0"/>
          </a:p>
        </p:txBody>
      </p:sp>
      <p:sp>
        <p:nvSpPr>
          <p:cNvPr id="571" name="T8228"/>
          <p:cNvSpPr/>
          <p:nvPr/>
        </p:nvSpPr>
        <p:spPr>
          <a:xfrm>
            <a:off x="676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</a:t>
            </a:r>
            <a:endParaRPr lang="zh-CN" sz="500" dirty="0"/>
          </a:p>
        </p:txBody>
      </p:sp>
      <p:sp>
        <p:nvSpPr>
          <p:cNvPr id="572" name="R8229"/>
          <p:cNvSpPr/>
          <p:nvPr/>
        </p:nvSpPr>
        <p:spPr>
          <a:xfrm>
            <a:off x="7156941" y="2812134"/>
            <a:ext cx="390000" cy="290000"/>
          </a:xfrm>
          <a:prstGeom prst="rect">
            <a:avLst/>
          </a:prstGeom>
          <a:solidFill>
            <a:srgbClr val="374151">
              <a:alpha val="27681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73" name="T8230"/>
          <p:cNvSpPr/>
          <p:nvPr/>
        </p:nvSpPr>
        <p:spPr>
          <a:xfrm>
            <a:off x="715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10.2M</a:t>
            </a:r>
            <a:endParaRPr lang="zh-CN" sz="570" dirty="0"/>
          </a:p>
        </p:txBody>
      </p:sp>
      <p:sp>
        <p:nvSpPr>
          <p:cNvPr id="574" name="T8231"/>
          <p:cNvSpPr/>
          <p:nvPr/>
        </p:nvSpPr>
        <p:spPr>
          <a:xfrm>
            <a:off x="715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19件</a:t>
            </a:r>
            <a:endParaRPr lang="zh-CN" sz="500" dirty="0"/>
          </a:p>
        </p:txBody>
      </p:sp>
      <p:sp>
        <p:nvSpPr>
          <p:cNvPr id="575" name="R8232"/>
          <p:cNvSpPr/>
          <p:nvPr/>
        </p:nvSpPr>
        <p:spPr>
          <a:xfrm>
            <a:off x="7546941" y="2812134"/>
            <a:ext cx="390000" cy="290000"/>
          </a:xfrm>
          <a:prstGeom prst="rect">
            <a:avLst/>
          </a:prstGeom>
          <a:solidFill>
            <a:srgbClr val="374151">
              <a:alpha val="33154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76" name="T8233"/>
          <p:cNvSpPr/>
          <p:nvPr/>
        </p:nvSpPr>
        <p:spPr>
          <a:xfrm>
            <a:off x="754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14.7M</a:t>
            </a:r>
            <a:endParaRPr lang="zh-CN" sz="570" dirty="0"/>
          </a:p>
        </p:txBody>
      </p:sp>
      <p:sp>
        <p:nvSpPr>
          <p:cNvPr id="577" name="T8234"/>
          <p:cNvSpPr/>
          <p:nvPr/>
        </p:nvSpPr>
        <p:spPr>
          <a:xfrm>
            <a:off x="754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zh-CN" sz="500" dirty="0"/>
          </a:p>
        </p:txBody>
      </p:sp>
      <p:sp>
        <p:nvSpPr>
          <p:cNvPr id="578" name="R8235"/>
          <p:cNvSpPr/>
          <p:nvPr/>
        </p:nvSpPr>
        <p:spPr>
          <a:xfrm>
            <a:off x="7936941" y="2812134"/>
            <a:ext cx="390000" cy="290000"/>
          </a:xfrm>
          <a:prstGeom prst="rect">
            <a:avLst/>
          </a:prstGeom>
          <a:solidFill>
            <a:srgbClr val="374151">
              <a:alpha val="29594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79" name="T8236"/>
          <p:cNvSpPr/>
          <p:nvPr/>
        </p:nvSpPr>
        <p:spPr>
          <a:xfrm>
            <a:off x="793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11.8M</a:t>
            </a:r>
            <a:endParaRPr lang="zh-CN" sz="570" dirty="0"/>
          </a:p>
        </p:txBody>
      </p:sp>
      <p:sp>
        <p:nvSpPr>
          <p:cNvPr id="580" name="T8237"/>
          <p:cNvSpPr/>
          <p:nvPr/>
        </p:nvSpPr>
        <p:spPr>
          <a:xfrm>
            <a:off x="793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38件</a:t>
            </a:r>
            <a:endParaRPr lang="zh-CN" sz="500" dirty="0"/>
          </a:p>
        </p:txBody>
      </p:sp>
      <p:sp>
        <p:nvSpPr>
          <p:cNvPr id="581" name="R8238"/>
          <p:cNvSpPr/>
          <p:nvPr/>
        </p:nvSpPr>
        <p:spPr>
          <a:xfrm>
            <a:off x="8326941" y="2812134"/>
            <a:ext cx="390000" cy="290000"/>
          </a:xfrm>
          <a:prstGeom prst="rect">
            <a:avLst/>
          </a:prstGeom>
          <a:solidFill>
            <a:srgbClr val="374151">
              <a:alpha val="55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82" name="T8239"/>
          <p:cNvSpPr/>
          <p:nvPr/>
        </p:nvSpPr>
        <p:spPr>
          <a:xfrm>
            <a:off x="832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32.3M</a:t>
            </a:r>
            <a:endParaRPr lang="zh-CN" sz="570" dirty="0"/>
          </a:p>
        </p:txBody>
      </p:sp>
      <p:sp>
        <p:nvSpPr>
          <p:cNvPr id="583" name="T8240"/>
          <p:cNvSpPr/>
          <p:nvPr/>
        </p:nvSpPr>
        <p:spPr>
          <a:xfrm>
            <a:off x="832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39件</a:t>
            </a:r>
            <a:endParaRPr lang="zh-CN" sz="500" dirty="0"/>
          </a:p>
        </p:txBody>
      </p:sp>
      <p:sp>
        <p:nvSpPr>
          <p:cNvPr id="584" name="R8241"/>
          <p:cNvSpPr/>
          <p:nvPr/>
        </p:nvSpPr>
        <p:spPr>
          <a:xfrm>
            <a:off x="8716941" y="2812134"/>
            <a:ext cx="390000" cy="290000"/>
          </a:xfrm>
          <a:prstGeom prst="rect">
            <a:avLst/>
          </a:prstGeom>
          <a:solidFill>
            <a:srgbClr val="374151">
              <a:alpha val="32893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85" name="T8242"/>
          <p:cNvSpPr/>
          <p:nvPr/>
        </p:nvSpPr>
        <p:spPr>
          <a:xfrm>
            <a:off x="871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14.4M</a:t>
            </a:r>
            <a:endParaRPr lang="zh-CN" sz="570" dirty="0"/>
          </a:p>
        </p:txBody>
      </p:sp>
      <p:sp>
        <p:nvSpPr>
          <p:cNvPr id="586" name="T8243"/>
          <p:cNvSpPr/>
          <p:nvPr/>
        </p:nvSpPr>
        <p:spPr>
          <a:xfrm>
            <a:off x="871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zh-CN" sz="500" dirty="0"/>
          </a:p>
        </p:txBody>
      </p:sp>
      <p:sp>
        <p:nvSpPr>
          <p:cNvPr id="587" name="R8244"/>
          <p:cNvSpPr/>
          <p:nvPr/>
        </p:nvSpPr>
        <p:spPr>
          <a:xfrm>
            <a:off x="9106941" y="2812134"/>
            <a:ext cx="390000" cy="290000"/>
          </a:xfrm>
          <a:prstGeom prst="rect">
            <a:avLst/>
          </a:prstGeom>
          <a:solidFill>
            <a:srgbClr val="374151">
              <a:alpha val="21126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88" name="T8245"/>
          <p:cNvSpPr/>
          <p:nvPr/>
        </p:nvSpPr>
        <p:spPr>
          <a:xfrm>
            <a:off x="910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4.9M</a:t>
            </a:r>
            <a:endParaRPr lang="zh-CN" sz="570" dirty="0"/>
          </a:p>
        </p:txBody>
      </p:sp>
      <p:sp>
        <p:nvSpPr>
          <p:cNvPr id="589" name="T8246"/>
          <p:cNvSpPr/>
          <p:nvPr/>
        </p:nvSpPr>
        <p:spPr>
          <a:xfrm>
            <a:off x="910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12件</a:t>
            </a:r>
            <a:endParaRPr lang="zh-CN" sz="500" dirty="0"/>
          </a:p>
        </p:txBody>
      </p:sp>
      <p:sp>
        <p:nvSpPr>
          <p:cNvPr id="590" name="R8247"/>
          <p:cNvSpPr/>
          <p:nvPr/>
        </p:nvSpPr>
        <p:spPr>
          <a:xfrm>
            <a:off x="9496941" y="2812134"/>
            <a:ext cx="390000" cy="290000"/>
          </a:xfrm>
          <a:prstGeom prst="rect">
            <a:avLst/>
          </a:prstGeom>
          <a:solidFill>
            <a:srgbClr val="374151">
              <a:alpha val="24675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91" name="T8248"/>
          <p:cNvSpPr/>
          <p:nvPr/>
        </p:nvSpPr>
        <p:spPr>
          <a:xfrm>
            <a:off x="949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7.8M</a:t>
            </a:r>
            <a:endParaRPr lang="zh-CN" sz="570" dirty="0"/>
          </a:p>
        </p:txBody>
      </p:sp>
      <p:sp>
        <p:nvSpPr>
          <p:cNvPr id="592" name="T8249"/>
          <p:cNvSpPr/>
          <p:nvPr/>
        </p:nvSpPr>
        <p:spPr>
          <a:xfrm>
            <a:off x="949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34件</a:t>
            </a:r>
            <a:endParaRPr lang="zh-CN" sz="500" dirty="0"/>
          </a:p>
        </p:txBody>
      </p:sp>
      <p:sp>
        <p:nvSpPr>
          <p:cNvPr id="593" name="R8250"/>
          <p:cNvSpPr/>
          <p:nvPr/>
        </p:nvSpPr>
        <p:spPr>
          <a:xfrm>
            <a:off x="9886941" y="2812134"/>
            <a:ext cx="390000" cy="290000"/>
          </a:xfrm>
          <a:prstGeom prst="rect">
            <a:avLst/>
          </a:prstGeom>
          <a:solidFill>
            <a:srgbClr val="374151">
              <a:alpha val="20899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94" name="T8251"/>
          <p:cNvSpPr/>
          <p:nvPr/>
        </p:nvSpPr>
        <p:spPr>
          <a:xfrm>
            <a:off x="988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4.8M</a:t>
            </a:r>
            <a:endParaRPr lang="zh-CN" sz="570" dirty="0"/>
          </a:p>
        </p:txBody>
      </p:sp>
      <p:sp>
        <p:nvSpPr>
          <p:cNvPr id="595" name="T8252"/>
          <p:cNvSpPr/>
          <p:nvPr/>
        </p:nvSpPr>
        <p:spPr>
          <a:xfrm>
            <a:off x="988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15件</a:t>
            </a:r>
            <a:endParaRPr lang="zh-CN" sz="500" dirty="0"/>
          </a:p>
        </p:txBody>
      </p:sp>
      <p:sp>
        <p:nvSpPr>
          <p:cNvPr id="596" name="R8253"/>
          <p:cNvSpPr/>
          <p:nvPr/>
        </p:nvSpPr>
        <p:spPr>
          <a:xfrm>
            <a:off x="10276941" y="2812134"/>
            <a:ext cx="390000" cy="290000"/>
          </a:xfrm>
          <a:prstGeom prst="rect">
            <a:avLst/>
          </a:prstGeom>
          <a:solidFill>
            <a:srgbClr val="374151">
              <a:alpha val="29121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597" name="T8254"/>
          <p:cNvSpPr/>
          <p:nvPr/>
        </p:nvSpPr>
        <p:spPr>
          <a:xfrm>
            <a:off x="1027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11.4M</a:t>
            </a:r>
            <a:endParaRPr lang="zh-CN" sz="570" dirty="0"/>
          </a:p>
        </p:txBody>
      </p:sp>
      <p:sp>
        <p:nvSpPr>
          <p:cNvPr id="598" name="T8255"/>
          <p:cNvSpPr/>
          <p:nvPr/>
        </p:nvSpPr>
        <p:spPr>
          <a:xfrm>
            <a:off x="1027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32件</a:t>
            </a:r>
            <a:endParaRPr lang="zh-CN" sz="500" dirty="0"/>
          </a:p>
        </p:txBody>
      </p:sp>
      <p:sp>
        <p:nvSpPr>
          <p:cNvPr id="599" name="R8256"/>
          <p:cNvSpPr/>
          <p:nvPr/>
        </p:nvSpPr>
        <p:spPr>
          <a:xfrm>
            <a:off x="10666941" y="2812134"/>
            <a:ext cx="390000" cy="290000"/>
          </a:xfrm>
          <a:prstGeom prst="rect">
            <a:avLst/>
          </a:prstGeom>
          <a:solidFill>
            <a:srgbClr val="374151">
              <a:alpha val="41524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00" name="T8257"/>
          <p:cNvSpPr/>
          <p:nvPr/>
        </p:nvSpPr>
        <p:spPr>
          <a:xfrm>
            <a:off x="1066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20.6M</a:t>
            </a:r>
            <a:endParaRPr lang="zh-CN" sz="570" dirty="0"/>
          </a:p>
        </p:txBody>
      </p:sp>
      <p:sp>
        <p:nvSpPr>
          <p:cNvPr id="601" name="T8258"/>
          <p:cNvSpPr/>
          <p:nvPr/>
        </p:nvSpPr>
        <p:spPr>
          <a:xfrm>
            <a:off x="1066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48件</a:t>
            </a:r>
            <a:endParaRPr lang="zh-CN" sz="500" dirty="0"/>
          </a:p>
        </p:txBody>
      </p:sp>
      <p:sp>
        <p:nvSpPr>
          <p:cNvPr id="602" name="R8259"/>
          <p:cNvSpPr/>
          <p:nvPr/>
        </p:nvSpPr>
        <p:spPr>
          <a:xfrm>
            <a:off x="11056941" y="2812134"/>
            <a:ext cx="390000" cy="290000"/>
          </a:xfrm>
          <a:prstGeom prst="rect">
            <a:avLst/>
          </a:prstGeom>
          <a:solidFill>
            <a:srgbClr val="374151">
              <a:alpha val="43809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03" name="T8260"/>
          <p:cNvSpPr/>
          <p:nvPr/>
        </p:nvSpPr>
        <p:spPr>
          <a:xfrm>
            <a:off x="1105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28.2M</a:t>
            </a:r>
            <a:endParaRPr lang="zh-CN" sz="570" dirty="0"/>
          </a:p>
        </p:txBody>
      </p:sp>
      <p:sp>
        <p:nvSpPr>
          <p:cNvPr id="604" name="T8261"/>
          <p:cNvSpPr/>
          <p:nvPr/>
        </p:nvSpPr>
        <p:spPr>
          <a:xfrm>
            <a:off x="1105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67件</a:t>
            </a:r>
            <a:endParaRPr lang="zh-CN" sz="500" dirty="0"/>
          </a:p>
        </p:txBody>
      </p:sp>
      <p:sp>
        <p:nvSpPr>
          <p:cNvPr id="605" name="R8262"/>
          <p:cNvSpPr/>
          <p:nvPr/>
        </p:nvSpPr>
        <p:spPr>
          <a:xfrm>
            <a:off x="11446941" y="2812134"/>
            <a:ext cx="390000" cy="290000"/>
          </a:xfrm>
          <a:prstGeom prst="rect">
            <a:avLst/>
          </a:prstGeom>
          <a:solidFill>
            <a:srgbClr val="B6BBC0"/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06" name="T8263"/>
          <p:cNvSpPr/>
          <p:nvPr/>
        </p:nvSpPr>
        <p:spPr>
          <a:xfrm>
            <a:off x="1144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17.5M</a:t>
            </a:r>
            <a:endParaRPr lang="zh-CN" sz="570" dirty="0"/>
          </a:p>
        </p:txBody>
      </p:sp>
      <p:sp>
        <p:nvSpPr>
          <p:cNvPr id="607" name="T8264"/>
          <p:cNvSpPr/>
          <p:nvPr/>
        </p:nvSpPr>
        <p:spPr>
          <a:xfrm>
            <a:off x="1145837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40件</a:t>
            </a:r>
            <a:endParaRPr lang="zh-CN" sz="500" dirty="0"/>
          </a:p>
        </p:txBody>
      </p:sp>
      <p:sp>
        <p:nvSpPr>
          <p:cNvPr id="608" name="R8182"/>
          <p:cNvSpPr/>
          <p:nvPr/>
        </p:nvSpPr>
        <p:spPr>
          <a:xfrm>
            <a:off x="11447136" y="2522329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09" name="T6000"/>
          <p:cNvSpPr/>
          <p:nvPr/>
        </p:nvSpPr>
        <p:spPr>
          <a:xfrm>
            <a:off x="65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W01</a:t>
            </a:r>
            <a:endParaRPr lang="zh-CN" sz="600" dirty="0"/>
          </a:p>
        </p:txBody>
      </p:sp>
      <p:sp>
        <p:nvSpPr>
          <p:cNvPr id="610" name="T6001"/>
          <p:cNvSpPr/>
          <p:nvPr/>
        </p:nvSpPr>
        <p:spPr>
          <a:xfrm>
            <a:off x="104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W02</a:t>
            </a:r>
            <a:endParaRPr lang="zh-CN" sz="600" dirty="0"/>
          </a:p>
        </p:txBody>
      </p:sp>
      <p:sp>
        <p:nvSpPr>
          <p:cNvPr id="611" name="T6002"/>
          <p:cNvSpPr/>
          <p:nvPr/>
        </p:nvSpPr>
        <p:spPr>
          <a:xfrm>
            <a:off x="143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W03</a:t>
            </a:r>
            <a:endParaRPr lang="zh-CN" sz="600" dirty="0"/>
          </a:p>
        </p:txBody>
      </p:sp>
      <p:sp>
        <p:nvSpPr>
          <p:cNvPr id="612" name="T6003"/>
          <p:cNvSpPr/>
          <p:nvPr/>
        </p:nvSpPr>
        <p:spPr>
          <a:xfrm>
            <a:off x="182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W04</a:t>
            </a:r>
            <a:endParaRPr lang="zh-CN" sz="600" dirty="0"/>
          </a:p>
        </p:txBody>
      </p:sp>
      <p:sp>
        <p:nvSpPr>
          <p:cNvPr id="613" name="T6004"/>
          <p:cNvSpPr/>
          <p:nvPr/>
        </p:nvSpPr>
        <p:spPr>
          <a:xfrm>
            <a:off x="221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W05</a:t>
            </a:r>
            <a:endParaRPr lang="zh-CN" sz="600" dirty="0"/>
          </a:p>
        </p:txBody>
      </p:sp>
      <p:sp>
        <p:nvSpPr>
          <p:cNvPr id="614" name="T6005"/>
          <p:cNvSpPr/>
          <p:nvPr/>
        </p:nvSpPr>
        <p:spPr>
          <a:xfrm>
            <a:off x="260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W06</a:t>
            </a:r>
            <a:endParaRPr lang="zh-CN" sz="600" dirty="0"/>
          </a:p>
        </p:txBody>
      </p:sp>
      <p:sp>
        <p:nvSpPr>
          <p:cNvPr id="615" name="T6006"/>
          <p:cNvSpPr/>
          <p:nvPr/>
        </p:nvSpPr>
        <p:spPr>
          <a:xfrm>
            <a:off x="299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W07</a:t>
            </a:r>
            <a:endParaRPr lang="zh-CN" sz="600" dirty="0"/>
          </a:p>
        </p:txBody>
      </p:sp>
      <p:sp>
        <p:nvSpPr>
          <p:cNvPr id="616" name="T6007"/>
          <p:cNvSpPr/>
          <p:nvPr/>
        </p:nvSpPr>
        <p:spPr>
          <a:xfrm>
            <a:off x="338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W08</a:t>
            </a:r>
            <a:endParaRPr lang="zh-CN" sz="600" dirty="0"/>
          </a:p>
        </p:txBody>
      </p:sp>
      <p:sp>
        <p:nvSpPr>
          <p:cNvPr id="617" name="T6008"/>
          <p:cNvSpPr/>
          <p:nvPr/>
        </p:nvSpPr>
        <p:spPr>
          <a:xfrm>
            <a:off x="377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W09</a:t>
            </a:r>
            <a:endParaRPr lang="zh-CN" sz="600" dirty="0"/>
          </a:p>
        </p:txBody>
      </p:sp>
      <p:sp>
        <p:nvSpPr>
          <p:cNvPr id="618" name="T6009"/>
          <p:cNvSpPr/>
          <p:nvPr/>
        </p:nvSpPr>
        <p:spPr>
          <a:xfrm>
            <a:off x="416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W10</a:t>
            </a:r>
            <a:endParaRPr lang="zh-CN" sz="600" dirty="0"/>
          </a:p>
        </p:txBody>
      </p:sp>
      <p:sp>
        <p:nvSpPr>
          <p:cNvPr id="619" name="T6010"/>
          <p:cNvSpPr/>
          <p:nvPr/>
        </p:nvSpPr>
        <p:spPr>
          <a:xfrm>
            <a:off x="455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W11</a:t>
            </a:r>
            <a:endParaRPr lang="zh-CN" sz="600" dirty="0"/>
          </a:p>
        </p:txBody>
      </p:sp>
      <p:sp>
        <p:nvSpPr>
          <p:cNvPr id="620" name="T6011"/>
          <p:cNvSpPr/>
          <p:nvPr/>
        </p:nvSpPr>
        <p:spPr>
          <a:xfrm>
            <a:off x="494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W12</a:t>
            </a:r>
            <a:endParaRPr lang="zh-CN" sz="600" dirty="0"/>
          </a:p>
        </p:txBody>
      </p:sp>
      <p:sp>
        <p:nvSpPr>
          <p:cNvPr id="621" name="T6012"/>
          <p:cNvSpPr/>
          <p:nvPr/>
        </p:nvSpPr>
        <p:spPr>
          <a:xfrm>
            <a:off x="533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W13</a:t>
            </a:r>
            <a:endParaRPr lang="zh-CN" sz="600" dirty="0"/>
          </a:p>
        </p:txBody>
      </p:sp>
      <p:sp>
        <p:nvSpPr>
          <p:cNvPr id="622" name="T6013"/>
          <p:cNvSpPr/>
          <p:nvPr/>
        </p:nvSpPr>
        <p:spPr>
          <a:xfrm>
            <a:off x="182880" y="4151376"/>
            <a:ext cx="466504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zh-CN" sz="680" dirty="0"/>
          </a:p>
        </p:txBody>
      </p:sp>
      <p:sp>
        <p:nvSpPr>
          <p:cNvPr id="623" name="R6014"/>
          <p:cNvSpPr/>
          <p:nvPr/>
        </p:nvSpPr>
        <p:spPr>
          <a:xfrm>
            <a:off x="659384" y="4151376"/>
            <a:ext cx="390000" cy="290000"/>
          </a:xfrm>
          <a:prstGeom prst="rect">
            <a:avLst/>
          </a:prstGeom>
          <a:solidFill>
            <a:srgbClr val="1F3864">
              <a:alpha val="17703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24" name="T6015"/>
          <p:cNvSpPr/>
          <p:nvPr/>
        </p:nvSpPr>
        <p:spPr>
          <a:xfrm>
            <a:off x="65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zh-CN" sz="570" dirty="0"/>
          </a:p>
        </p:txBody>
      </p:sp>
      <p:sp>
        <p:nvSpPr>
          <p:cNvPr id="625" name="T6016"/>
          <p:cNvSpPr/>
          <p:nvPr/>
        </p:nvSpPr>
        <p:spPr>
          <a:xfrm>
            <a:off x="65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626" name="R6017"/>
          <p:cNvSpPr/>
          <p:nvPr/>
        </p:nvSpPr>
        <p:spPr>
          <a:xfrm>
            <a:off x="1049384" y="4151376"/>
            <a:ext cx="390000" cy="290000"/>
          </a:xfrm>
          <a:prstGeom prst="rect">
            <a:avLst/>
          </a:prstGeom>
          <a:solidFill>
            <a:srgbClr val="1F3864">
              <a:alpha val="19661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27" name="T6018"/>
          <p:cNvSpPr/>
          <p:nvPr/>
        </p:nvSpPr>
        <p:spPr>
          <a:xfrm>
            <a:off x="104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3.4M</a:t>
            </a:r>
            <a:endParaRPr lang="zh-CN" sz="570" dirty="0"/>
          </a:p>
        </p:txBody>
      </p:sp>
      <p:sp>
        <p:nvSpPr>
          <p:cNvPr id="628" name="T6019"/>
          <p:cNvSpPr/>
          <p:nvPr/>
        </p:nvSpPr>
        <p:spPr>
          <a:xfrm>
            <a:off x="104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629" name="R6020"/>
          <p:cNvSpPr/>
          <p:nvPr/>
        </p:nvSpPr>
        <p:spPr>
          <a:xfrm>
            <a:off x="1439384" y="4151376"/>
            <a:ext cx="390000" cy="290000"/>
          </a:xfrm>
          <a:prstGeom prst="rect">
            <a:avLst/>
          </a:prstGeom>
          <a:solidFill>
            <a:srgbClr val="1F3864">
              <a:alpha val="26139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30" name="T6021"/>
          <p:cNvSpPr/>
          <p:nvPr/>
        </p:nvSpPr>
        <p:spPr>
          <a:xfrm>
            <a:off x="143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8.0M</a:t>
            </a:r>
            <a:endParaRPr lang="zh-CN" sz="570" dirty="0"/>
          </a:p>
        </p:txBody>
      </p:sp>
      <p:sp>
        <p:nvSpPr>
          <p:cNvPr id="631" name="T6022"/>
          <p:cNvSpPr/>
          <p:nvPr/>
        </p:nvSpPr>
        <p:spPr>
          <a:xfrm>
            <a:off x="143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11件</a:t>
            </a:r>
            <a:endParaRPr lang="zh-CN" sz="500" dirty="0"/>
          </a:p>
        </p:txBody>
      </p:sp>
      <p:sp>
        <p:nvSpPr>
          <p:cNvPr id="632" name="R6023"/>
          <p:cNvSpPr/>
          <p:nvPr/>
        </p:nvSpPr>
        <p:spPr>
          <a:xfrm>
            <a:off x="1829384" y="4151376"/>
            <a:ext cx="390000" cy="290000"/>
          </a:xfrm>
          <a:prstGeom prst="rect">
            <a:avLst/>
          </a:prstGeom>
          <a:solidFill>
            <a:srgbClr val="1F3864">
              <a:alpha val="17487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33" name="T6024"/>
          <p:cNvSpPr/>
          <p:nvPr/>
        </p:nvSpPr>
        <p:spPr>
          <a:xfrm>
            <a:off x="182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1.8M</a:t>
            </a:r>
            <a:endParaRPr lang="zh-CN" sz="570" dirty="0"/>
          </a:p>
        </p:txBody>
      </p:sp>
      <p:sp>
        <p:nvSpPr>
          <p:cNvPr id="634" name="T6025"/>
          <p:cNvSpPr/>
          <p:nvPr/>
        </p:nvSpPr>
        <p:spPr>
          <a:xfrm>
            <a:off x="182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635" name="R6026"/>
          <p:cNvSpPr/>
          <p:nvPr/>
        </p:nvSpPr>
        <p:spPr>
          <a:xfrm>
            <a:off x="2219384" y="4151376"/>
            <a:ext cx="390000" cy="290000"/>
          </a:xfrm>
          <a:prstGeom prst="rect">
            <a:avLst/>
          </a:prstGeom>
          <a:solidFill>
            <a:srgbClr val="1F3864">
              <a:alpha val="38793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36" name="T6027"/>
          <p:cNvSpPr/>
          <p:nvPr/>
        </p:nvSpPr>
        <p:spPr>
          <a:xfrm>
            <a:off x="221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17.2M</a:t>
            </a:r>
            <a:endParaRPr lang="zh-CN" sz="570" dirty="0"/>
          </a:p>
        </p:txBody>
      </p:sp>
      <p:sp>
        <p:nvSpPr>
          <p:cNvPr id="637" name="T6028"/>
          <p:cNvSpPr/>
          <p:nvPr/>
        </p:nvSpPr>
        <p:spPr>
          <a:xfrm>
            <a:off x="221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</a:t>
            </a:r>
            <a:endParaRPr lang="zh-CN" sz="500" dirty="0"/>
          </a:p>
        </p:txBody>
      </p:sp>
      <p:sp>
        <p:nvSpPr>
          <p:cNvPr id="638" name="R6029"/>
          <p:cNvSpPr/>
          <p:nvPr/>
        </p:nvSpPr>
        <p:spPr>
          <a:xfrm>
            <a:off x="2609384" y="4151376"/>
            <a:ext cx="390000" cy="290000"/>
          </a:xfrm>
          <a:prstGeom prst="rect">
            <a:avLst/>
          </a:prstGeom>
          <a:solidFill>
            <a:srgbClr val="1F3864">
              <a:alpha val="53757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39" name="T6030"/>
          <p:cNvSpPr/>
          <p:nvPr/>
        </p:nvSpPr>
        <p:spPr>
          <a:xfrm>
            <a:off x="260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27.9M</a:t>
            </a:r>
            <a:endParaRPr lang="zh-CN" sz="570" dirty="0"/>
          </a:p>
        </p:txBody>
      </p:sp>
      <p:sp>
        <p:nvSpPr>
          <p:cNvPr id="640" name="T6031"/>
          <p:cNvSpPr/>
          <p:nvPr/>
        </p:nvSpPr>
        <p:spPr>
          <a:xfrm>
            <a:off x="260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21件</a:t>
            </a:r>
            <a:endParaRPr lang="zh-CN" sz="500" dirty="0"/>
          </a:p>
        </p:txBody>
      </p:sp>
      <p:sp>
        <p:nvSpPr>
          <p:cNvPr id="641" name="R6032"/>
          <p:cNvSpPr/>
          <p:nvPr/>
        </p:nvSpPr>
        <p:spPr>
          <a:xfrm>
            <a:off x="2999384" y="4151376"/>
            <a:ext cx="390000" cy="290000"/>
          </a:xfrm>
          <a:prstGeom prst="rect">
            <a:avLst/>
          </a:prstGeom>
          <a:solidFill>
            <a:srgbClr val="1F3864">
              <a:alpha val="17703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42" name="T6033"/>
          <p:cNvSpPr/>
          <p:nvPr/>
        </p:nvSpPr>
        <p:spPr>
          <a:xfrm>
            <a:off x="299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zh-CN" sz="570" dirty="0"/>
          </a:p>
        </p:txBody>
      </p:sp>
      <p:sp>
        <p:nvSpPr>
          <p:cNvPr id="643" name="T6034"/>
          <p:cNvSpPr/>
          <p:nvPr/>
        </p:nvSpPr>
        <p:spPr>
          <a:xfrm>
            <a:off x="299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644" name="R6035"/>
          <p:cNvSpPr/>
          <p:nvPr/>
        </p:nvSpPr>
        <p:spPr>
          <a:xfrm>
            <a:off x="3389384" y="4151376"/>
            <a:ext cx="390000" cy="290000"/>
          </a:xfrm>
          <a:prstGeom prst="rect">
            <a:avLst/>
          </a:prstGeom>
          <a:solidFill>
            <a:srgbClr val="1F3864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45" name="T6036"/>
          <p:cNvSpPr/>
          <p:nvPr/>
        </p:nvSpPr>
        <p:spPr>
          <a:xfrm>
            <a:off x="338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46.9M</a:t>
            </a:r>
            <a:endParaRPr lang="zh-CN" sz="570" dirty="0"/>
          </a:p>
        </p:txBody>
      </p:sp>
      <p:sp>
        <p:nvSpPr>
          <p:cNvPr id="646" name="T6037"/>
          <p:cNvSpPr/>
          <p:nvPr/>
        </p:nvSpPr>
        <p:spPr>
          <a:xfrm>
            <a:off x="338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30件</a:t>
            </a:r>
            <a:endParaRPr lang="zh-CN" sz="500" dirty="0"/>
          </a:p>
        </p:txBody>
      </p:sp>
      <p:sp>
        <p:nvSpPr>
          <p:cNvPr id="647" name="R6038"/>
          <p:cNvSpPr/>
          <p:nvPr/>
        </p:nvSpPr>
        <p:spPr>
          <a:xfrm>
            <a:off x="3779384" y="4151376"/>
            <a:ext cx="390000" cy="290000"/>
          </a:xfrm>
          <a:prstGeom prst="rect">
            <a:avLst/>
          </a:prstGeom>
          <a:solidFill>
            <a:srgbClr val="1F3864">
              <a:alpha val="29444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48" name="T6039"/>
          <p:cNvSpPr/>
          <p:nvPr/>
        </p:nvSpPr>
        <p:spPr>
          <a:xfrm>
            <a:off x="377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10.4M</a:t>
            </a:r>
            <a:endParaRPr lang="zh-CN" sz="570" dirty="0"/>
          </a:p>
        </p:txBody>
      </p:sp>
      <p:sp>
        <p:nvSpPr>
          <p:cNvPr id="649" name="T6040"/>
          <p:cNvSpPr/>
          <p:nvPr/>
        </p:nvSpPr>
        <p:spPr>
          <a:xfrm>
            <a:off x="377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8件</a:t>
            </a:r>
            <a:endParaRPr lang="zh-CN" sz="500" dirty="0"/>
          </a:p>
        </p:txBody>
      </p:sp>
      <p:sp>
        <p:nvSpPr>
          <p:cNvPr id="650" name="R6041"/>
          <p:cNvSpPr/>
          <p:nvPr/>
        </p:nvSpPr>
        <p:spPr>
          <a:xfrm>
            <a:off x="4169384" y="4151376"/>
            <a:ext cx="390000" cy="290000"/>
          </a:xfrm>
          <a:prstGeom prst="rect">
            <a:avLst/>
          </a:prstGeom>
          <a:solidFill>
            <a:srgbClr val="1F3864">
              <a:alpha val="21489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51" name="T6042"/>
          <p:cNvSpPr/>
          <p:nvPr/>
        </p:nvSpPr>
        <p:spPr>
          <a:xfrm>
            <a:off x="416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4.7M</a:t>
            </a:r>
            <a:endParaRPr lang="zh-CN" sz="570" dirty="0"/>
          </a:p>
        </p:txBody>
      </p:sp>
      <p:sp>
        <p:nvSpPr>
          <p:cNvPr id="652" name="T6043"/>
          <p:cNvSpPr/>
          <p:nvPr/>
        </p:nvSpPr>
        <p:spPr>
          <a:xfrm>
            <a:off x="416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</a:t>
            </a:r>
            <a:endParaRPr lang="zh-CN" sz="500" dirty="0"/>
          </a:p>
        </p:txBody>
      </p:sp>
      <p:sp>
        <p:nvSpPr>
          <p:cNvPr id="653" name="R6044"/>
          <p:cNvSpPr/>
          <p:nvPr/>
        </p:nvSpPr>
        <p:spPr>
          <a:xfrm>
            <a:off x="4559384" y="4151376"/>
            <a:ext cx="390000" cy="290000"/>
          </a:xfrm>
          <a:prstGeom prst="rect">
            <a:avLst/>
          </a:prstGeom>
          <a:solidFill>
            <a:srgbClr val="1F3864">
              <a:alpha val="6485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54" name="T6045"/>
          <p:cNvSpPr/>
          <p:nvPr/>
        </p:nvSpPr>
        <p:spPr>
          <a:xfrm>
            <a:off x="455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36.0M</a:t>
            </a:r>
            <a:endParaRPr lang="zh-CN" sz="570" dirty="0"/>
          </a:p>
        </p:txBody>
      </p:sp>
      <p:sp>
        <p:nvSpPr>
          <p:cNvPr id="655" name="T6046"/>
          <p:cNvSpPr/>
          <p:nvPr/>
        </p:nvSpPr>
        <p:spPr>
          <a:xfrm>
            <a:off x="455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19件</a:t>
            </a:r>
            <a:endParaRPr lang="zh-CN" sz="500" dirty="0"/>
          </a:p>
        </p:txBody>
      </p:sp>
      <p:sp>
        <p:nvSpPr>
          <p:cNvPr id="656" name="R6047"/>
          <p:cNvSpPr/>
          <p:nvPr/>
        </p:nvSpPr>
        <p:spPr>
          <a:xfrm>
            <a:off x="4949384" y="4151376"/>
            <a:ext cx="390000" cy="290000"/>
          </a:xfrm>
          <a:prstGeom prst="rect">
            <a:avLst/>
          </a:prstGeom>
          <a:solidFill>
            <a:srgbClr val="1F3864">
              <a:alpha val="23111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57" name="T6048"/>
          <p:cNvSpPr/>
          <p:nvPr/>
        </p:nvSpPr>
        <p:spPr>
          <a:xfrm>
            <a:off x="494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zh-CN" sz="570" dirty="0"/>
          </a:p>
        </p:txBody>
      </p:sp>
      <p:sp>
        <p:nvSpPr>
          <p:cNvPr id="658" name="T6049"/>
          <p:cNvSpPr/>
          <p:nvPr/>
        </p:nvSpPr>
        <p:spPr>
          <a:xfrm>
            <a:off x="494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659" name="R6050"/>
          <p:cNvSpPr/>
          <p:nvPr/>
        </p:nvSpPr>
        <p:spPr>
          <a:xfrm>
            <a:off x="5339384" y="4151376"/>
            <a:ext cx="390000" cy="290000"/>
          </a:xfrm>
          <a:prstGeom prst="rect">
            <a:avLst/>
          </a:prstGeom>
          <a:solidFill>
            <a:srgbClr val="D7DCE4"/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60" name="T6051"/>
          <p:cNvSpPr/>
          <p:nvPr/>
        </p:nvSpPr>
        <p:spPr>
          <a:xfrm>
            <a:off x="5322239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1.8M</a:t>
            </a:r>
            <a:endParaRPr lang="zh-CN" sz="570" b="1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61" name="T6052"/>
          <p:cNvSpPr/>
          <p:nvPr/>
        </p:nvSpPr>
        <p:spPr>
          <a:xfrm>
            <a:off x="533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62" name="T6053"/>
          <p:cNvSpPr/>
          <p:nvPr/>
        </p:nvSpPr>
        <p:spPr>
          <a:xfrm>
            <a:off x="182880" y="4441376"/>
            <a:ext cx="466504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zh-CN" sz="680" dirty="0"/>
          </a:p>
        </p:txBody>
      </p:sp>
      <p:sp>
        <p:nvSpPr>
          <p:cNvPr id="663" name="R6054"/>
          <p:cNvSpPr/>
          <p:nvPr/>
        </p:nvSpPr>
        <p:spPr>
          <a:xfrm>
            <a:off x="659384" y="4441376"/>
            <a:ext cx="390000" cy="290000"/>
          </a:xfrm>
          <a:prstGeom prst="rect">
            <a:avLst/>
          </a:prstGeom>
          <a:solidFill>
            <a:srgbClr val="1A7A3F">
              <a:alpha val="62729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64" name="T6055"/>
          <p:cNvSpPr/>
          <p:nvPr/>
        </p:nvSpPr>
        <p:spPr>
          <a:xfrm>
            <a:off x="65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10.5M</a:t>
            </a:r>
            <a:endParaRPr lang="zh-CN" sz="570" dirty="0"/>
          </a:p>
        </p:txBody>
      </p:sp>
      <p:sp>
        <p:nvSpPr>
          <p:cNvPr id="665" name="T6056"/>
          <p:cNvSpPr/>
          <p:nvPr/>
        </p:nvSpPr>
        <p:spPr>
          <a:xfrm>
            <a:off x="65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33件</a:t>
            </a:r>
            <a:endParaRPr lang="zh-CN" sz="500" dirty="0"/>
          </a:p>
        </p:txBody>
      </p:sp>
      <p:sp>
        <p:nvSpPr>
          <p:cNvPr id="666" name="R6057"/>
          <p:cNvSpPr/>
          <p:nvPr/>
        </p:nvSpPr>
        <p:spPr>
          <a:xfrm>
            <a:off x="1049384" y="4441376"/>
            <a:ext cx="390000" cy="290000"/>
          </a:xfrm>
          <a:prstGeom prst="rect">
            <a:avLst/>
          </a:prstGeom>
          <a:solidFill>
            <a:srgbClr val="1A7A3F">
              <a:alpha val="58236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67" name="T6058"/>
          <p:cNvSpPr/>
          <p:nvPr/>
        </p:nvSpPr>
        <p:spPr>
          <a:xfrm>
            <a:off x="104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9.5M</a:t>
            </a:r>
            <a:endParaRPr lang="zh-CN" sz="570" dirty="0"/>
          </a:p>
        </p:txBody>
      </p:sp>
      <p:sp>
        <p:nvSpPr>
          <p:cNvPr id="668" name="T6059"/>
          <p:cNvSpPr/>
          <p:nvPr/>
        </p:nvSpPr>
        <p:spPr>
          <a:xfrm>
            <a:off x="104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27件</a:t>
            </a:r>
            <a:endParaRPr lang="zh-CN" sz="500" dirty="0"/>
          </a:p>
        </p:txBody>
      </p:sp>
      <p:sp>
        <p:nvSpPr>
          <p:cNvPr id="669" name="R6060"/>
          <p:cNvSpPr/>
          <p:nvPr/>
        </p:nvSpPr>
        <p:spPr>
          <a:xfrm>
            <a:off x="1439384" y="4441376"/>
            <a:ext cx="390000" cy="290000"/>
          </a:xfrm>
          <a:prstGeom prst="rect">
            <a:avLst/>
          </a:prstGeom>
          <a:solidFill>
            <a:srgbClr val="1A7A3F">
              <a:alpha val="67564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70" name="T6061"/>
          <p:cNvSpPr/>
          <p:nvPr/>
        </p:nvSpPr>
        <p:spPr>
          <a:xfrm>
            <a:off x="143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11.6M</a:t>
            </a:r>
            <a:endParaRPr lang="zh-CN" sz="570" dirty="0"/>
          </a:p>
        </p:txBody>
      </p:sp>
      <p:sp>
        <p:nvSpPr>
          <p:cNvPr id="671" name="T6062"/>
          <p:cNvSpPr/>
          <p:nvPr/>
        </p:nvSpPr>
        <p:spPr>
          <a:xfrm>
            <a:off x="143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27件</a:t>
            </a:r>
            <a:endParaRPr lang="zh-CN" sz="500" dirty="0"/>
          </a:p>
        </p:txBody>
      </p:sp>
      <p:sp>
        <p:nvSpPr>
          <p:cNvPr id="672" name="R6063"/>
          <p:cNvSpPr/>
          <p:nvPr/>
        </p:nvSpPr>
        <p:spPr>
          <a:xfrm>
            <a:off x="1829384" y="4441376"/>
            <a:ext cx="390000" cy="290000"/>
          </a:xfrm>
          <a:prstGeom prst="rect">
            <a:avLst/>
          </a:prstGeom>
          <a:solidFill>
            <a:srgbClr val="1A7A3F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73" name="T6064"/>
          <p:cNvSpPr/>
          <p:nvPr/>
        </p:nvSpPr>
        <p:spPr>
          <a:xfrm>
            <a:off x="182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14.3M</a:t>
            </a:r>
            <a:endParaRPr lang="zh-CN" sz="570" dirty="0"/>
          </a:p>
        </p:txBody>
      </p:sp>
      <p:sp>
        <p:nvSpPr>
          <p:cNvPr id="674" name="T6065"/>
          <p:cNvSpPr/>
          <p:nvPr/>
        </p:nvSpPr>
        <p:spPr>
          <a:xfrm>
            <a:off x="182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</a:t>
            </a:r>
            <a:endParaRPr lang="zh-CN" sz="500" dirty="0"/>
          </a:p>
        </p:txBody>
      </p:sp>
      <p:sp>
        <p:nvSpPr>
          <p:cNvPr id="675" name="R6066"/>
          <p:cNvSpPr/>
          <p:nvPr/>
        </p:nvSpPr>
        <p:spPr>
          <a:xfrm>
            <a:off x="2219384" y="4441376"/>
            <a:ext cx="390000" cy="290000"/>
          </a:xfrm>
          <a:prstGeom prst="rect">
            <a:avLst/>
          </a:prstGeom>
          <a:solidFill>
            <a:srgbClr val="1A7A3F">
              <a:alpha val="47955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76" name="T6067"/>
          <p:cNvSpPr/>
          <p:nvPr/>
        </p:nvSpPr>
        <p:spPr>
          <a:xfrm>
            <a:off x="221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7.3M</a:t>
            </a:r>
            <a:endParaRPr lang="zh-CN" sz="570" dirty="0"/>
          </a:p>
        </p:txBody>
      </p:sp>
      <p:sp>
        <p:nvSpPr>
          <p:cNvPr id="677" name="T6068"/>
          <p:cNvSpPr/>
          <p:nvPr/>
        </p:nvSpPr>
        <p:spPr>
          <a:xfrm>
            <a:off x="221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24件</a:t>
            </a:r>
            <a:endParaRPr lang="zh-CN" sz="500" dirty="0"/>
          </a:p>
        </p:txBody>
      </p:sp>
      <p:sp>
        <p:nvSpPr>
          <p:cNvPr id="678" name="R6069"/>
          <p:cNvSpPr/>
          <p:nvPr/>
        </p:nvSpPr>
        <p:spPr>
          <a:xfrm>
            <a:off x="2609384" y="4441376"/>
            <a:ext cx="390000" cy="290000"/>
          </a:xfrm>
          <a:prstGeom prst="rect">
            <a:avLst/>
          </a:prstGeom>
          <a:solidFill>
            <a:srgbClr val="1A7A3F">
              <a:alpha val="3634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79" name="T6070"/>
          <p:cNvSpPr/>
          <p:nvPr/>
        </p:nvSpPr>
        <p:spPr>
          <a:xfrm>
            <a:off x="260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4.7M</a:t>
            </a:r>
            <a:endParaRPr lang="zh-CN" sz="570" dirty="0"/>
          </a:p>
        </p:txBody>
      </p:sp>
      <p:sp>
        <p:nvSpPr>
          <p:cNvPr id="680" name="T6071"/>
          <p:cNvSpPr/>
          <p:nvPr/>
        </p:nvSpPr>
        <p:spPr>
          <a:xfrm>
            <a:off x="260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17件</a:t>
            </a:r>
            <a:endParaRPr lang="zh-CN" sz="500" dirty="0"/>
          </a:p>
        </p:txBody>
      </p:sp>
      <p:sp>
        <p:nvSpPr>
          <p:cNvPr id="681" name="R6072"/>
          <p:cNvSpPr/>
          <p:nvPr/>
        </p:nvSpPr>
        <p:spPr>
          <a:xfrm>
            <a:off x="2999384" y="4441376"/>
            <a:ext cx="390000" cy="290000"/>
          </a:xfrm>
          <a:prstGeom prst="rect">
            <a:avLst/>
          </a:prstGeom>
          <a:solidFill>
            <a:srgbClr val="1A7A3F">
              <a:alpha val="23826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82" name="T6073"/>
          <p:cNvSpPr/>
          <p:nvPr/>
        </p:nvSpPr>
        <p:spPr>
          <a:xfrm>
            <a:off x="299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zh-CN" sz="570" dirty="0"/>
          </a:p>
        </p:txBody>
      </p:sp>
      <p:sp>
        <p:nvSpPr>
          <p:cNvPr id="683" name="T6074"/>
          <p:cNvSpPr/>
          <p:nvPr/>
        </p:nvSpPr>
        <p:spPr>
          <a:xfrm>
            <a:off x="299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684" name="R6075"/>
          <p:cNvSpPr/>
          <p:nvPr/>
        </p:nvSpPr>
        <p:spPr>
          <a:xfrm>
            <a:off x="3389384" y="4441376"/>
            <a:ext cx="390000" cy="290000"/>
          </a:xfrm>
          <a:prstGeom prst="rect">
            <a:avLst/>
          </a:prstGeom>
          <a:solidFill>
            <a:srgbClr val="1A7A3F">
              <a:alpha val="44034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85" name="T6076"/>
          <p:cNvSpPr/>
          <p:nvPr/>
        </p:nvSpPr>
        <p:spPr>
          <a:xfrm>
            <a:off x="338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6.4M</a:t>
            </a:r>
            <a:endParaRPr lang="zh-CN" sz="570" dirty="0"/>
          </a:p>
        </p:txBody>
      </p:sp>
      <p:sp>
        <p:nvSpPr>
          <p:cNvPr id="686" name="T6077"/>
          <p:cNvSpPr/>
          <p:nvPr/>
        </p:nvSpPr>
        <p:spPr>
          <a:xfrm>
            <a:off x="338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19件</a:t>
            </a:r>
            <a:endParaRPr lang="zh-CN" sz="500" dirty="0"/>
          </a:p>
        </p:txBody>
      </p:sp>
      <p:sp>
        <p:nvSpPr>
          <p:cNvPr id="687" name="R6078"/>
          <p:cNvSpPr/>
          <p:nvPr/>
        </p:nvSpPr>
        <p:spPr>
          <a:xfrm>
            <a:off x="3779384" y="4441376"/>
            <a:ext cx="390000" cy="290000"/>
          </a:xfrm>
          <a:prstGeom prst="rect">
            <a:avLst/>
          </a:prstGeom>
          <a:solidFill>
            <a:srgbClr val="1A7A3F">
              <a:alpha val="2735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88" name="T6079"/>
          <p:cNvSpPr/>
          <p:nvPr/>
        </p:nvSpPr>
        <p:spPr>
          <a:xfrm>
            <a:off x="377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2.7M</a:t>
            </a:r>
            <a:endParaRPr lang="zh-CN" sz="570" dirty="0"/>
          </a:p>
        </p:txBody>
      </p:sp>
      <p:sp>
        <p:nvSpPr>
          <p:cNvPr id="689" name="T6080"/>
          <p:cNvSpPr/>
          <p:nvPr/>
        </p:nvSpPr>
        <p:spPr>
          <a:xfrm>
            <a:off x="377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13件</a:t>
            </a:r>
            <a:endParaRPr lang="zh-CN" sz="500" dirty="0"/>
          </a:p>
        </p:txBody>
      </p:sp>
      <p:sp>
        <p:nvSpPr>
          <p:cNvPr id="690" name="R6081"/>
          <p:cNvSpPr/>
          <p:nvPr/>
        </p:nvSpPr>
        <p:spPr>
          <a:xfrm>
            <a:off x="4169384" y="4441376"/>
            <a:ext cx="390000" cy="290000"/>
          </a:xfrm>
          <a:prstGeom prst="rect">
            <a:avLst/>
          </a:prstGeom>
          <a:solidFill>
            <a:srgbClr val="1A7A3F">
              <a:alpha val="35067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91" name="T6082"/>
          <p:cNvSpPr/>
          <p:nvPr/>
        </p:nvSpPr>
        <p:spPr>
          <a:xfrm>
            <a:off x="416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4.4M</a:t>
            </a:r>
            <a:endParaRPr lang="zh-CN" sz="570" dirty="0"/>
          </a:p>
        </p:txBody>
      </p:sp>
      <p:sp>
        <p:nvSpPr>
          <p:cNvPr id="692" name="T6083"/>
          <p:cNvSpPr/>
          <p:nvPr/>
        </p:nvSpPr>
        <p:spPr>
          <a:xfrm>
            <a:off x="416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16件</a:t>
            </a:r>
            <a:endParaRPr lang="zh-CN" sz="500" dirty="0"/>
          </a:p>
        </p:txBody>
      </p:sp>
      <p:sp>
        <p:nvSpPr>
          <p:cNvPr id="693" name="R6084"/>
          <p:cNvSpPr/>
          <p:nvPr/>
        </p:nvSpPr>
        <p:spPr>
          <a:xfrm>
            <a:off x="4559384" y="4441376"/>
            <a:ext cx="390000" cy="290000"/>
          </a:xfrm>
          <a:prstGeom prst="rect">
            <a:avLst/>
          </a:prstGeom>
          <a:solidFill>
            <a:srgbClr val="1A7A3F">
              <a:alpha val="27911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94" name="T6085"/>
          <p:cNvSpPr/>
          <p:nvPr/>
        </p:nvSpPr>
        <p:spPr>
          <a:xfrm>
            <a:off x="455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2.9M</a:t>
            </a:r>
            <a:endParaRPr lang="zh-CN" sz="570" dirty="0"/>
          </a:p>
        </p:txBody>
      </p:sp>
      <p:sp>
        <p:nvSpPr>
          <p:cNvPr id="695" name="T6086"/>
          <p:cNvSpPr/>
          <p:nvPr/>
        </p:nvSpPr>
        <p:spPr>
          <a:xfrm>
            <a:off x="455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9件</a:t>
            </a:r>
            <a:endParaRPr lang="zh-CN" sz="500" dirty="0"/>
          </a:p>
        </p:txBody>
      </p:sp>
      <p:sp>
        <p:nvSpPr>
          <p:cNvPr id="696" name="R6087"/>
          <p:cNvSpPr/>
          <p:nvPr/>
        </p:nvSpPr>
        <p:spPr>
          <a:xfrm>
            <a:off x="4949384" y="4441376"/>
            <a:ext cx="390000" cy="290000"/>
          </a:xfrm>
          <a:prstGeom prst="rect">
            <a:avLst/>
          </a:prstGeom>
          <a:solidFill>
            <a:srgbClr val="1A7A3F">
              <a:alpha val="1706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697" name="T6088"/>
          <p:cNvSpPr/>
          <p:nvPr/>
        </p:nvSpPr>
        <p:spPr>
          <a:xfrm>
            <a:off x="494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1.6M</a:t>
            </a:r>
            <a:endParaRPr lang="zh-CN" sz="570" dirty="0"/>
          </a:p>
        </p:txBody>
      </p:sp>
      <p:sp>
        <p:nvSpPr>
          <p:cNvPr id="698" name="T6089"/>
          <p:cNvSpPr/>
          <p:nvPr/>
        </p:nvSpPr>
        <p:spPr>
          <a:xfrm>
            <a:off x="494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699" name="R6090"/>
          <p:cNvSpPr/>
          <p:nvPr/>
        </p:nvSpPr>
        <p:spPr>
          <a:xfrm>
            <a:off x="5339384" y="4441376"/>
            <a:ext cx="390000" cy="290000"/>
          </a:xfrm>
          <a:prstGeom prst="rect">
            <a:avLst/>
          </a:prstGeom>
          <a:solidFill>
            <a:srgbClr val="83B797"/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34" name="T6091"/>
          <p:cNvSpPr/>
          <p:nvPr/>
        </p:nvSpPr>
        <p:spPr>
          <a:xfrm>
            <a:off x="5345099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8.2M</a:t>
            </a:r>
            <a:endParaRPr lang="zh-CN" sz="570" dirty="0"/>
          </a:p>
        </p:txBody>
      </p:sp>
      <p:sp>
        <p:nvSpPr>
          <p:cNvPr id="735" name="T6092"/>
          <p:cNvSpPr/>
          <p:nvPr/>
        </p:nvSpPr>
        <p:spPr>
          <a:xfrm>
            <a:off x="533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24件</a:t>
            </a:r>
            <a:endParaRPr lang="zh-CN" sz="500" dirty="0"/>
          </a:p>
        </p:txBody>
      </p:sp>
      <p:sp>
        <p:nvSpPr>
          <p:cNvPr id="736" name="T6093"/>
          <p:cNvSpPr/>
          <p:nvPr/>
        </p:nvSpPr>
        <p:spPr>
          <a:xfrm>
            <a:off x="182880" y="4731376"/>
            <a:ext cx="466504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zh-CN" sz="680" dirty="0"/>
          </a:p>
        </p:txBody>
      </p:sp>
      <p:sp>
        <p:nvSpPr>
          <p:cNvPr id="737" name="R6094"/>
          <p:cNvSpPr/>
          <p:nvPr/>
        </p:nvSpPr>
        <p:spPr>
          <a:xfrm>
            <a:off x="659384" y="4731376"/>
            <a:ext cx="390000" cy="290000"/>
          </a:xfrm>
          <a:prstGeom prst="rect">
            <a:avLst/>
          </a:prstGeom>
          <a:solidFill>
            <a:srgbClr val="E67E22">
              <a:alpha val="21604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38" name="T6095"/>
          <p:cNvSpPr/>
          <p:nvPr/>
        </p:nvSpPr>
        <p:spPr>
          <a:xfrm>
            <a:off x="65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3.1M</a:t>
            </a:r>
            <a:endParaRPr lang="zh-CN" sz="570" dirty="0"/>
          </a:p>
        </p:txBody>
      </p:sp>
      <p:sp>
        <p:nvSpPr>
          <p:cNvPr id="739" name="T6096"/>
          <p:cNvSpPr/>
          <p:nvPr/>
        </p:nvSpPr>
        <p:spPr>
          <a:xfrm>
            <a:off x="65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13件</a:t>
            </a:r>
            <a:endParaRPr lang="zh-CN" sz="500" dirty="0"/>
          </a:p>
        </p:txBody>
      </p:sp>
      <p:sp>
        <p:nvSpPr>
          <p:cNvPr id="740" name="R6097"/>
          <p:cNvSpPr/>
          <p:nvPr/>
        </p:nvSpPr>
        <p:spPr>
          <a:xfrm>
            <a:off x="1049384" y="4731376"/>
            <a:ext cx="390000" cy="290000"/>
          </a:xfrm>
          <a:prstGeom prst="rect">
            <a:avLst/>
          </a:prstGeom>
          <a:solidFill>
            <a:srgbClr val="E67E22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41" name="T6098"/>
          <p:cNvSpPr/>
          <p:nvPr/>
        </p:nvSpPr>
        <p:spPr>
          <a:xfrm>
            <a:off x="104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30.9M</a:t>
            </a:r>
            <a:endParaRPr lang="zh-CN" sz="570" dirty="0"/>
          </a:p>
        </p:txBody>
      </p:sp>
      <p:sp>
        <p:nvSpPr>
          <p:cNvPr id="742" name="T6099"/>
          <p:cNvSpPr/>
          <p:nvPr/>
        </p:nvSpPr>
        <p:spPr>
          <a:xfrm>
            <a:off x="104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11件</a:t>
            </a:r>
            <a:endParaRPr lang="zh-CN" sz="500" dirty="0"/>
          </a:p>
        </p:txBody>
      </p:sp>
      <p:sp>
        <p:nvSpPr>
          <p:cNvPr id="743" name="R6100"/>
          <p:cNvSpPr/>
          <p:nvPr/>
        </p:nvSpPr>
        <p:spPr>
          <a:xfrm>
            <a:off x="1439384" y="4731376"/>
            <a:ext cx="390000" cy="290000"/>
          </a:xfrm>
          <a:prstGeom prst="rect">
            <a:avLst/>
          </a:prstGeom>
          <a:solidFill>
            <a:srgbClr val="E67E22">
              <a:alpha val="2705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44" name="T6101"/>
          <p:cNvSpPr/>
          <p:nvPr/>
        </p:nvSpPr>
        <p:spPr>
          <a:xfrm>
            <a:off x="143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5.7M</a:t>
            </a:r>
            <a:endParaRPr lang="zh-CN" sz="570" dirty="0"/>
          </a:p>
        </p:txBody>
      </p:sp>
      <p:sp>
        <p:nvSpPr>
          <p:cNvPr id="745" name="T6102"/>
          <p:cNvSpPr/>
          <p:nvPr/>
        </p:nvSpPr>
        <p:spPr>
          <a:xfrm>
            <a:off x="143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8件</a:t>
            </a:r>
            <a:endParaRPr lang="zh-CN" sz="500" dirty="0"/>
          </a:p>
        </p:txBody>
      </p:sp>
      <p:sp>
        <p:nvSpPr>
          <p:cNvPr id="746" name="R6103"/>
          <p:cNvSpPr/>
          <p:nvPr/>
        </p:nvSpPr>
        <p:spPr>
          <a:xfrm>
            <a:off x="1829384" y="4731376"/>
            <a:ext cx="390000" cy="290000"/>
          </a:xfrm>
          <a:prstGeom prst="rect">
            <a:avLst/>
          </a:prstGeom>
          <a:solidFill>
            <a:srgbClr val="E67E22">
              <a:alpha val="19339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47" name="T6104"/>
          <p:cNvSpPr/>
          <p:nvPr/>
        </p:nvSpPr>
        <p:spPr>
          <a:xfrm>
            <a:off x="182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2.1M</a:t>
            </a:r>
            <a:endParaRPr lang="zh-CN" sz="570" dirty="0"/>
          </a:p>
        </p:txBody>
      </p:sp>
      <p:sp>
        <p:nvSpPr>
          <p:cNvPr id="748" name="T6105"/>
          <p:cNvSpPr/>
          <p:nvPr/>
        </p:nvSpPr>
        <p:spPr>
          <a:xfrm>
            <a:off x="182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749" name="R6106"/>
          <p:cNvSpPr/>
          <p:nvPr/>
        </p:nvSpPr>
        <p:spPr>
          <a:xfrm>
            <a:off x="2219384" y="4731376"/>
            <a:ext cx="390000" cy="290000"/>
          </a:xfrm>
          <a:prstGeom prst="rect">
            <a:avLst/>
          </a:prstGeom>
          <a:solidFill>
            <a:srgbClr val="E67E22">
              <a:alpha val="17539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50" name="T6107"/>
          <p:cNvSpPr/>
          <p:nvPr/>
        </p:nvSpPr>
        <p:spPr>
          <a:xfrm>
            <a:off x="221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1.2M</a:t>
            </a:r>
            <a:endParaRPr lang="zh-CN" sz="570" dirty="0"/>
          </a:p>
        </p:txBody>
      </p:sp>
      <p:sp>
        <p:nvSpPr>
          <p:cNvPr id="751" name="T6108"/>
          <p:cNvSpPr/>
          <p:nvPr/>
        </p:nvSpPr>
        <p:spPr>
          <a:xfrm>
            <a:off x="221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</a:t>
            </a:r>
            <a:endParaRPr lang="zh-CN" sz="500" dirty="0"/>
          </a:p>
        </p:txBody>
      </p:sp>
      <p:sp>
        <p:nvSpPr>
          <p:cNvPr id="752" name="R6109"/>
          <p:cNvSpPr/>
          <p:nvPr/>
        </p:nvSpPr>
        <p:spPr>
          <a:xfrm>
            <a:off x="2609384" y="4731376"/>
            <a:ext cx="390000" cy="290000"/>
          </a:xfrm>
          <a:prstGeom prst="rect">
            <a:avLst/>
          </a:prstGeom>
          <a:solidFill>
            <a:srgbClr val="E67E22">
              <a:alpha val="1602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53" name="T6110"/>
          <p:cNvSpPr/>
          <p:nvPr/>
        </p:nvSpPr>
        <p:spPr>
          <a:xfrm>
            <a:off x="260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0.5M</a:t>
            </a:r>
            <a:endParaRPr lang="zh-CN" sz="570" dirty="0"/>
          </a:p>
        </p:txBody>
      </p:sp>
      <p:sp>
        <p:nvSpPr>
          <p:cNvPr id="754" name="T6111"/>
          <p:cNvSpPr/>
          <p:nvPr/>
        </p:nvSpPr>
        <p:spPr>
          <a:xfrm>
            <a:off x="260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755" name="R6112"/>
          <p:cNvSpPr/>
          <p:nvPr/>
        </p:nvSpPr>
        <p:spPr>
          <a:xfrm>
            <a:off x="2999384" y="4731376"/>
            <a:ext cx="390000" cy="290000"/>
          </a:xfrm>
          <a:prstGeom prst="rect">
            <a:avLst/>
          </a:prstGeom>
          <a:solidFill>
            <a:srgbClr val="E67E22">
              <a:alpha val="22061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56" name="T6113"/>
          <p:cNvSpPr/>
          <p:nvPr/>
        </p:nvSpPr>
        <p:spPr>
          <a:xfrm>
            <a:off x="299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3.4M</a:t>
            </a:r>
            <a:endParaRPr lang="zh-CN" sz="570" dirty="0"/>
          </a:p>
        </p:txBody>
      </p:sp>
      <p:sp>
        <p:nvSpPr>
          <p:cNvPr id="757" name="T6114"/>
          <p:cNvSpPr/>
          <p:nvPr/>
        </p:nvSpPr>
        <p:spPr>
          <a:xfrm>
            <a:off x="299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758" name="R6115"/>
          <p:cNvSpPr/>
          <p:nvPr/>
        </p:nvSpPr>
        <p:spPr>
          <a:xfrm>
            <a:off x="3389384" y="4731376"/>
            <a:ext cx="390000" cy="290000"/>
          </a:xfrm>
          <a:prstGeom prst="rect">
            <a:avLst/>
          </a:prstGeom>
          <a:solidFill>
            <a:srgbClr val="E67E22">
              <a:alpha val="16313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59" name="T6116"/>
          <p:cNvSpPr/>
          <p:nvPr/>
        </p:nvSpPr>
        <p:spPr>
          <a:xfrm>
            <a:off x="338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0.6M</a:t>
            </a:r>
            <a:endParaRPr lang="zh-CN" sz="570" dirty="0"/>
          </a:p>
        </p:txBody>
      </p:sp>
      <p:sp>
        <p:nvSpPr>
          <p:cNvPr id="760" name="T6117"/>
          <p:cNvSpPr/>
          <p:nvPr/>
        </p:nvSpPr>
        <p:spPr>
          <a:xfrm>
            <a:off x="338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761" name="R6118"/>
          <p:cNvSpPr/>
          <p:nvPr/>
        </p:nvSpPr>
        <p:spPr>
          <a:xfrm>
            <a:off x="3779384" y="4731376"/>
            <a:ext cx="390000" cy="290000"/>
          </a:xfrm>
          <a:prstGeom prst="rect">
            <a:avLst/>
          </a:prstGeom>
          <a:solidFill>
            <a:srgbClr val="E67E22">
              <a:alpha val="15944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62" name="T6119"/>
          <p:cNvSpPr/>
          <p:nvPr/>
        </p:nvSpPr>
        <p:spPr>
          <a:xfrm>
            <a:off x="377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0.5M</a:t>
            </a:r>
            <a:endParaRPr lang="zh-CN" sz="570" dirty="0"/>
          </a:p>
        </p:txBody>
      </p:sp>
      <p:sp>
        <p:nvSpPr>
          <p:cNvPr id="763" name="T6120"/>
          <p:cNvSpPr/>
          <p:nvPr/>
        </p:nvSpPr>
        <p:spPr>
          <a:xfrm>
            <a:off x="377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764" name="R6121"/>
          <p:cNvSpPr/>
          <p:nvPr/>
        </p:nvSpPr>
        <p:spPr>
          <a:xfrm>
            <a:off x="4169384" y="4731376"/>
            <a:ext cx="390000" cy="290000"/>
          </a:xfrm>
          <a:prstGeom prst="rect">
            <a:avLst/>
          </a:prstGeom>
          <a:solidFill>
            <a:srgbClr val="E67E22">
              <a:alpha val="1619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65" name="T6122"/>
          <p:cNvSpPr/>
          <p:nvPr/>
        </p:nvSpPr>
        <p:spPr>
          <a:xfrm>
            <a:off x="416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0.6M</a:t>
            </a:r>
            <a:endParaRPr lang="zh-CN" sz="570" dirty="0"/>
          </a:p>
        </p:txBody>
      </p:sp>
      <p:sp>
        <p:nvSpPr>
          <p:cNvPr id="766" name="T6123"/>
          <p:cNvSpPr/>
          <p:nvPr/>
        </p:nvSpPr>
        <p:spPr>
          <a:xfrm>
            <a:off x="416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767" name="R6124"/>
          <p:cNvSpPr/>
          <p:nvPr/>
        </p:nvSpPr>
        <p:spPr>
          <a:xfrm>
            <a:off x="4559384" y="473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68" name="R6125"/>
          <p:cNvSpPr/>
          <p:nvPr/>
        </p:nvSpPr>
        <p:spPr>
          <a:xfrm>
            <a:off x="4949384" y="473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69" name="R6126"/>
          <p:cNvSpPr/>
          <p:nvPr/>
        </p:nvSpPr>
        <p:spPr>
          <a:xfrm>
            <a:off x="5339384" y="4731376"/>
            <a:ext cx="390000" cy="290000"/>
          </a:xfrm>
          <a:prstGeom prst="rect">
            <a:avLst/>
          </a:prstGeom>
          <a:solidFill>
            <a:srgbClr val="F9DDCA"/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70" name="T6127"/>
          <p:cNvSpPr/>
          <p:nvPr/>
        </p:nvSpPr>
        <p:spPr>
          <a:xfrm>
            <a:off x="533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A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zh-CN" sz="570" b="1" dirty="0">
              <a:solidFill>
                <a:srgbClr val="EA7E22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71" name="T6128"/>
          <p:cNvSpPr/>
          <p:nvPr/>
        </p:nvSpPr>
        <p:spPr>
          <a:xfrm>
            <a:off x="533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A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8件</a:t>
            </a:r>
            <a:endParaRPr lang="zh-CN" sz="500" dirty="0">
              <a:solidFill>
                <a:srgbClr val="EA7E22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72" name="T6129"/>
          <p:cNvSpPr/>
          <p:nvPr/>
        </p:nvSpPr>
        <p:spPr>
          <a:xfrm>
            <a:off x="182880" y="5021376"/>
            <a:ext cx="466504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zh-CN" sz="680" dirty="0"/>
          </a:p>
        </p:txBody>
      </p:sp>
      <p:sp>
        <p:nvSpPr>
          <p:cNvPr id="773" name="R6130"/>
          <p:cNvSpPr/>
          <p:nvPr/>
        </p:nvSpPr>
        <p:spPr>
          <a:xfrm>
            <a:off x="659384" y="5021376"/>
            <a:ext cx="390000" cy="290000"/>
          </a:xfrm>
          <a:prstGeom prst="rect">
            <a:avLst/>
          </a:prstGeom>
          <a:solidFill>
            <a:srgbClr val="2980B9">
              <a:alpha val="4305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74" name="T6131"/>
          <p:cNvSpPr/>
          <p:nvPr/>
        </p:nvSpPr>
        <p:spPr>
          <a:xfrm>
            <a:off x="65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zh-CN" sz="570" dirty="0"/>
          </a:p>
        </p:txBody>
      </p:sp>
      <p:sp>
        <p:nvSpPr>
          <p:cNvPr id="775" name="T6132"/>
          <p:cNvSpPr/>
          <p:nvPr/>
        </p:nvSpPr>
        <p:spPr>
          <a:xfrm>
            <a:off x="65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13件</a:t>
            </a:r>
            <a:endParaRPr lang="zh-CN" sz="500" dirty="0"/>
          </a:p>
        </p:txBody>
      </p:sp>
      <p:sp>
        <p:nvSpPr>
          <p:cNvPr id="776" name="R6133"/>
          <p:cNvSpPr/>
          <p:nvPr/>
        </p:nvSpPr>
        <p:spPr>
          <a:xfrm>
            <a:off x="1049384" y="5021376"/>
            <a:ext cx="390000" cy="290000"/>
          </a:xfrm>
          <a:prstGeom prst="rect">
            <a:avLst/>
          </a:prstGeom>
          <a:solidFill>
            <a:srgbClr val="2980B9">
              <a:alpha val="4135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77" name="T6134"/>
          <p:cNvSpPr/>
          <p:nvPr/>
        </p:nvSpPr>
        <p:spPr>
          <a:xfrm>
            <a:off x="104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2.3M</a:t>
            </a:r>
            <a:endParaRPr lang="zh-CN" sz="570" dirty="0"/>
          </a:p>
        </p:txBody>
      </p:sp>
      <p:sp>
        <p:nvSpPr>
          <p:cNvPr id="778" name="T6135"/>
          <p:cNvSpPr/>
          <p:nvPr/>
        </p:nvSpPr>
        <p:spPr>
          <a:xfrm>
            <a:off x="104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</a:t>
            </a:r>
            <a:endParaRPr lang="zh-CN" sz="500" dirty="0"/>
          </a:p>
        </p:txBody>
      </p:sp>
      <p:sp>
        <p:nvSpPr>
          <p:cNvPr id="779" name="R6136"/>
          <p:cNvSpPr/>
          <p:nvPr/>
        </p:nvSpPr>
        <p:spPr>
          <a:xfrm>
            <a:off x="1439384" y="5021376"/>
            <a:ext cx="390000" cy="290000"/>
          </a:xfrm>
          <a:prstGeom prst="rect">
            <a:avLst/>
          </a:prstGeom>
          <a:solidFill>
            <a:srgbClr val="2980B9">
              <a:alpha val="2810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80" name="T6137"/>
          <p:cNvSpPr/>
          <p:nvPr/>
        </p:nvSpPr>
        <p:spPr>
          <a:xfrm>
            <a:off x="143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1.1M</a:t>
            </a:r>
            <a:endParaRPr lang="zh-CN" sz="570" dirty="0"/>
          </a:p>
        </p:txBody>
      </p:sp>
      <p:sp>
        <p:nvSpPr>
          <p:cNvPr id="781" name="T6138"/>
          <p:cNvSpPr/>
          <p:nvPr/>
        </p:nvSpPr>
        <p:spPr>
          <a:xfrm>
            <a:off x="143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6件</a:t>
            </a:r>
            <a:endParaRPr lang="zh-CN" sz="500" dirty="0"/>
          </a:p>
        </p:txBody>
      </p:sp>
      <p:sp>
        <p:nvSpPr>
          <p:cNvPr id="782" name="R6139"/>
          <p:cNvSpPr/>
          <p:nvPr/>
        </p:nvSpPr>
        <p:spPr>
          <a:xfrm>
            <a:off x="1829384" y="5021376"/>
            <a:ext cx="390000" cy="290000"/>
          </a:xfrm>
          <a:prstGeom prst="rect">
            <a:avLst/>
          </a:prstGeom>
          <a:solidFill>
            <a:srgbClr val="2980B9">
              <a:alpha val="2584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83" name="T6140"/>
          <p:cNvSpPr/>
          <p:nvPr/>
        </p:nvSpPr>
        <p:spPr>
          <a:xfrm>
            <a:off x="182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0.9M</a:t>
            </a:r>
            <a:endParaRPr lang="zh-CN" sz="570" dirty="0"/>
          </a:p>
        </p:txBody>
      </p:sp>
      <p:sp>
        <p:nvSpPr>
          <p:cNvPr id="784" name="T6141"/>
          <p:cNvSpPr/>
          <p:nvPr/>
        </p:nvSpPr>
        <p:spPr>
          <a:xfrm>
            <a:off x="182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785" name="R6142"/>
          <p:cNvSpPr/>
          <p:nvPr/>
        </p:nvSpPr>
        <p:spPr>
          <a:xfrm>
            <a:off x="2219384" y="5021376"/>
            <a:ext cx="390000" cy="290000"/>
          </a:xfrm>
          <a:prstGeom prst="rect">
            <a:avLst/>
          </a:prstGeom>
          <a:solidFill>
            <a:srgbClr val="2980B9">
              <a:alpha val="58519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86" name="T6143"/>
          <p:cNvSpPr/>
          <p:nvPr/>
        </p:nvSpPr>
        <p:spPr>
          <a:xfrm>
            <a:off x="221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3.8M</a:t>
            </a:r>
            <a:endParaRPr lang="zh-CN" sz="570" dirty="0"/>
          </a:p>
        </p:txBody>
      </p:sp>
      <p:sp>
        <p:nvSpPr>
          <p:cNvPr id="787" name="T6144"/>
          <p:cNvSpPr/>
          <p:nvPr/>
        </p:nvSpPr>
        <p:spPr>
          <a:xfrm>
            <a:off x="221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11件</a:t>
            </a:r>
            <a:endParaRPr lang="zh-CN" sz="500" dirty="0"/>
          </a:p>
        </p:txBody>
      </p:sp>
      <p:sp>
        <p:nvSpPr>
          <p:cNvPr id="788" name="R6145"/>
          <p:cNvSpPr/>
          <p:nvPr/>
        </p:nvSpPr>
        <p:spPr>
          <a:xfrm>
            <a:off x="2609384" y="5021376"/>
            <a:ext cx="390000" cy="290000"/>
          </a:xfrm>
          <a:prstGeom prst="rect">
            <a:avLst/>
          </a:prstGeom>
          <a:solidFill>
            <a:srgbClr val="2980B9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89" name="T6146"/>
          <p:cNvSpPr/>
          <p:nvPr/>
        </p:nvSpPr>
        <p:spPr>
          <a:xfrm>
            <a:off x="260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5.6M</a:t>
            </a:r>
            <a:endParaRPr lang="zh-CN" sz="570" dirty="0"/>
          </a:p>
        </p:txBody>
      </p:sp>
      <p:sp>
        <p:nvSpPr>
          <p:cNvPr id="790" name="T6147"/>
          <p:cNvSpPr/>
          <p:nvPr/>
        </p:nvSpPr>
        <p:spPr>
          <a:xfrm>
            <a:off x="260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8件</a:t>
            </a:r>
            <a:endParaRPr lang="zh-CN" sz="500" dirty="0"/>
          </a:p>
        </p:txBody>
      </p:sp>
      <p:sp>
        <p:nvSpPr>
          <p:cNvPr id="791" name="R6148"/>
          <p:cNvSpPr/>
          <p:nvPr/>
        </p:nvSpPr>
        <p:spPr>
          <a:xfrm>
            <a:off x="2999384" y="5021376"/>
            <a:ext cx="390000" cy="290000"/>
          </a:xfrm>
          <a:prstGeom prst="rect">
            <a:avLst/>
          </a:prstGeom>
          <a:solidFill>
            <a:srgbClr val="2980B9">
              <a:alpha val="1511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92" name="T6149"/>
          <p:cNvSpPr/>
          <p:nvPr/>
        </p:nvSpPr>
        <p:spPr>
          <a:xfrm>
            <a:off x="299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zh-CN" sz="570" dirty="0"/>
          </a:p>
        </p:txBody>
      </p:sp>
      <p:sp>
        <p:nvSpPr>
          <p:cNvPr id="793" name="T6150"/>
          <p:cNvSpPr/>
          <p:nvPr/>
        </p:nvSpPr>
        <p:spPr>
          <a:xfrm>
            <a:off x="299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794" name="R6151"/>
          <p:cNvSpPr/>
          <p:nvPr/>
        </p:nvSpPr>
        <p:spPr>
          <a:xfrm>
            <a:off x="3389384" y="5021376"/>
            <a:ext cx="390000" cy="290000"/>
          </a:xfrm>
          <a:prstGeom prst="rect">
            <a:avLst/>
          </a:prstGeom>
          <a:solidFill>
            <a:srgbClr val="2980B9">
              <a:alpha val="28276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95" name="T6152"/>
          <p:cNvSpPr/>
          <p:nvPr/>
        </p:nvSpPr>
        <p:spPr>
          <a:xfrm>
            <a:off x="338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1.1M</a:t>
            </a:r>
            <a:endParaRPr lang="zh-CN" sz="570" dirty="0"/>
          </a:p>
        </p:txBody>
      </p:sp>
      <p:sp>
        <p:nvSpPr>
          <p:cNvPr id="796" name="T6153"/>
          <p:cNvSpPr/>
          <p:nvPr/>
        </p:nvSpPr>
        <p:spPr>
          <a:xfrm>
            <a:off x="338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</a:t>
            </a:r>
            <a:endParaRPr lang="zh-CN" sz="500" dirty="0"/>
          </a:p>
        </p:txBody>
      </p:sp>
      <p:sp>
        <p:nvSpPr>
          <p:cNvPr id="797" name="R6154"/>
          <p:cNvSpPr/>
          <p:nvPr/>
        </p:nvSpPr>
        <p:spPr>
          <a:xfrm>
            <a:off x="3779384" y="5021376"/>
            <a:ext cx="390000" cy="290000"/>
          </a:xfrm>
          <a:prstGeom prst="rect">
            <a:avLst/>
          </a:prstGeom>
          <a:solidFill>
            <a:srgbClr val="2980B9">
              <a:alpha val="33821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798" name="T6155"/>
          <p:cNvSpPr/>
          <p:nvPr/>
        </p:nvSpPr>
        <p:spPr>
          <a:xfrm>
            <a:off x="377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1.6M</a:t>
            </a:r>
            <a:endParaRPr lang="zh-CN" sz="570" dirty="0"/>
          </a:p>
        </p:txBody>
      </p:sp>
      <p:sp>
        <p:nvSpPr>
          <p:cNvPr id="799" name="T6156"/>
          <p:cNvSpPr/>
          <p:nvPr/>
        </p:nvSpPr>
        <p:spPr>
          <a:xfrm>
            <a:off x="377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800" name="R6157"/>
          <p:cNvSpPr/>
          <p:nvPr/>
        </p:nvSpPr>
        <p:spPr>
          <a:xfrm>
            <a:off x="4169384" y="5021376"/>
            <a:ext cx="390000" cy="290000"/>
          </a:xfrm>
          <a:prstGeom prst="rect">
            <a:avLst/>
          </a:prstGeom>
          <a:solidFill>
            <a:srgbClr val="2980B9">
              <a:alpha val="38504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01" name="T6158"/>
          <p:cNvSpPr/>
          <p:nvPr/>
        </p:nvSpPr>
        <p:spPr>
          <a:xfrm>
            <a:off x="416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2.0M</a:t>
            </a:r>
            <a:endParaRPr lang="zh-CN" sz="570" dirty="0"/>
          </a:p>
        </p:txBody>
      </p:sp>
      <p:sp>
        <p:nvSpPr>
          <p:cNvPr id="802" name="T6159"/>
          <p:cNvSpPr/>
          <p:nvPr/>
        </p:nvSpPr>
        <p:spPr>
          <a:xfrm>
            <a:off x="416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803" name="R6160"/>
          <p:cNvSpPr/>
          <p:nvPr/>
        </p:nvSpPr>
        <p:spPr>
          <a:xfrm>
            <a:off x="4559384" y="5021376"/>
            <a:ext cx="390000" cy="290000"/>
          </a:xfrm>
          <a:prstGeom prst="rect">
            <a:avLst/>
          </a:prstGeom>
          <a:solidFill>
            <a:srgbClr val="2980B9">
              <a:alpha val="38179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04" name="T6161"/>
          <p:cNvSpPr/>
          <p:nvPr/>
        </p:nvSpPr>
        <p:spPr>
          <a:xfrm>
            <a:off x="455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2.0M</a:t>
            </a:r>
            <a:endParaRPr lang="zh-CN" sz="570" dirty="0"/>
          </a:p>
        </p:txBody>
      </p:sp>
      <p:sp>
        <p:nvSpPr>
          <p:cNvPr id="805" name="T6162"/>
          <p:cNvSpPr/>
          <p:nvPr/>
        </p:nvSpPr>
        <p:spPr>
          <a:xfrm>
            <a:off x="455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806" name="R6163"/>
          <p:cNvSpPr/>
          <p:nvPr/>
        </p:nvSpPr>
        <p:spPr>
          <a:xfrm>
            <a:off x="4949384" y="502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07" name="R6164"/>
          <p:cNvSpPr/>
          <p:nvPr/>
        </p:nvSpPr>
        <p:spPr>
          <a:xfrm>
            <a:off x="5339384" y="5021376"/>
            <a:ext cx="390000" cy="290000"/>
          </a:xfrm>
          <a:prstGeom prst="rect">
            <a:avLst/>
          </a:prstGeom>
          <a:solidFill>
            <a:srgbClr val="C8DEED"/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08" name="T6165"/>
          <p:cNvSpPr/>
          <p:nvPr/>
        </p:nvSpPr>
        <p:spPr>
          <a:xfrm>
            <a:off x="533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70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0.7M</a:t>
            </a:r>
            <a:endParaRPr lang="zh-CN" sz="570" b="1" dirty="0">
              <a:solidFill>
                <a:srgbClr val="7080B9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09" name="T6166"/>
          <p:cNvSpPr/>
          <p:nvPr/>
        </p:nvSpPr>
        <p:spPr>
          <a:xfrm>
            <a:off x="5333365" y="5195570"/>
            <a:ext cx="389890" cy="116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70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>
              <a:solidFill>
                <a:srgbClr val="7080B9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10" name="T6167"/>
          <p:cNvSpPr/>
          <p:nvPr/>
        </p:nvSpPr>
        <p:spPr>
          <a:xfrm>
            <a:off x="182880" y="5311376"/>
            <a:ext cx="466504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zh-CN" sz="680" dirty="0"/>
          </a:p>
        </p:txBody>
      </p:sp>
      <p:sp>
        <p:nvSpPr>
          <p:cNvPr id="811" name="R6168"/>
          <p:cNvSpPr/>
          <p:nvPr/>
        </p:nvSpPr>
        <p:spPr>
          <a:xfrm>
            <a:off x="659384" y="531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12" name="R6169"/>
          <p:cNvSpPr/>
          <p:nvPr/>
        </p:nvSpPr>
        <p:spPr>
          <a:xfrm>
            <a:off x="1049384" y="5311376"/>
            <a:ext cx="390000" cy="290000"/>
          </a:xfrm>
          <a:prstGeom prst="rect">
            <a:avLst/>
          </a:prstGeom>
          <a:solidFill>
            <a:srgbClr val="8E44AD">
              <a:alpha val="1542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13" name="T6170"/>
          <p:cNvSpPr/>
          <p:nvPr/>
        </p:nvSpPr>
        <p:spPr>
          <a:xfrm>
            <a:off x="1049384" y="531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814" name="T6171"/>
          <p:cNvSpPr/>
          <p:nvPr/>
        </p:nvSpPr>
        <p:spPr>
          <a:xfrm>
            <a:off x="1049384" y="548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815" name="R6172"/>
          <p:cNvSpPr/>
          <p:nvPr/>
        </p:nvSpPr>
        <p:spPr>
          <a:xfrm>
            <a:off x="1439384" y="5311376"/>
            <a:ext cx="390000" cy="290000"/>
          </a:xfrm>
          <a:prstGeom prst="rect">
            <a:avLst/>
          </a:prstGeom>
          <a:solidFill>
            <a:srgbClr val="8E44AD">
              <a:alpha val="25833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16" name="T6173"/>
          <p:cNvSpPr/>
          <p:nvPr/>
        </p:nvSpPr>
        <p:spPr>
          <a:xfrm>
            <a:off x="1439384" y="531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2.0M</a:t>
            </a:r>
            <a:endParaRPr lang="zh-CN" sz="570" dirty="0"/>
          </a:p>
        </p:txBody>
      </p:sp>
      <p:sp>
        <p:nvSpPr>
          <p:cNvPr id="817" name="T6174"/>
          <p:cNvSpPr/>
          <p:nvPr/>
        </p:nvSpPr>
        <p:spPr>
          <a:xfrm>
            <a:off x="1439384" y="548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818" name="R6175"/>
          <p:cNvSpPr/>
          <p:nvPr/>
        </p:nvSpPr>
        <p:spPr>
          <a:xfrm>
            <a:off x="1829384" y="531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19" name="R6176"/>
          <p:cNvSpPr/>
          <p:nvPr/>
        </p:nvSpPr>
        <p:spPr>
          <a:xfrm>
            <a:off x="2219384" y="531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20" name="R6177"/>
          <p:cNvSpPr/>
          <p:nvPr/>
        </p:nvSpPr>
        <p:spPr>
          <a:xfrm>
            <a:off x="2609384" y="531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21" name="R6178"/>
          <p:cNvSpPr/>
          <p:nvPr/>
        </p:nvSpPr>
        <p:spPr>
          <a:xfrm>
            <a:off x="2999384" y="531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22" name="R6179"/>
          <p:cNvSpPr/>
          <p:nvPr/>
        </p:nvSpPr>
        <p:spPr>
          <a:xfrm>
            <a:off x="3389384" y="5311376"/>
            <a:ext cx="390000" cy="290000"/>
          </a:xfrm>
          <a:prstGeom prst="rect">
            <a:avLst/>
          </a:prstGeom>
          <a:solidFill>
            <a:srgbClr val="8E44AD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23" name="T6180"/>
          <p:cNvSpPr/>
          <p:nvPr/>
        </p:nvSpPr>
        <p:spPr>
          <a:xfrm>
            <a:off x="3389384" y="531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12.0M</a:t>
            </a:r>
            <a:endParaRPr lang="zh-CN" sz="570" dirty="0"/>
          </a:p>
        </p:txBody>
      </p:sp>
      <p:sp>
        <p:nvSpPr>
          <p:cNvPr id="824" name="T6181"/>
          <p:cNvSpPr/>
          <p:nvPr/>
        </p:nvSpPr>
        <p:spPr>
          <a:xfrm>
            <a:off x="3389384" y="548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825" name="R6182"/>
          <p:cNvSpPr/>
          <p:nvPr/>
        </p:nvSpPr>
        <p:spPr>
          <a:xfrm>
            <a:off x="3779384" y="5311376"/>
            <a:ext cx="390000" cy="290000"/>
          </a:xfrm>
          <a:prstGeom prst="rect">
            <a:avLst/>
          </a:prstGeom>
          <a:solidFill>
            <a:srgbClr val="8E44AD">
              <a:alpha val="15591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26" name="T6183"/>
          <p:cNvSpPr/>
          <p:nvPr/>
        </p:nvSpPr>
        <p:spPr>
          <a:xfrm>
            <a:off x="3779384" y="531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827" name="T6184"/>
          <p:cNvSpPr/>
          <p:nvPr/>
        </p:nvSpPr>
        <p:spPr>
          <a:xfrm>
            <a:off x="3779384" y="548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828" name="R6185"/>
          <p:cNvSpPr/>
          <p:nvPr/>
        </p:nvSpPr>
        <p:spPr>
          <a:xfrm>
            <a:off x="4169384" y="531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29" name="R6186"/>
          <p:cNvSpPr/>
          <p:nvPr/>
        </p:nvSpPr>
        <p:spPr>
          <a:xfrm>
            <a:off x="4559384" y="531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30" name="R6187"/>
          <p:cNvSpPr/>
          <p:nvPr/>
        </p:nvSpPr>
        <p:spPr>
          <a:xfrm>
            <a:off x="4949384" y="531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31" name="R6188"/>
          <p:cNvSpPr/>
          <p:nvPr/>
        </p:nvSpPr>
        <p:spPr>
          <a:xfrm>
            <a:off x="5339384" y="5311376"/>
            <a:ext cx="390000" cy="290000"/>
          </a:xfrm>
          <a:prstGeom prst="rect">
            <a:avLst/>
          </a:prstGeom>
          <a:solidFill>
            <a:srgbClr val="E7D9EE"/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32" name="T6189"/>
          <p:cNvSpPr/>
          <p:nvPr/>
        </p:nvSpPr>
        <p:spPr>
          <a:xfrm>
            <a:off x="5339384" y="531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zh-CN" sz="570" b="1" dirty="0">
              <a:solidFill>
                <a:srgbClr val="8E44A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33" name="T6190"/>
          <p:cNvSpPr/>
          <p:nvPr/>
        </p:nvSpPr>
        <p:spPr>
          <a:xfrm>
            <a:off x="5333669" y="548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>
              <a:solidFill>
                <a:srgbClr val="8E44A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34" name="T6191"/>
          <p:cNvSpPr/>
          <p:nvPr/>
        </p:nvSpPr>
        <p:spPr>
          <a:xfrm>
            <a:off x="182880" y="5601376"/>
            <a:ext cx="466504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成事+合伙</a:t>
            </a:r>
            <a:endParaRPr lang="zh-CN" sz="680" dirty="0"/>
          </a:p>
        </p:txBody>
      </p:sp>
      <p:sp>
        <p:nvSpPr>
          <p:cNvPr id="835" name="R6192"/>
          <p:cNvSpPr/>
          <p:nvPr/>
        </p:nvSpPr>
        <p:spPr>
          <a:xfrm>
            <a:off x="659384" y="5601376"/>
            <a:ext cx="390000" cy="290000"/>
          </a:xfrm>
          <a:prstGeom prst="rect">
            <a:avLst/>
          </a:prstGeom>
          <a:solidFill>
            <a:srgbClr val="94A3B8">
              <a:alpha val="15785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36" name="T6193"/>
          <p:cNvSpPr/>
          <p:nvPr/>
        </p:nvSpPr>
        <p:spPr>
          <a:xfrm>
            <a:off x="659384" y="560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zh-CN" sz="570" dirty="0"/>
          </a:p>
        </p:txBody>
      </p:sp>
      <p:sp>
        <p:nvSpPr>
          <p:cNvPr id="837" name="T6194"/>
          <p:cNvSpPr/>
          <p:nvPr/>
        </p:nvSpPr>
        <p:spPr>
          <a:xfrm>
            <a:off x="659384" y="577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838" name="R6195"/>
          <p:cNvSpPr/>
          <p:nvPr/>
        </p:nvSpPr>
        <p:spPr>
          <a:xfrm>
            <a:off x="1049384" y="5601376"/>
            <a:ext cx="390000" cy="290000"/>
          </a:xfrm>
          <a:prstGeom prst="rect">
            <a:avLst/>
          </a:prstGeom>
          <a:solidFill>
            <a:srgbClr val="94A3B8">
              <a:alpha val="31047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39" name="T6196"/>
          <p:cNvSpPr/>
          <p:nvPr/>
        </p:nvSpPr>
        <p:spPr>
          <a:xfrm>
            <a:off x="1049384" y="560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840" name="T6197"/>
          <p:cNvSpPr/>
          <p:nvPr/>
        </p:nvSpPr>
        <p:spPr>
          <a:xfrm>
            <a:off x="1049384" y="577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841" name="R6198"/>
          <p:cNvSpPr/>
          <p:nvPr/>
        </p:nvSpPr>
        <p:spPr>
          <a:xfrm>
            <a:off x="1439384" y="5601376"/>
            <a:ext cx="390000" cy="290000"/>
          </a:xfrm>
          <a:prstGeom prst="rect">
            <a:avLst/>
          </a:prstGeom>
          <a:solidFill>
            <a:srgbClr val="94A3B8">
              <a:alpha val="65173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42" name="T6199"/>
          <p:cNvSpPr/>
          <p:nvPr/>
        </p:nvSpPr>
        <p:spPr>
          <a:xfrm>
            <a:off x="1439384" y="560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0.7M</a:t>
            </a:r>
            <a:endParaRPr lang="zh-CN" sz="570" dirty="0"/>
          </a:p>
        </p:txBody>
      </p:sp>
      <p:sp>
        <p:nvSpPr>
          <p:cNvPr id="843" name="T6200"/>
          <p:cNvSpPr/>
          <p:nvPr/>
        </p:nvSpPr>
        <p:spPr>
          <a:xfrm>
            <a:off x="1439384" y="577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844" name="R6201"/>
          <p:cNvSpPr/>
          <p:nvPr/>
        </p:nvSpPr>
        <p:spPr>
          <a:xfrm>
            <a:off x="1829384" y="5601376"/>
            <a:ext cx="390000" cy="290000"/>
          </a:xfrm>
          <a:prstGeom prst="rect">
            <a:avLst/>
          </a:prstGeom>
          <a:solidFill>
            <a:srgbClr val="94A3B8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45" name="T6202"/>
          <p:cNvSpPr/>
          <p:nvPr/>
        </p:nvSpPr>
        <p:spPr>
          <a:xfrm>
            <a:off x="1829384" y="560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0.9M</a:t>
            </a:r>
            <a:endParaRPr lang="zh-CN" sz="570" dirty="0"/>
          </a:p>
        </p:txBody>
      </p:sp>
      <p:sp>
        <p:nvSpPr>
          <p:cNvPr id="846" name="T6203"/>
          <p:cNvSpPr/>
          <p:nvPr/>
        </p:nvSpPr>
        <p:spPr>
          <a:xfrm>
            <a:off x="1829384" y="577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847" name="R6204"/>
          <p:cNvSpPr/>
          <p:nvPr/>
        </p:nvSpPr>
        <p:spPr>
          <a:xfrm>
            <a:off x="2219384" y="5601376"/>
            <a:ext cx="390000" cy="290000"/>
          </a:xfrm>
          <a:prstGeom prst="rect">
            <a:avLst/>
          </a:prstGeom>
          <a:solidFill>
            <a:srgbClr val="94A3B8">
              <a:alpha val="5511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48" name="T6205"/>
          <p:cNvSpPr/>
          <p:nvPr/>
        </p:nvSpPr>
        <p:spPr>
          <a:xfrm>
            <a:off x="2219384" y="560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0.6M</a:t>
            </a:r>
            <a:endParaRPr lang="zh-CN" sz="570" dirty="0"/>
          </a:p>
        </p:txBody>
      </p:sp>
      <p:sp>
        <p:nvSpPr>
          <p:cNvPr id="849" name="T6206"/>
          <p:cNvSpPr/>
          <p:nvPr/>
        </p:nvSpPr>
        <p:spPr>
          <a:xfrm>
            <a:off x="2219384" y="577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850" name="R6207"/>
          <p:cNvSpPr/>
          <p:nvPr/>
        </p:nvSpPr>
        <p:spPr>
          <a:xfrm>
            <a:off x="2609384" y="5601376"/>
            <a:ext cx="390000" cy="290000"/>
          </a:xfrm>
          <a:prstGeom prst="rect">
            <a:avLst/>
          </a:prstGeom>
          <a:solidFill>
            <a:srgbClr val="94A3B8">
              <a:alpha val="6314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51" name="T6208"/>
          <p:cNvSpPr/>
          <p:nvPr/>
        </p:nvSpPr>
        <p:spPr>
          <a:xfrm>
            <a:off x="2609384" y="560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0.7M</a:t>
            </a:r>
            <a:endParaRPr lang="zh-CN" sz="570" dirty="0"/>
          </a:p>
        </p:txBody>
      </p:sp>
      <p:sp>
        <p:nvSpPr>
          <p:cNvPr id="852" name="T6209"/>
          <p:cNvSpPr/>
          <p:nvPr/>
        </p:nvSpPr>
        <p:spPr>
          <a:xfrm>
            <a:off x="2609384" y="577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853" name="R6210"/>
          <p:cNvSpPr/>
          <p:nvPr/>
        </p:nvSpPr>
        <p:spPr>
          <a:xfrm>
            <a:off x="2999384" y="560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54" name="R6211"/>
          <p:cNvSpPr/>
          <p:nvPr/>
        </p:nvSpPr>
        <p:spPr>
          <a:xfrm>
            <a:off x="3389384" y="560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55" name="R6212"/>
          <p:cNvSpPr/>
          <p:nvPr/>
        </p:nvSpPr>
        <p:spPr>
          <a:xfrm>
            <a:off x="3779384" y="5601376"/>
            <a:ext cx="390000" cy="290000"/>
          </a:xfrm>
          <a:prstGeom prst="rect">
            <a:avLst/>
          </a:prstGeom>
          <a:solidFill>
            <a:srgbClr val="94A3B8">
              <a:alpha val="50304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56" name="T6213"/>
          <p:cNvSpPr/>
          <p:nvPr/>
        </p:nvSpPr>
        <p:spPr>
          <a:xfrm>
            <a:off x="3779384" y="560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0.5M</a:t>
            </a:r>
            <a:endParaRPr lang="zh-CN" sz="570" dirty="0"/>
          </a:p>
        </p:txBody>
      </p:sp>
      <p:sp>
        <p:nvSpPr>
          <p:cNvPr id="857" name="T6214"/>
          <p:cNvSpPr/>
          <p:nvPr/>
        </p:nvSpPr>
        <p:spPr>
          <a:xfrm>
            <a:off x="3779384" y="577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858" name="R6215"/>
          <p:cNvSpPr/>
          <p:nvPr/>
        </p:nvSpPr>
        <p:spPr>
          <a:xfrm>
            <a:off x="4169384" y="560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59" name="R6216"/>
          <p:cNvSpPr/>
          <p:nvPr/>
        </p:nvSpPr>
        <p:spPr>
          <a:xfrm>
            <a:off x="4559384" y="5601376"/>
            <a:ext cx="390000" cy="290000"/>
          </a:xfrm>
          <a:prstGeom prst="rect">
            <a:avLst/>
          </a:prstGeom>
          <a:solidFill>
            <a:srgbClr val="94A3B8">
              <a:alpha val="2047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60" name="T6217"/>
          <p:cNvSpPr/>
          <p:nvPr/>
        </p:nvSpPr>
        <p:spPr>
          <a:xfrm>
            <a:off x="4559384" y="560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861" name="T6218"/>
          <p:cNvSpPr/>
          <p:nvPr/>
        </p:nvSpPr>
        <p:spPr>
          <a:xfrm>
            <a:off x="4559384" y="577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862" name="R6219"/>
          <p:cNvSpPr/>
          <p:nvPr/>
        </p:nvSpPr>
        <p:spPr>
          <a:xfrm>
            <a:off x="4949384" y="560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63" name="R6220"/>
          <p:cNvSpPr/>
          <p:nvPr/>
        </p:nvSpPr>
        <p:spPr>
          <a:xfrm>
            <a:off x="5339384" y="5601376"/>
            <a:ext cx="390000" cy="290000"/>
          </a:xfrm>
          <a:prstGeom prst="rect">
            <a:avLst/>
          </a:prstGeom>
          <a:solidFill>
            <a:srgbClr val="C9D1DB"/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64" name="T6221"/>
          <p:cNvSpPr/>
          <p:nvPr/>
        </p:nvSpPr>
        <p:spPr>
          <a:xfrm>
            <a:off x="5339384" y="560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0.6M</a:t>
            </a:r>
            <a:endParaRPr lang="zh-CN" sz="570" dirty="0"/>
          </a:p>
        </p:txBody>
      </p:sp>
      <p:sp>
        <p:nvSpPr>
          <p:cNvPr id="865" name="T6222"/>
          <p:cNvSpPr/>
          <p:nvPr/>
        </p:nvSpPr>
        <p:spPr>
          <a:xfrm>
            <a:off x="5339384" y="577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866" name="T6223"/>
          <p:cNvSpPr/>
          <p:nvPr/>
        </p:nvSpPr>
        <p:spPr>
          <a:xfrm>
            <a:off x="182880" y="5891376"/>
            <a:ext cx="466504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</a:t>
            </a:r>
            <a:endParaRPr lang="zh-CN" sz="680" dirty="0"/>
          </a:p>
        </p:txBody>
      </p:sp>
      <p:sp>
        <p:nvSpPr>
          <p:cNvPr id="867" name="R6224"/>
          <p:cNvSpPr/>
          <p:nvPr/>
        </p:nvSpPr>
        <p:spPr>
          <a:xfrm>
            <a:off x="659384" y="5891376"/>
            <a:ext cx="390000" cy="290000"/>
          </a:xfrm>
          <a:prstGeom prst="rect">
            <a:avLst/>
          </a:prstGeom>
          <a:solidFill>
            <a:srgbClr val="374151">
              <a:alpha val="2576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68" name="T6225"/>
          <p:cNvSpPr/>
          <p:nvPr/>
        </p:nvSpPr>
        <p:spPr>
          <a:xfrm>
            <a:off x="65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18.0M</a:t>
            </a:r>
            <a:endParaRPr lang="zh-CN" sz="570" dirty="0"/>
          </a:p>
        </p:txBody>
      </p:sp>
      <p:sp>
        <p:nvSpPr>
          <p:cNvPr id="869" name="T6226"/>
          <p:cNvSpPr/>
          <p:nvPr/>
        </p:nvSpPr>
        <p:spPr>
          <a:xfrm>
            <a:off x="65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63件</a:t>
            </a:r>
            <a:endParaRPr lang="zh-CN" sz="500" dirty="0"/>
          </a:p>
        </p:txBody>
      </p:sp>
      <p:sp>
        <p:nvSpPr>
          <p:cNvPr id="870" name="R6227"/>
          <p:cNvSpPr/>
          <p:nvPr/>
        </p:nvSpPr>
        <p:spPr>
          <a:xfrm>
            <a:off x="1049384" y="5891376"/>
            <a:ext cx="390000" cy="290000"/>
          </a:xfrm>
          <a:prstGeom prst="rect">
            <a:avLst/>
          </a:prstGeom>
          <a:solidFill>
            <a:srgbClr val="374151">
              <a:alpha val="4265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71" name="T6228"/>
          <p:cNvSpPr/>
          <p:nvPr/>
        </p:nvSpPr>
        <p:spPr>
          <a:xfrm>
            <a:off x="104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46.4M</a:t>
            </a:r>
            <a:endParaRPr lang="zh-CN" sz="570" dirty="0"/>
          </a:p>
        </p:txBody>
      </p:sp>
      <p:sp>
        <p:nvSpPr>
          <p:cNvPr id="872" name="T6229"/>
          <p:cNvSpPr/>
          <p:nvPr/>
        </p:nvSpPr>
        <p:spPr>
          <a:xfrm>
            <a:off x="104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52件</a:t>
            </a:r>
            <a:endParaRPr lang="zh-CN" sz="500" dirty="0"/>
          </a:p>
        </p:txBody>
      </p:sp>
      <p:sp>
        <p:nvSpPr>
          <p:cNvPr id="873" name="R6230"/>
          <p:cNvSpPr/>
          <p:nvPr/>
        </p:nvSpPr>
        <p:spPr>
          <a:xfrm>
            <a:off x="1439384" y="5891376"/>
            <a:ext cx="390000" cy="290000"/>
          </a:xfrm>
          <a:prstGeom prst="rect">
            <a:avLst/>
          </a:prstGeom>
          <a:solidFill>
            <a:srgbClr val="374151">
              <a:alpha val="32424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74" name="T6231"/>
          <p:cNvSpPr/>
          <p:nvPr/>
        </p:nvSpPr>
        <p:spPr>
          <a:xfrm>
            <a:off x="143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29.2M</a:t>
            </a:r>
            <a:endParaRPr lang="zh-CN" sz="570" dirty="0"/>
          </a:p>
        </p:txBody>
      </p:sp>
      <p:sp>
        <p:nvSpPr>
          <p:cNvPr id="875" name="T6232"/>
          <p:cNvSpPr/>
          <p:nvPr/>
        </p:nvSpPr>
        <p:spPr>
          <a:xfrm>
            <a:off x="143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58件</a:t>
            </a:r>
            <a:endParaRPr lang="zh-CN" sz="500" dirty="0"/>
          </a:p>
        </p:txBody>
      </p:sp>
      <p:sp>
        <p:nvSpPr>
          <p:cNvPr id="876" name="R6233"/>
          <p:cNvSpPr/>
          <p:nvPr/>
        </p:nvSpPr>
        <p:spPr>
          <a:xfrm>
            <a:off x="1829384" y="5891376"/>
            <a:ext cx="390000" cy="290000"/>
          </a:xfrm>
          <a:prstGeom prst="rect">
            <a:avLst/>
          </a:prstGeom>
          <a:solidFill>
            <a:srgbClr val="374151">
              <a:alpha val="26971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77" name="T6234"/>
          <p:cNvSpPr/>
          <p:nvPr/>
        </p:nvSpPr>
        <p:spPr>
          <a:xfrm>
            <a:off x="182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20.1M</a:t>
            </a:r>
            <a:endParaRPr lang="zh-CN" sz="570" dirty="0"/>
          </a:p>
        </p:txBody>
      </p:sp>
      <p:sp>
        <p:nvSpPr>
          <p:cNvPr id="878" name="T6235"/>
          <p:cNvSpPr/>
          <p:nvPr/>
        </p:nvSpPr>
        <p:spPr>
          <a:xfrm>
            <a:off x="182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zh-CN" sz="500" dirty="0"/>
          </a:p>
        </p:txBody>
      </p:sp>
      <p:sp>
        <p:nvSpPr>
          <p:cNvPr id="879" name="R6236"/>
          <p:cNvSpPr/>
          <p:nvPr/>
        </p:nvSpPr>
        <p:spPr>
          <a:xfrm>
            <a:off x="2219384" y="5891376"/>
            <a:ext cx="390000" cy="290000"/>
          </a:xfrm>
          <a:prstGeom prst="rect">
            <a:avLst/>
          </a:prstGeom>
          <a:solidFill>
            <a:srgbClr val="374151">
              <a:alpha val="32879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80" name="T6237"/>
          <p:cNvSpPr/>
          <p:nvPr/>
        </p:nvSpPr>
        <p:spPr>
          <a:xfrm>
            <a:off x="221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30.0M</a:t>
            </a:r>
            <a:endParaRPr lang="zh-CN" sz="570" dirty="0"/>
          </a:p>
        </p:txBody>
      </p:sp>
      <p:sp>
        <p:nvSpPr>
          <p:cNvPr id="881" name="T6238"/>
          <p:cNvSpPr/>
          <p:nvPr/>
        </p:nvSpPr>
        <p:spPr>
          <a:xfrm>
            <a:off x="221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58件</a:t>
            </a:r>
            <a:endParaRPr lang="zh-CN" sz="500" dirty="0"/>
          </a:p>
        </p:txBody>
      </p:sp>
      <p:sp>
        <p:nvSpPr>
          <p:cNvPr id="882" name="R6239"/>
          <p:cNvSpPr/>
          <p:nvPr/>
        </p:nvSpPr>
        <p:spPr>
          <a:xfrm>
            <a:off x="2609384" y="5891376"/>
            <a:ext cx="390000" cy="290000"/>
          </a:xfrm>
          <a:prstGeom prst="rect">
            <a:avLst/>
          </a:prstGeom>
          <a:solidFill>
            <a:srgbClr val="374151">
              <a:alpha val="38538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83" name="T6240"/>
          <p:cNvSpPr/>
          <p:nvPr/>
        </p:nvSpPr>
        <p:spPr>
          <a:xfrm>
            <a:off x="260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39.5M</a:t>
            </a:r>
            <a:endParaRPr lang="zh-CN" sz="570" dirty="0"/>
          </a:p>
        </p:txBody>
      </p:sp>
      <p:sp>
        <p:nvSpPr>
          <p:cNvPr id="884" name="T6241"/>
          <p:cNvSpPr/>
          <p:nvPr/>
        </p:nvSpPr>
        <p:spPr>
          <a:xfrm>
            <a:off x="260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zh-CN" sz="500" dirty="0"/>
          </a:p>
        </p:txBody>
      </p:sp>
      <p:sp>
        <p:nvSpPr>
          <p:cNvPr id="885" name="R6242"/>
          <p:cNvSpPr/>
          <p:nvPr/>
        </p:nvSpPr>
        <p:spPr>
          <a:xfrm>
            <a:off x="2999384" y="5891376"/>
            <a:ext cx="390000" cy="290000"/>
          </a:xfrm>
          <a:prstGeom prst="rect">
            <a:avLst/>
          </a:prstGeom>
          <a:solidFill>
            <a:srgbClr val="374151">
              <a:alpha val="1933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86" name="T6243"/>
          <p:cNvSpPr/>
          <p:nvPr/>
        </p:nvSpPr>
        <p:spPr>
          <a:xfrm>
            <a:off x="299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7.3M</a:t>
            </a:r>
            <a:endParaRPr lang="zh-CN" sz="570" dirty="0"/>
          </a:p>
        </p:txBody>
      </p:sp>
      <p:sp>
        <p:nvSpPr>
          <p:cNvPr id="887" name="T6244"/>
          <p:cNvSpPr/>
          <p:nvPr/>
        </p:nvSpPr>
        <p:spPr>
          <a:xfrm>
            <a:off x="299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10件</a:t>
            </a:r>
            <a:endParaRPr lang="zh-CN" sz="500" dirty="0"/>
          </a:p>
        </p:txBody>
      </p:sp>
      <p:sp>
        <p:nvSpPr>
          <p:cNvPr id="888" name="R6245"/>
          <p:cNvSpPr/>
          <p:nvPr/>
        </p:nvSpPr>
        <p:spPr>
          <a:xfrm>
            <a:off x="3389384" y="5891376"/>
            <a:ext cx="390000" cy="290000"/>
          </a:xfrm>
          <a:prstGeom prst="rect">
            <a:avLst/>
          </a:prstGeom>
          <a:solidFill>
            <a:srgbClr val="374151">
              <a:alpha val="55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89" name="T6246"/>
          <p:cNvSpPr/>
          <p:nvPr/>
        </p:nvSpPr>
        <p:spPr>
          <a:xfrm>
            <a:off x="338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67.0M</a:t>
            </a:r>
            <a:endParaRPr lang="zh-CN" sz="570" dirty="0"/>
          </a:p>
        </p:txBody>
      </p:sp>
      <p:sp>
        <p:nvSpPr>
          <p:cNvPr id="890" name="T6247"/>
          <p:cNvSpPr/>
          <p:nvPr/>
        </p:nvSpPr>
        <p:spPr>
          <a:xfrm>
            <a:off x="338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61件</a:t>
            </a:r>
            <a:endParaRPr lang="zh-CN" sz="500" dirty="0"/>
          </a:p>
        </p:txBody>
      </p:sp>
      <p:sp>
        <p:nvSpPr>
          <p:cNvPr id="891" name="R6248"/>
          <p:cNvSpPr/>
          <p:nvPr/>
        </p:nvSpPr>
        <p:spPr>
          <a:xfrm>
            <a:off x="3779384" y="5891376"/>
            <a:ext cx="390000" cy="290000"/>
          </a:xfrm>
          <a:prstGeom prst="rect">
            <a:avLst/>
          </a:prstGeom>
          <a:solidFill>
            <a:srgbClr val="374151">
              <a:alpha val="24447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92" name="T6249"/>
          <p:cNvSpPr/>
          <p:nvPr/>
        </p:nvSpPr>
        <p:spPr>
          <a:xfrm>
            <a:off x="377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15.8M</a:t>
            </a:r>
            <a:endParaRPr lang="zh-CN" sz="570" dirty="0"/>
          </a:p>
        </p:txBody>
      </p:sp>
      <p:sp>
        <p:nvSpPr>
          <p:cNvPr id="893" name="T6250"/>
          <p:cNvSpPr/>
          <p:nvPr/>
        </p:nvSpPr>
        <p:spPr>
          <a:xfrm>
            <a:off x="377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33件</a:t>
            </a:r>
            <a:endParaRPr lang="zh-CN" sz="500" dirty="0"/>
          </a:p>
        </p:txBody>
      </p:sp>
      <p:sp>
        <p:nvSpPr>
          <p:cNvPr id="894" name="R6251"/>
          <p:cNvSpPr/>
          <p:nvPr/>
        </p:nvSpPr>
        <p:spPr>
          <a:xfrm>
            <a:off x="4169384" y="5891376"/>
            <a:ext cx="390000" cy="290000"/>
          </a:xfrm>
          <a:prstGeom prst="rect">
            <a:avLst/>
          </a:prstGeom>
          <a:solidFill>
            <a:srgbClr val="374151">
              <a:alpha val="2198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95" name="T6252"/>
          <p:cNvSpPr/>
          <p:nvPr/>
        </p:nvSpPr>
        <p:spPr>
          <a:xfrm>
            <a:off x="416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11.7M</a:t>
            </a:r>
            <a:endParaRPr lang="zh-CN" sz="570" dirty="0"/>
          </a:p>
        </p:txBody>
      </p:sp>
      <p:sp>
        <p:nvSpPr>
          <p:cNvPr id="896" name="T6253"/>
          <p:cNvSpPr/>
          <p:nvPr/>
        </p:nvSpPr>
        <p:spPr>
          <a:xfrm>
            <a:off x="416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zh-CN" sz="500" dirty="0"/>
          </a:p>
        </p:txBody>
      </p:sp>
      <p:sp>
        <p:nvSpPr>
          <p:cNvPr id="897" name="R6254"/>
          <p:cNvSpPr/>
          <p:nvPr/>
        </p:nvSpPr>
        <p:spPr>
          <a:xfrm>
            <a:off x="4559384" y="5891376"/>
            <a:ext cx="390000" cy="290000"/>
          </a:xfrm>
          <a:prstGeom prst="rect">
            <a:avLst/>
          </a:prstGeom>
          <a:solidFill>
            <a:srgbClr val="374151">
              <a:alpha val="3939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898" name="T6255"/>
          <p:cNvSpPr/>
          <p:nvPr/>
        </p:nvSpPr>
        <p:spPr>
          <a:xfrm>
            <a:off x="455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41.0M</a:t>
            </a:r>
            <a:endParaRPr lang="zh-CN" sz="570" dirty="0"/>
          </a:p>
        </p:txBody>
      </p:sp>
      <p:sp>
        <p:nvSpPr>
          <p:cNvPr id="899" name="T6256"/>
          <p:cNvSpPr/>
          <p:nvPr/>
        </p:nvSpPr>
        <p:spPr>
          <a:xfrm>
            <a:off x="455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33件</a:t>
            </a:r>
            <a:endParaRPr lang="zh-CN" sz="500" dirty="0"/>
          </a:p>
        </p:txBody>
      </p:sp>
      <p:sp>
        <p:nvSpPr>
          <p:cNvPr id="900" name="R6257"/>
          <p:cNvSpPr/>
          <p:nvPr/>
        </p:nvSpPr>
        <p:spPr>
          <a:xfrm>
            <a:off x="4949384" y="5891376"/>
            <a:ext cx="390000" cy="290000"/>
          </a:xfrm>
          <a:prstGeom prst="rect">
            <a:avLst/>
          </a:prstGeom>
          <a:solidFill>
            <a:srgbClr val="374151">
              <a:alpha val="18762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901" name="T6258"/>
          <p:cNvSpPr/>
          <p:nvPr/>
        </p:nvSpPr>
        <p:spPr>
          <a:xfrm>
            <a:off x="494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7.9M</a:t>
            </a:r>
            <a:endParaRPr lang="zh-CN" sz="570" dirty="0"/>
          </a:p>
        </p:txBody>
      </p:sp>
      <p:sp>
        <p:nvSpPr>
          <p:cNvPr id="902" name="T6259"/>
          <p:cNvSpPr/>
          <p:nvPr/>
        </p:nvSpPr>
        <p:spPr>
          <a:xfrm>
            <a:off x="494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10件</a:t>
            </a:r>
            <a:endParaRPr lang="zh-CN" sz="500" dirty="0"/>
          </a:p>
        </p:txBody>
      </p:sp>
      <p:sp>
        <p:nvSpPr>
          <p:cNvPr id="903" name="R6260"/>
          <p:cNvSpPr/>
          <p:nvPr/>
        </p:nvSpPr>
        <p:spPr>
          <a:xfrm>
            <a:off x="5339384" y="5891376"/>
            <a:ext cx="390000" cy="290000"/>
          </a:xfrm>
          <a:prstGeom prst="rect">
            <a:avLst/>
          </a:prstGeom>
          <a:solidFill>
            <a:srgbClr val="1A1A2E">
              <a:alpha val="75000"/>
            </a:srgbClr>
          </a:solidFill>
          <a:ln w="2540">
            <a:solidFill>
              <a:srgbClr val="E8ECF0"/>
            </a:solidFill>
            <a:prstDash val="solid"/>
          </a:ln>
        </p:spPr>
      </p:sp>
      <p:sp>
        <p:nvSpPr>
          <p:cNvPr id="904" name="T6261"/>
          <p:cNvSpPr/>
          <p:nvPr/>
        </p:nvSpPr>
        <p:spPr>
          <a:xfrm>
            <a:off x="533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13.5M</a:t>
            </a:r>
            <a:endParaRPr lang="zh-CN" sz="570" dirty="0"/>
          </a:p>
        </p:txBody>
      </p:sp>
      <p:sp>
        <p:nvSpPr>
          <p:cNvPr id="905" name="T6262"/>
          <p:cNvSpPr/>
          <p:nvPr/>
        </p:nvSpPr>
        <p:spPr>
          <a:xfrm>
            <a:off x="533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45件</a:t>
            </a:r>
            <a:endParaRPr lang="zh-CN" sz="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>
            <p:custDataLst>
              <p:tags r:id="rId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6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>
            <p:custDataLst>
              <p:tags r:id="rId11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</p:sp>
      <p:sp>
        <p:nvSpPr>
          <p:cNvPr id="11" name="Text 8"/>
          <p:cNvSpPr/>
          <p:nvPr>
            <p:custDataLst>
              <p:tags r:id="rId12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</a:t>
            </a:r>
            <a:r>
              <a:rPr lang="en-US" sz="850" dirty="0">
                <a:solidFill>
                  <a:srgbClr val="374151"/>
                </a:solidFill>
              </a:rPr>
              <a:t>  </a:t>
            </a:r>
            <a:endParaRPr lang="en-US" sz="850" dirty="0">
              <a:solidFill>
                <a:srgbClr val="374151"/>
              </a:solidFill>
            </a:endParaRPr>
          </a:p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</a:rPr>
              <a:t>姜通+战略合作（唯思）合计贡献批核APE </a:t>
            </a:r>
            <a:r>
              <a:rPr lang="en-US" sz="850" b="1" dirty="0">
                <a:solidFill>
                  <a:srgbClr val="4A235A"/>
                </a:solidFill>
              </a:rPr>
              <a:t>71.3%</a:t>
            </a:r>
            <a:r>
              <a:rPr lang="en-US" sz="850" dirty="0">
                <a:solidFill>
                  <a:srgbClr val="374151"/>
                </a:solidFill>
              </a:rPr>
              <a:t>，但模式迥异：叶一舟「大单驱动型」件均APE≈</a:t>
            </a:r>
            <a:r>
              <a:rPr lang="en-US" sz="850" b="1" dirty="0">
                <a:solidFill>
                  <a:srgbClr val="00796B"/>
                </a:solidFill>
              </a:rPr>
              <a:t>323万</a:t>
            </a:r>
            <a:r>
              <a:rPr lang="en-US" sz="850" dirty="0">
                <a:solidFill>
                  <a:srgbClr val="374151"/>
                </a:solidFill>
              </a:rPr>
              <a:t>；姜通「流量驱动型」</a:t>
            </a:r>
            <a:r>
              <a:rPr lang="en-US" sz="850" b="1" dirty="0">
                <a:solidFill>
                  <a:srgbClr val="F5A623"/>
                </a:solidFill>
              </a:rPr>
              <a:t>227件</a:t>
            </a:r>
            <a:r>
              <a:rPr lang="en-US" sz="850" dirty="0">
                <a:solidFill>
                  <a:srgbClr val="374151"/>
                </a:solidFill>
              </a:rPr>
              <a:t>为全场最高。须差异化管理策略。</a:t>
            </a:r>
            <a:endParaRPr lang="en-US" sz="850" dirty="0"/>
          </a:p>
        </p:txBody>
      </p:sp>
      <p:sp>
        <p:nvSpPr>
          <p:cNvPr id="14" name="Shape 10"/>
          <p:cNvSpPr/>
          <p:nvPr>
            <p:custDataLst>
              <p:tags r:id="rId13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graphicFrame>
        <p:nvGraphicFramePr>
          <p:cNvPr id="17" name="Chart 1"/>
          <p:cNvGraphicFramePr/>
          <p:nvPr>
            <p:custDataLst>
              <p:tags r:id="rId14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Shape 13"/>
          <p:cNvSpPr/>
          <p:nvPr>
            <p:custDataLst>
              <p:tags r:id="rId15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4"/>
          <p:cNvSpPr/>
          <p:nvPr>
            <p:custDataLst>
              <p:tags r:id="rId16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20" name="Text 15"/>
          <p:cNvSpPr/>
          <p:nvPr>
            <p:custDataLst>
              <p:tags r:id="rId17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</a:t>
            </a:r>
            <a:r>
              <a:rPr lang="en-US" sz="850" dirty="0">
                <a:solidFill>
                  <a:srgbClr val="374151"/>
                </a:solidFill>
              </a:rPr>
              <a:t>  </a:t>
            </a:r>
            <a:r>
              <a:rPr lang="en-US" sz="850" dirty="0">
                <a:solidFill>
                  <a:srgbClr val="374151"/>
                </a:solidFill>
                <a:sym typeface="+mn-ea"/>
              </a:rPr>
              <a:t>EGA批核率高达 </a:t>
            </a:r>
            <a:r>
              <a:rPr lang="en-US" sz="850" b="1" dirty="0">
                <a:solidFill>
                  <a:srgbClr val="00796B"/>
                </a:solidFill>
                <a:sym typeface="+mn-ea"/>
              </a:rPr>
              <a:t>0.48M</a:t>
            </a:r>
            <a:r>
              <a:rPr lang="en-US" sz="850" dirty="0">
                <a:solidFill>
                  <a:srgbClr val="374151"/>
                </a:solidFill>
                <a:sym typeface="+mn-ea"/>
              </a:rPr>
              <a:t>，几乎无坏单；唯思批核率仅 </a:t>
            </a:r>
            <a:r>
              <a:rPr lang="en-US" sz="850" b="1" dirty="0">
                <a:solidFill>
                  <a:srgbClr val="C0392B"/>
                </a:solidFill>
                <a:sym typeface="+mn-ea"/>
              </a:rPr>
              <a:t>71%</a:t>
            </a:r>
            <a:r>
              <a:rPr lang="en-US" sz="850" dirty="0">
                <a:solidFill>
                  <a:srgbClr val="374151"/>
                </a:solidFill>
                <a:sym typeface="+mn-ea"/>
              </a:rPr>
              <a:t>（未批核6.8M）；松石/万城批核率 </a:t>
            </a:r>
            <a:r>
              <a:rPr lang="en-US" sz="850" b="1" dirty="0">
                <a:solidFill>
                  <a:srgbClr val="C0392B"/>
                </a:solidFill>
                <a:sym typeface="+mn-ea"/>
              </a:rPr>
              <a:t>0</a:t>
            </a:r>
            <a:r>
              <a:rPr lang="en-US" sz="850" dirty="0">
                <a:solidFill>
                  <a:srgbClr val="374151"/>
                </a:solidFill>
                <a:sym typeface="+mn-ea"/>
              </a:rPr>
              <a:t>，须优先排查件质量问题。EGA 4件/27.24M件均最高，唯思61件为量最多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8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9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20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21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2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6"/>
          <p:cNvSpPr/>
          <p:nvPr>
            <p:custDataLst>
              <p:tags r:id="rId23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4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5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  |  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件均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53.2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6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</p:sp>
      <p:sp>
        <p:nvSpPr>
          <p:cNvPr id="30" name="Text 6"/>
          <p:cNvSpPr/>
          <p:nvPr>
            <p:custDataLst>
              <p:tags r:id="rId27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8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9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  |  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件均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29.6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30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708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EGA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27.24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82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30.06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23.51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6.83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0.56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29.96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20.93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9.76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0.95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29.06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17.28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6.53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0.68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23.25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10.33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4.39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1.24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14.73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9.34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8.93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18.28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3.18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8.79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1.44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9.58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2.01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1.19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3.32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德方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1.56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1.37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1.17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2.54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龙腾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1.28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0.16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雅德保险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0.03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松石保险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94A3B8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11.70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11.70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94A3B8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2.73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136.81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296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64.43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121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1.48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202.72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422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W13预约</a:t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3.6M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12件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件均29.8W</a:t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W13签单</a:t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7.5M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21件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件均35.94W</a:t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W13批核</a:t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10.0M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32件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件均31.39W</a:t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W13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0.94M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1.86M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1.63M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2.00M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2.69M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1.19M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1.97M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1.04M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1.16M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796B"/>
                          </a:solidFill>
                        </a:rPr>
                        <a:t>1.14M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万森保险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1.37M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0.24M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EGA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堡盛国际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1.24M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0.40M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850" b="1" dirty="0">
                          <a:solidFill>
                            <a:srgbClr val="1A1A2E"/>
                          </a:solidFill>
                        </a:rPr>
                        <a:t>德方</a:t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0.78M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0.78M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850" dirty="0">
                          <a:solidFill>
                            <a:schemeClr val="bg1"/>
                          </a:solidFill>
                        </a:rPr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3.6M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7.5M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10.05M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W13（4月初）同行批核10.05M/32件显著回升——紫荊（2.69M）+唯思（1.86M）+万森（1.37M）贡献集中。签单7.55M/21件稳健，前端尚在蓄力。预约3.58M/12件为节后低位，4月中旬须恢复至5M+节奏。</a:t>
            </a:r>
            <a:endParaRPr lang="en-US" sz="800" dirty="0"/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W01–W12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0.11M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 | 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件均</a:t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5.7W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0.86M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件均28.6W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8件 | 件均43.8W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19773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24.98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18.13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87.76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24.64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25.94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72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45.59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49.21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132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19.56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3.51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95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.</a:t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69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94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.</a:t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14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266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136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.</a:t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296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</a:t>
            </a:r>
            <a:endParaRPr lang="en-US" sz="850" b="1" dirty="0">
              <a:solidFill>
                <a:srgbClr val="B45309"/>
              </a:solidFill>
            </a:endParaRPr>
          </a:p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</a:rPr>
              <a:t>  3月预约总量飙升至 </a:t>
            </a:r>
            <a:r>
              <a:rPr lang="en-US" sz="850" b="1" dirty="0">
                <a:solidFill>
                  <a:srgbClr val="B45309"/>
                </a:solidFill>
              </a:rPr>
              <a:t>4,559万</a:t>
            </a:r>
            <a:r>
              <a:rPr lang="en-US" sz="850" dirty="0">
                <a:solidFill>
                  <a:srgbClr val="374151"/>
                </a:solidFill>
              </a:rPr>
              <a:t>，天誉国际从235万暴涨至 </a:t>
            </a:r>
            <a:r>
              <a:rPr lang="en-US" sz="850" b="1" dirty="0">
                <a:solidFill>
                  <a:srgbClr val="B45309"/>
                </a:solidFill>
              </a:rPr>
              <a:t>699万</a:t>
            </a:r>
            <a:r>
              <a:rPr lang="en-US" sz="850" dirty="0">
                <a:solidFill>
                  <a:srgbClr val="374151"/>
                </a:solidFill>
              </a:rPr>
              <a:t>（+198%）。然而3月总签单仅3,942万，大量预约仍处「待结」状态。4月初将面临天誉国际 </a:t>
            </a:r>
            <a:r>
              <a:rPr lang="en-US" sz="850" b="1" dirty="0">
                <a:solidFill>
                  <a:srgbClr val="C0392B"/>
                </a:solidFill>
              </a:rPr>
              <a:t>27件</a:t>
            </a:r>
            <a:r>
              <a:rPr lang="en-US" sz="850" dirty="0">
                <a:solidFill>
                  <a:srgbClr val="374151"/>
                </a:solidFill>
              </a:rPr>
              <a:t> 新增预约的集中转化压力，需紧密追踪。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60"/>
          <p:cNvSpPr/>
          <p:nvPr/>
        </p:nvSpPr>
        <p:spPr>
          <a:xfrm>
            <a:off x="6120765" y="1424305"/>
            <a:ext cx="5858510" cy="530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8" name="Shape 60"/>
          <p:cNvSpPr/>
          <p:nvPr/>
        </p:nvSpPr>
        <p:spPr>
          <a:xfrm>
            <a:off x="190500" y="1424305"/>
            <a:ext cx="5659120" cy="530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Shape 4"/>
          <p:cNvSpPr/>
          <p:nvPr>
            <p:custDataLst>
              <p:tags r:id="rId6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>
            <p:custDataLst>
              <p:tags r:id="rId7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</p:sp>
      <p:sp>
        <p:nvSpPr>
          <p:cNvPr id="8" name="Text 6"/>
          <p:cNvSpPr/>
          <p:nvPr>
            <p:custDataLst>
              <p:tags r:id="rId8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9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170.9M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10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134件 | 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达成率</a:t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85.4%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11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>
            <p:custDataLst>
              <p:tags r:id="rId12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3" name="Text 11"/>
          <p:cNvSpPr/>
          <p:nvPr>
            <p:custDataLst>
              <p:tags r:id="rId13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14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81.5M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5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66件 |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件均</a:t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123.4W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6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>
            <p:custDataLst>
              <p:tags r:id="rId17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8" name="Text 16"/>
          <p:cNvSpPr/>
          <p:nvPr>
            <p:custDataLst>
              <p:tags r:id="rId18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9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0.78M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20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 | 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件均</a:t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39W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21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>
            <p:custDataLst>
              <p:tags r:id="rId22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</p:sp>
      <p:sp>
        <p:nvSpPr>
          <p:cNvPr id="23" name="Text 21"/>
          <p:cNvSpPr/>
          <p:nvPr>
            <p:custDataLst>
              <p:tags r:id="rId23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24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5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件均</a:t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0W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6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>
            <p:custDataLst>
              <p:tags r:id="rId27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</p:sp>
      <p:sp>
        <p:nvSpPr>
          <p:cNvPr id="28" name="Text 26"/>
          <p:cNvSpPr/>
          <p:nvPr>
            <p:custDataLst>
              <p:tags r:id="rId28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9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30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件均</a:t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52W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31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>
            <p:custDataLst>
              <p:tags r:id="rId32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33" name="Text 31"/>
          <p:cNvSpPr/>
          <p:nvPr>
            <p:custDataLst>
              <p:tags r:id="rId33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34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5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件均</a:t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0</a:t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01" name="s3001"/>
          <p:cNvSpPr/>
          <p:nvPr/>
        </p:nvSpPr>
        <p:spPr>
          <a:xfrm>
            <a:off x="182800" y="1411695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>
            <a:endParaRPr lang="zh-CN" altLang="en-US"/>
          </a:p>
        </p:txBody>
      </p:sp>
      <p:sp>
        <p:nvSpPr>
          <p:cNvPr id="3" name="t3002"/>
          <p:cNvSpPr/>
          <p:nvPr/>
        </p:nvSpPr>
        <p:spPr>
          <a:xfrm>
            <a:off x="199252" y="1439000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Appointment  |  APE(M)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件数</a:t>
            </a:r>
            <a:endParaRPr lang="en-US" altLang="zh-CN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99" name="Chart_YY"/>
          <p:cNvGraphicFramePr/>
          <p:nvPr/>
        </p:nvGraphicFramePr>
        <p:xfrm>
          <a:off x="229235" y="1673225"/>
          <a:ext cx="4764405" cy="13696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05" name="Chart_QD"/>
          <p:cNvGraphicFramePr/>
          <p:nvPr/>
        </p:nvGraphicFramePr>
        <p:xfrm>
          <a:off x="199390" y="3181350"/>
          <a:ext cx="4795520" cy="12020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4" name="Chart_PH"/>
          <p:cNvGraphicFramePr/>
          <p:nvPr/>
        </p:nvGraphicFramePr>
        <p:xfrm>
          <a:off x="229235" y="4775200"/>
          <a:ext cx="4765040" cy="1043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5" name="s3001"/>
          <p:cNvSpPr/>
          <p:nvPr/>
        </p:nvSpPr>
        <p:spPr>
          <a:xfrm>
            <a:off x="180260" y="2848700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</p:sp>
      <p:sp>
        <p:nvSpPr>
          <p:cNvPr id="56" name="t3002"/>
          <p:cNvSpPr/>
          <p:nvPr/>
        </p:nvSpPr>
        <p:spPr>
          <a:xfrm>
            <a:off x="258942" y="2869655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Signed  |  APE(M) 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件数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7" name="s3001"/>
          <p:cNvSpPr/>
          <p:nvPr/>
        </p:nvSpPr>
        <p:spPr>
          <a:xfrm>
            <a:off x="198675" y="4387940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</p:sp>
      <p:sp>
        <p:nvSpPr>
          <p:cNvPr id="60" name="t3002"/>
          <p:cNvSpPr/>
          <p:nvPr/>
        </p:nvSpPr>
        <p:spPr>
          <a:xfrm>
            <a:off x="259577" y="4413975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4003" name="sw_bg_4003"/>
          <p:cNvSpPr/>
          <p:nvPr/>
        </p:nvSpPr>
        <p:spPr>
          <a:xfrm>
            <a:off x="199390" y="6094095"/>
            <a:ext cx="5647690" cy="628650"/>
          </a:xfrm>
          <a:prstGeom prst="rect">
            <a:avLst/>
          </a:prstGeom>
          <a:solidFill>
            <a:srgbClr val="FDF2F2"/>
          </a:solidFill>
          <a:ln w="9525">
            <a:solidFill>
              <a:srgbClr val="E8D5D5"/>
            </a:solidFill>
          </a:ln>
        </p:spPr>
      </p:sp>
      <p:sp>
        <p:nvSpPr>
          <p:cNvPr id="5" name="sw_4003"/>
          <p:cNvSpPr/>
          <p:nvPr/>
        </p:nvSpPr>
        <p:spPr>
          <a:xfrm>
            <a:off x="199390" y="6111240"/>
            <a:ext cx="5558790" cy="304165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</a:t>
            </a:r>
            <a:r>
              <a:rPr lang="zh-CN" sz="780" b="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  <a:p>
            <a:pPr marL="0" indent="0">
              <a:buNone/>
            </a:pPr>
            <a:r>
              <a:rPr lang="zh-CN" sz="7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预约：Q1民生21.3M/平安15.1M，3月民生10.5M创季度新高；4月归零，Q2开局动能待修复。签单：4月民生3.51M/6件+平安0.78M/1件，Mar积压件持续转化，Q2批核弹药充足。批核：Feb民生84.8M（61件）为Q1峰值，Mar回落至44.5M仍处高位；未批核63.5M（55件）预计Q2上半段持续释放，是达成全年目标的核心抓手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3048000" y="331406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graphicFrame>
        <p:nvGraphicFramePr>
          <p:cNvPr id="53" name="Chart 1"/>
          <p:cNvGraphicFramePr/>
          <p:nvPr>
            <p:custDataLst>
              <p:tags r:id="rId36"/>
            </p:custDataLst>
          </p:nvPr>
        </p:nvGraphicFramePr>
        <p:xfrm>
          <a:off x="6239510" y="1742440"/>
          <a:ext cx="5697220" cy="1732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4" name="s3001"/>
          <p:cNvSpPr/>
          <p:nvPr/>
        </p:nvSpPr>
        <p:spPr>
          <a:xfrm>
            <a:off x="6116955" y="1424305"/>
            <a:ext cx="5861685" cy="255905"/>
          </a:xfrm>
          <a:prstGeom prst="rect">
            <a:avLst/>
          </a:prstGeom>
          <a:solidFill>
            <a:srgbClr val="0D594A"/>
          </a:solidFill>
          <a:ln>
            <a:noFill/>
          </a:ln>
        </p:spPr>
      </p:sp>
      <p:sp>
        <p:nvSpPr>
          <p:cNvPr id="58" name="t3002"/>
          <p:cNvSpPr/>
          <p:nvPr/>
        </p:nvSpPr>
        <p:spPr>
          <a:xfrm>
            <a:off x="6163310" y="1437640"/>
            <a:ext cx="3495675" cy="2616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AA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</a:t>
            </a:r>
            <a:r>
              <a:rPr lang="en-US" sz="930" b="1" dirty="0">
                <a:solidFill>
                  <a:schemeClr val="bg1"/>
                </a:solidFill>
                <a:sym typeface="+mn-ea"/>
              </a:rPr>
              <a:t>KEY ACCOUNT分析</a:t>
            </a:r>
            <a:r>
              <a:rPr lang="en-US" sz="93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930" b="1" dirty="0">
                <a:solidFill>
                  <a:schemeClr val="bg1"/>
                </a:solidFill>
                <a:sym typeface="+mn-ea"/>
              </a:rPr>
              <a:t>  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010" name="target_hdr"/>
          <p:cNvSpPr/>
          <p:nvPr/>
        </p:nvSpPr>
        <p:spPr>
          <a:xfrm>
            <a:off x="6116320" y="3689985"/>
            <a:ext cx="5862955" cy="237490"/>
          </a:xfrm>
          <a:prstGeom prst="rect">
            <a:avLst/>
          </a:prstGeom>
          <a:solidFill>
            <a:srgbClr val="0D594A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AB 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目标达成分析 Target Achievement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5" name="Chart 0"/>
          <p:cNvGraphicFramePr/>
          <p:nvPr/>
        </p:nvGraphicFramePr>
        <p:xfrm>
          <a:off x="6394450" y="404812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71" name="Shape 255"/>
          <p:cNvSpPr/>
          <p:nvPr/>
        </p:nvSpPr>
        <p:spPr>
          <a:xfrm flipV="1">
            <a:off x="182245" y="6061710"/>
            <a:ext cx="5676900" cy="360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</p:sp>
      <p:sp>
        <p:nvSpPr>
          <p:cNvPr id="4" name="Shape 13"/>
          <p:cNvSpPr/>
          <p:nvPr>
            <p:custDataLst>
              <p:tags r:id="rId37"/>
            </p:custDataLst>
          </p:nvPr>
        </p:nvSpPr>
        <p:spPr>
          <a:xfrm>
            <a:off x="6125210" y="6223000"/>
            <a:ext cx="585470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7" name="Shape 14"/>
          <p:cNvSpPr/>
          <p:nvPr>
            <p:custDataLst>
              <p:tags r:id="rId38"/>
            </p:custDataLst>
          </p:nvPr>
        </p:nvSpPr>
        <p:spPr>
          <a:xfrm rot="5400000">
            <a:off x="9021433" y="3266452"/>
            <a:ext cx="54000" cy="586295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39" name="Text 15"/>
          <p:cNvSpPr/>
          <p:nvPr>
            <p:custDataLst>
              <p:tags r:id="rId39"/>
            </p:custDataLst>
          </p:nvPr>
        </p:nvSpPr>
        <p:spPr>
          <a:xfrm>
            <a:off x="6163310" y="6241415"/>
            <a:ext cx="56515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</a:t>
            </a:r>
            <a:r>
              <a:rPr lang="en-US" sz="850" dirty="0">
                <a:solidFill>
                  <a:srgbClr val="374151"/>
                </a:solidFill>
              </a:rPr>
              <a:t>  </a:t>
            </a:r>
            <a:endParaRPr lang="en-US" sz="850" dirty="0">
              <a:solidFill>
                <a:srgbClr val="374151"/>
              </a:solidFill>
            </a:endParaRPr>
          </a:p>
          <a:p>
            <a:pPr marL="0" indent="0">
              <a:buNone/>
            </a:pPr>
            <a:r>
              <a:rPr lang="en-US" altLang="zh-CN" sz="850" dirty="0"/>
              <a:t>Q1</a:t>
            </a:r>
            <a:r>
              <a:rPr lang="zh-CN" altLang="en-US" sz="850" dirty="0"/>
              <a:t>批核</a:t>
            </a:r>
            <a:r>
              <a:rPr lang="en-US" altLang="zh-CN" sz="850" dirty="0"/>
              <a:t>170.9M</a:t>
            </a:r>
            <a:r>
              <a:rPr lang="zh-CN" altLang="en-US" sz="850" dirty="0"/>
              <a:t>达成</a:t>
            </a:r>
            <a:r>
              <a:rPr lang="en-US" altLang="zh-CN" sz="850" dirty="0"/>
              <a:t>85.4%</a:t>
            </a:r>
            <a:r>
              <a:rPr lang="zh-CN" altLang="en-US" sz="850" dirty="0"/>
              <a:t>；未批核</a:t>
            </a:r>
            <a:r>
              <a:rPr lang="en-US" altLang="zh-CN" sz="850" dirty="0"/>
              <a:t>81.5M</a:t>
            </a:r>
            <a:r>
              <a:rPr lang="zh-CN" altLang="en-US" sz="850" dirty="0"/>
              <a:t>构成</a:t>
            </a:r>
            <a:r>
              <a:rPr lang="en-US" altLang="zh-CN" sz="850" dirty="0"/>
              <a:t>Q2</a:t>
            </a:r>
            <a:r>
              <a:rPr lang="zh-CN" altLang="en-US" sz="850" dirty="0"/>
              <a:t>储量；本月签单</a:t>
            </a:r>
            <a:r>
              <a:rPr lang="en-US" altLang="zh-CN" sz="850" dirty="0"/>
              <a:t>1.56M</a:t>
            </a:r>
            <a:r>
              <a:rPr lang="zh-CN" altLang="en-US" sz="850" dirty="0"/>
              <a:t>偏低，需修复预约动能</a:t>
            </a:r>
            <a:endParaRPr lang="zh-CN" altLang="en-US" sz="850" dirty="0"/>
          </a:p>
        </p:txBody>
      </p:sp>
      <p:sp>
        <p:nvSpPr>
          <p:cNvPr id="96" name="Shape 93"/>
          <p:cNvSpPr/>
          <p:nvPr/>
        </p:nvSpPr>
        <p:spPr>
          <a:xfrm>
            <a:off x="8686800" y="404812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8686673" y="404799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98" name="Text 95"/>
          <p:cNvSpPr/>
          <p:nvPr/>
        </p:nvSpPr>
        <p:spPr>
          <a:xfrm>
            <a:off x="8778113" y="413943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民生</a:t>
            </a: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40" name="Text 96"/>
          <p:cNvSpPr/>
          <p:nvPr/>
        </p:nvSpPr>
        <p:spPr>
          <a:xfrm>
            <a:off x="8778113" y="435889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142.1M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8778113" y="471855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  </a:t>
            </a:r>
            <a:endParaRPr lang="en-US" sz="800" dirty="0"/>
          </a:p>
        </p:txBody>
      </p:sp>
      <p:sp>
        <p:nvSpPr>
          <p:cNvPr id="107" name="Shape 104"/>
          <p:cNvSpPr/>
          <p:nvPr/>
        </p:nvSpPr>
        <p:spPr>
          <a:xfrm>
            <a:off x="10259695" y="404812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10259441" y="404799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</p:sp>
      <p:sp>
        <p:nvSpPr>
          <p:cNvPr id="109" name="Text 106"/>
          <p:cNvSpPr/>
          <p:nvPr/>
        </p:nvSpPr>
        <p:spPr>
          <a:xfrm>
            <a:off x="10350881" y="413943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目标</a:t>
            </a:r>
            <a:endParaRPr lang="zh-CN" altLang="en-US" sz="9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0" name="Text 107"/>
          <p:cNvSpPr/>
          <p:nvPr/>
        </p:nvSpPr>
        <p:spPr>
          <a:xfrm>
            <a:off x="10350881" y="433222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10350881" y="474395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达成率</a:t>
            </a:r>
            <a:r>
              <a:rPr lang="en-US" altLang="zh-CN" sz="80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 </a:t>
            </a: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85.4%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10350881" y="495503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10351135" y="4975225"/>
            <a:ext cx="969010" cy="12573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</p:sp>
      <p:sp>
        <p:nvSpPr>
          <p:cNvPr id="48" name="Text 95"/>
          <p:cNvSpPr/>
          <p:nvPr/>
        </p:nvSpPr>
        <p:spPr>
          <a:xfrm>
            <a:off x="8771763" y="5218303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平安</a:t>
            </a: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49" name="Text 96"/>
          <p:cNvSpPr/>
          <p:nvPr/>
        </p:nvSpPr>
        <p:spPr>
          <a:xfrm>
            <a:off x="8771128" y="538505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2200" dirty="0"/>
          </a:p>
        </p:txBody>
      </p:sp>
      <p:sp>
        <p:nvSpPr>
          <p:cNvPr id="59" name="Text 97"/>
          <p:cNvSpPr/>
          <p:nvPr/>
        </p:nvSpPr>
        <p:spPr>
          <a:xfrm>
            <a:off x="8778113" y="5747893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13件  </a:t>
            </a:r>
            <a:endParaRPr lang="en-US" sz="800" dirty="0"/>
          </a:p>
        </p:txBody>
      </p:sp>
      <p:sp>
        <p:nvSpPr>
          <p:cNvPr id="61" name="Text 106"/>
          <p:cNvSpPr/>
          <p:nvPr/>
        </p:nvSpPr>
        <p:spPr>
          <a:xfrm>
            <a:off x="10335641" y="523544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目标缺口</a:t>
            </a:r>
            <a:endParaRPr lang="zh-CN" altLang="en-US" sz="9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62" name="Text 107"/>
          <p:cNvSpPr/>
          <p:nvPr/>
        </p:nvSpPr>
        <p:spPr>
          <a:xfrm>
            <a:off x="10344531" y="540156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29.1M</a:t>
            </a:r>
            <a:endParaRPr lang="en-US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3010"/>
          <p:cNvSpPr/>
          <p:nvPr/>
        </p:nvSpPr>
        <p:spPr>
          <a:xfrm>
            <a:off x="6198235" y="748030"/>
            <a:ext cx="5854065" cy="5951855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4" name="s3010"/>
          <p:cNvSpPr/>
          <p:nvPr/>
        </p:nvSpPr>
        <p:spPr>
          <a:xfrm>
            <a:off x="100330" y="1722755"/>
            <a:ext cx="5955665" cy="21412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1" name="Shape 19"/>
          <p:cNvSpPr/>
          <p:nvPr>
            <p:custDataLst>
              <p:tags r:id="rId3"/>
            </p:custDataLst>
          </p:nvPr>
        </p:nvSpPr>
        <p:spPr>
          <a:xfrm>
            <a:off x="111760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>
            <p:custDataLst>
              <p:tags r:id="rId4"/>
            </p:custDataLst>
          </p:nvPr>
        </p:nvSpPr>
        <p:spPr>
          <a:xfrm>
            <a:off x="111760" y="58864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</p:sp>
      <p:sp>
        <p:nvSpPr>
          <p:cNvPr id="23" name="Text 21"/>
          <p:cNvSpPr/>
          <p:nvPr>
            <p:custDataLst>
              <p:tags r:id="rId5"/>
            </p:custDataLst>
          </p:nvPr>
        </p:nvSpPr>
        <p:spPr>
          <a:xfrm>
            <a:off x="220980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BK 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W13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6"/>
            </p:custDataLst>
          </p:nvPr>
        </p:nvSpPr>
        <p:spPr>
          <a:xfrm>
            <a:off x="220980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7"/>
            </p:custDataLst>
          </p:nvPr>
        </p:nvSpPr>
        <p:spPr>
          <a:xfrm>
            <a:off x="220980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件均</a:t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0W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8"/>
            </p:custDataLst>
          </p:nvPr>
        </p:nvSpPr>
        <p:spPr>
          <a:xfrm>
            <a:off x="2155825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>
            <p:custDataLst>
              <p:tags r:id="rId9"/>
            </p:custDataLst>
          </p:nvPr>
        </p:nvSpPr>
        <p:spPr>
          <a:xfrm>
            <a:off x="2155825" y="58864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</p:sp>
      <p:sp>
        <p:nvSpPr>
          <p:cNvPr id="28" name="Text 26"/>
          <p:cNvSpPr/>
          <p:nvPr>
            <p:custDataLst>
              <p:tags r:id="rId10"/>
            </p:custDataLst>
          </p:nvPr>
        </p:nvSpPr>
        <p:spPr>
          <a:xfrm>
            <a:off x="2265680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W13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11"/>
            </p:custDataLst>
          </p:nvPr>
        </p:nvSpPr>
        <p:spPr>
          <a:xfrm>
            <a:off x="2265680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12"/>
            </p:custDataLst>
          </p:nvPr>
        </p:nvSpPr>
        <p:spPr>
          <a:xfrm>
            <a:off x="2265680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6件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件均</a:t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58.5W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13"/>
            </p:custDataLst>
          </p:nvPr>
        </p:nvSpPr>
        <p:spPr>
          <a:xfrm>
            <a:off x="4220210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>
            <p:custDataLst>
              <p:tags r:id="rId14"/>
            </p:custDataLst>
          </p:nvPr>
        </p:nvSpPr>
        <p:spPr>
          <a:xfrm>
            <a:off x="4220210" y="58864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33" name="Text 31"/>
          <p:cNvSpPr/>
          <p:nvPr>
            <p:custDataLst>
              <p:tags r:id="rId15"/>
            </p:custDataLst>
          </p:nvPr>
        </p:nvSpPr>
        <p:spPr>
          <a:xfrm>
            <a:off x="4330065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W13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16"/>
            </p:custDataLst>
          </p:nvPr>
        </p:nvSpPr>
        <p:spPr>
          <a:xfrm>
            <a:off x="4330065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1.79M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17"/>
            </p:custDataLst>
          </p:nvPr>
        </p:nvSpPr>
        <p:spPr>
          <a:xfrm>
            <a:off x="4330065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件均</a:t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59.8W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100330" y="1466977"/>
            <a:ext cx="5971032" cy="256032"/>
          </a:xfrm>
          <a:prstGeom prst="rect">
            <a:avLst/>
          </a:prstGeom>
          <a:solidFill>
            <a:srgbClr val="6C3483"/>
          </a:solidFill>
          <a:ln w="12700">
            <a:solidFill>
              <a:srgbClr val="7B241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210058" y="1466977"/>
            <a:ext cx="58338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AB  W01–W13 银行 预约/签单/批核  APE趋势（M）</a:t>
            </a:r>
            <a:endParaRPr lang="en-US" sz="950" dirty="0"/>
          </a:p>
        </p:txBody>
      </p:sp>
      <p:graphicFrame>
        <p:nvGraphicFramePr>
          <p:cNvPr id="41" name="Chart 1"/>
          <p:cNvGraphicFramePr/>
          <p:nvPr/>
        </p:nvGraphicFramePr>
        <p:xfrm>
          <a:off x="177800" y="1881505"/>
          <a:ext cx="5789930" cy="19043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5" name="Shape 40"/>
          <p:cNvSpPr/>
          <p:nvPr/>
        </p:nvSpPr>
        <p:spPr>
          <a:xfrm>
            <a:off x="57150" y="4636135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133350" y="4627245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W13 银行 KA 本周业绩详情（M）</a:t>
            </a:r>
            <a:endParaRPr lang="en-US" sz="95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custDataLst>
              <p:tags r:id="rId18"/>
            </p:custDataLst>
          </p:nvPr>
        </p:nvGraphicFramePr>
        <p:xfrm>
          <a:off x="59055" y="4928870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5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1.79M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B4F72"/>
                          </a:solidFill>
                          <a:sym typeface="+mn-ea"/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0.78M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1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 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 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  3.51M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6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1.79M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sym typeface="+mn-ea"/>
                        </a:rPr>
                        <a:t>3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48" name="Shape 42"/>
          <p:cNvSpPr/>
          <p:nvPr/>
        </p:nvSpPr>
        <p:spPr>
          <a:xfrm>
            <a:off x="60325" y="6198235"/>
            <a:ext cx="6011545" cy="50165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49" name="Text 43"/>
          <p:cNvSpPr/>
          <p:nvPr/>
        </p:nvSpPr>
        <p:spPr>
          <a:xfrm>
            <a:off x="109220" y="6248400"/>
            <a:ext cx="5935345" cy="4699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银行W13：民生签单2.73M/批核1.79M，预约归零（节后假期影响）；平安签单0.78M，批核零产出。W13递交39.7M（含大量3月积压件）是Q2批核的最大利好信号，预计未来2-4周内将集中释放批核。</a:t>
            </a:r>
            <a:endParaRPr lang="en-US" sz="7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007" name="sw_bg_4007"/>
          <p:cNvSpPr/>
          <p:nvPr/>
        </p:nvSpPr>
        <p:spPr>
          <a:xfrm>
            <a:off x="100965" y="3980815"/>
            <a:ext cx="5955030" cy="528320"/>
          </a:xfrm>
          <a:prstGeom prst="rect">
            <a:avLst/>
          </a:prstGeom>
          <a:solidFill>
            <a:srgbClr val="EEF2FF"/>
          </a:solidFill>
          <a:ln w="9525">
            <a:solidFill>
              <a:srgbClr val="BFDBFE"/>
            </a:solidFill>
          </a:ln>
        </p:spPr>
        <p:txBody>
          <a:bodyPr/>
          <a:p>
            <a:endParaRPr lang="zh-CN" altLang="en-US"/>
          </a:p>
        </p:txBody>
      </p:sp>
      <p:sp>
        <p:nvSpPr>
          <p:cNvPr id="37" name="sw_4007"/>
          <p:cNvSpPr/>
          <p:nvPr/>
        </p:nvSpPr>
        <p:spPr>
          <a:xfrm>
            <a:off x="100965" y="4006215"/>
            <a:ext cx="5942965" cy="341630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</a:t>
            </a:r>
            <a:r>
              <a:rPr lang="zh-CN" sz="780" b="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  <a:p>
            <a:pPr marL="0" indent="0">
              <a:buNone/>
            </a:pPr>
            <a:r>
              <a:rPr lang="zh-CN" sz="700" b="0" dirty="0">
                <a:solidFill>
                  <a:srgbClr val="374151"/>
                </a:solidFill>
                <a:uFillTx/>
                <a:latin typeface="Calibri" panose="020F0502020204030204" pitchFamily="34" charset="0"/>
                <a:ea typeface="Calibri" panose="020F0502020204030204" pitchFamily="34" charset="-122"/>
              </a:rPr>
              <a:t> W08批核峰值46.9M为全年迄今最高单周，由民生大额集中放款驱动，非可持续常态。W11批核35.96M为第二峰，显示积压件的波动性清转模式。W12批核5.85M回落至正常区间——批核高峰期已过，预示4月起进入「新增件匀速消化」阶段。预约端W12 1.95M偏低，但3月末整体预约回升，Q2前端动能已蓄积。核心行动：推动平安银行尽快递交新件，并密切跟进民生未批核63.5M（55件）的清转时间节点。</a:t>
            </a:r>
            <a:endParaRPr lang="zh-CN" sz="700" b="0" dirty="0">
              <a:solidFill>
                <a:srgbClr val="374151"/>
              </a:solidFill>
              <a:uFillTx/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2" name="文本框 51"/>
          <p:cNvSpPr txBox="1"/>
          <p:nvPr/>
        </p:nvSpPr>
        <p:spPr>
          <a:xfrm>
            <a:off x="3048000" y="331406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graphicFrame>
        <p:nvGraphicFramePr>
          <p:cNvPr id="8" name="Chart 0"/>
          <p:cNvGraphicFramePr/>
          <p:nvPr>
            <p:custDataLst>
              <p:tags r:id="rId19"/>
            </p:custDataLst>
          </p:nvPr>
        </p:nvGraphicFramePr>
        <p:xfrm>
          <a:off x="6320790" y="1102995"/>
          <a:ext cx="5703570" cy="5534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Shape 36"/>
          <p:cNvSpPr/>
          <p:nvPr/>
        </p:nvSpPr>
        <p:spPr>
          <a:xfrm>
            <a:off x="6198235" y="647065"/>
            <a:ext cx="5839460" cy="255905"/>
          </a:xfrm>
          <a:prstGeom prst="rect">
            <a:avLst/>
          </a:prstGeom>
          <a:solidFill>
            <a:srgbClr val="6B2737"/>
          </a:solidFill>
          <a:ln w="12700">
            <a:solidFill>
              <a:srgbClr val="7B241C"/>
            </a:solidFill>
            <a:prstDash val="solid"/>
          </a:ln>
        </p:spPr>
      </p:sp>
      <p:sp>
        <p:nvSpPr>
          <p:cNvPr id="11" name="Text 37"/>
          <p:cNvSpPr/>
          <p:nvPr/>
        </p:nvSpPr>
        <p:spPr>
          <a:xfrm>
            <a:off x="6308090" y="647065"/>
            <a:ext cx="499364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  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各分行</a:t>
            </a: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年批核</a:t>
            </a: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APE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业绩排名</a:t>
            </a: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（M）</a:t>
            </a:r>
            <a:endParaRPr lang="en-US" sz="950" dirty="0"/>
          </a:p>
        </p:txBody>
      </p:sp>
      <p:sp>
        <p:nvSpPr>
          <p:cNvPr id="4003" name="sw_bg_4003"/>
          <p:cNvSpPr/>
          <p:nvPr/>
        </p:nvSpPr>
        <p:spPr>
          <a:xfrm>
            <a:off x="6198235" y="6160135"/>
            <a:ext cx="5853430" cy="563245"/>
          </a:xfrm>
          <a:prstGeom prst="rect">
            <a:avLst/>
          </a:prstGeom>
          <a:solidFill>
            <a:srgbClr val="FDF2F2"/>
          </a:solidFill>
          <a:ln w="9525">
            <a:solidFill>
              <a:srgbClr val="E8D5D5"/>
            </a:solidFill>
          </a:ln>
        </p:spPr>
        <p:txBody>
          <a:bodyPr/>
          <a:p>
            <a:endParaRPr lang="zh-CN" altLang="en-US"/>
          </a:p>
        </p:txBody>
      </p:sp>
      <p:sp>
        <p:nvSpPr>
          <p:cNvPr id="12" name="sw_4003"/>
          <p:cNvSpPr/>
          <p:nvPr/>
        </p:nvSpPr>
        <p:spPr>
          <a:xfrm>
            <a:off x="6198235" y="6223000"/>
            <a:ext cx="5854065" cy="476885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</a:t>
            </a:r>
            <a:endParaRPr lang="zh-CN" sz="800" b="1" dirty="0">
              <a:solidFill>
                <a:srgbClr val="7B241C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  <a:p>
            <a:pPr marL="0" indent="0">
              <a:buNone/>
            </a:pPr>
            <a:r>
              <a:rPr lang="zh-CN" sz="7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民生广州以29.3M居榜首，平安香港28.8M紧随（唯一跻身前五的非民生分行），件均高达221.5万，大额单效率突出。前四行（广州/平安港/上海/南京）合计105.9M，占总批核62%，头部集中度显著。民生北京及以下14行合计45.0M（占28%），中尾部产能释放空间大；Q2建议重点推动北京、杭州加快新件递交，拉齐头部节奏。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  <a:p>
            <a:pPr marL="0" indent="0">
              <a:buNone/>
            </a:pPr>
            <a:r>
              <a:rPr lang="zh-CN" sz="780" b="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471" name="Shape 255"/>
          <p:cNvSpPr/>
          <p:nvPr/>
        </p:nvSpPr>
        <p:spPr>
          <a:xfrm flipV="1">
            <a:off x="6198235" y="6151245"/>
            <a:ext cx="5892165" cy="540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71120" y="6170930"/>
            <a:ext cx="5981065" cy="54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3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05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11851</Words>
  <Application>WPS 演示</Application>
  <PresentationFormat>On-screen Show (16:9)</PresentationFormat>
  <Paragraphs>3394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欧阳芷茵</cp:lastModifiedBy>
  <cp:revision>66</cp:revision>
  <dcterms:created xsi:type="dcterms:W3CDTF">2026-03-26T15:42:00Z</dcterms:created>
  <dcterms:modified xsi:type="dcterms:W3CDTF">2026-06-02T05:49:53Z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2052-12.1.0.26375</vt:lpwstr>
  </property>
</Properties>
</file>